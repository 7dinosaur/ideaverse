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2"/>
  </p:sldMasterIdLst>
  <p:notesMasterIdLst>
    <p:notesMasterId r:id="rId27"/>
  </p:notesMasterIdLst>
  <p:handoutMasterIdLst>
    <p:handoutMasterId r:id="rId28"/>
  </p:handoutMasterIdLst>
  <p:sldIdLst>
    <p:sldId id="692" r:id="rId3"/>
    <p:sldId id="1083" r:id="rId4"/>
    <p:sldId id="1084" r:id="rId5"/>
    <p:sldId id="939" r:id="rId6"/>
    <p:sldId id="1070" r:id="rId7"/>
    <p:sldId id="1071" r:id="rId8"/>
    <p:sldId id="1091" r:id="rId9"/>
    <p:sldId id="1078" r:id="rId10"/>
    <p:sldId id="1066" r:id="rId11"/>
    <p:sldId id="1073" r:id="rId12"/>
    <p:sldId id="1088" r:id="rId13"/>
    <p:sldId id="1089" r:id="rId14"/>
    <p:sldId id="1092" r:id="rId15"/>
    <p:sldId id="1094" r:id="rId16"/>
    <p:sldId id="1067" r:id="rId17"/>
    <p:sldId id="1074" r:id="rId18"/>
    <p:sldId id="1095" r:id="rId19"/>
    <p:sldId id="1086" r:id="rId20"/>
    <p:sldId id="1068" r:id="rId21"/>
    <p:sldId id="1093" r:id="rId22"/>
    <p:sldId id="1075" r:id="rId23"/>
    <p:sldId id="1087" r:id="rId24"/>
    <p:sldId id="1069" r:id="rId25"/>
    <p:sldId id="995" r:id="rId26"/>
  </p:sldIdLst>
  <p:sldSz cx="12192000" cy="6858000"/>
  <p:notesSz cx="6797675" cy="9929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8929DD4-62DA-47C3-B018-F0CAF9199128}">
          <p14:sldIdLst>
            <p14:sldId id="692"/>
            <p14:sldId id="1083"/>
            <p14:sldId id="1084"/>
            <p14:sldId id="939"/>
            <p14:sldId id="1070"/>
            <p14:sldId id="1071"/>
            <p14:sldId id="1091"/>
            <p14:sldId id="1078"/>
            <p14:sldId id="1066"/>
            <p14:sldId id="1073"/>
            <p14:sldId id="1088"/>
            <p14:sldId id="1089"/>
            <p14:sldId id="1092"/>
            <p14:sldId id="1094"/>
            <p14:sldId id="1067"/>
            <p14:sldId id="1074"/>
            <p14:sldId id="1095"/>
            <p14:sldId id="1086"/>
            <p14:sldId id="1068"/>
            <p14:sldId id="1093"/>
            <p14:sldId id="1075"/>
            <p14:sldId id="1087"/>
            <p14:sldId id="1069"/>
            <p14:sldId id="99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cmAuthor id="2" name="chen qi ng" initials="cq" lastIdx="3" clrIdx="1">
    <p:extLst>
      <p:ext uri="{19B8F6BF-5375-455C-9EA6-DF929625EA0E}">
        <p15:presenceInfo xmlns:p15="http://schemas.microsoft.com/office/powerpoint/2012/main" userId="a19ae72deed1ee5d" providerId="Windows Live"/>
      </p:ext>
    </p:extLst>
  </p:cmAuthor>
  <p:cmAuthor id="3" name="Jeo breeze" initials="Jb" lastIdx="2" clrIdx="2">
    <p:extLst>
      <p:ext uri="{19B8F6BF-5375-455C-9EA6-DF929625EA0E}">
        <p15:presenceInfo xmlns:p15="http://schemas.microsoft.com/office/powerpoint/2012/main" userId="01b110389eb1f9e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3838FF"/>
    <a:srgbClr val="0E5FAF"/>
    <a:srgbClr val="B6E3E3"/>
    <a:srgbClr val="ADDBDB"/>
    <a:srgbClr val="FFFFFF"/>
    <a:srgbClr val="EDEDED"/>
    <a:srgbClr val="B9B9B9"/>
    <a:srgbClr val="699D9D"/>
    <a:srgbClr val="A970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88947" autoAdjust="0"/>
  </p:normalViewPr>
  <p:slideViewPr>
    <p:cSldViewPr snapToGrid="0">
      <p:cViewPr>
        <p:scale>
          <a:sx n="100" d="100"/>
          <a:sy n="100" d="100"/>
        </p:scale>
        <p:origin x="-120" y="-270"/>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0" d="100"/>
          <a:sy n="80" d="100"/>
        </p:scale>
        <p:origin x="2946" y="102"/>
      </p:cViewPr>
      <p:guideLst>
        <p:guide orient="horz" pos="3128"/>
        <p:guide pos="2142"/>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491"/>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sz="quarter" idx="1"/>
          </p:nvPr>
        </p:nvSpPr>
        <p:spPr>
          <a:xfrm>
            <a:off x="3850443" y="0"/>
            <a:ext cx="2945659" cy="496491"/>
          </a:xfrm>
          <a:prstGeom prst="rect">
            <a:avLst/>
          </a:prstGeom>
        </p:spPr>
        <p:txBody>
          <a:bodyPr vert="horz" lIns="91440" tIns="45720" rIns="91440" bIns="45720" rtlCol="0"/>
          <a:lstStyle>
            <a:lvl1pPr algn="r">
              <a:defRPr sz="1200"/>
            </a:lvl1pPr>
          </a:lstStyle>
          <a:p>
            <a:fld id="{D7F4AE8B-A150-4820-BC27-EE42D733F4B8}" type="datetimeFigureOut">
              <a:rPr lang="en-GB" smtClean="0"/>
              <a:pPr/>
              <a:t>05/08/2026</a:t>
            </a:fld>
            <a:endParaRPr lang="en-GB"/>
          </a:p>
        </p:txBody>
      </p:sp>
      <p:sp>
        <p:nvSpPr>
          <p:cNvPr id="4" name="Fußzeilenplatzhalter 3"/>
          <p:cNvSpPr>
            <a:spLocks noGrp="1"/>
          </p:cNvSpPr>
          <p:nvPr>
            <p:ph type="ftr" sz="quarter" idx="2"/>
          </p:nvPr>
        </p:nvSpPr>
        <p:spPr>
          <a:xfrm>
            <a:off x="0" y="9431599"/>
            <a:ext cx="2945659" cy="496491"/>
          </a:xfrm>
          <a:prstGeom prst="rect">
            <a:avLst/>
          </a:prstGeom>
        </p:spPr>
        <p:txBody>
          <a:bodyPr vert="horz" lIns="91440" tIns="45720" rIns="91440" bIns="45720" rtlCol="0" anchor="b"/>
          <a:lstStyle>
            <a:lvl1pPr algn="l">
              <a:defRPr sz="1200"/>
            </a:lvl1pPr>
          </a:lstStyle>
          <a:p>
            <a:endParaRPr lang="en-GB"/>
          </a:p>
        </p:txBody>
      </p:sp>
      <p:sp>
        <p:nvSpPr>
          <p:cNvPr id="5" name="Foliennummernplatzhalter 4"/>
          <p:cNvSpPr>
            <a:spLocks noGrp="1"/>
          </p:cNvSpPr>
          <p:nvPr>
            <p:ph type="sldNum" sz="quarter" idx="3"/>
          </p:nvPr>
        </p:nvSpPr>
        <p:spPr>
          <a:xfrm>
            <a:off x="3850443" y="9431599"/>
            <a:ext cx="2945659" cy="496491"/>
          </a:xfrm>
          <a:prstGeom prst="rect">
            <a:avLst/>
          </a:prstGeom>
        </p:spPr>
        <p:txBody>
          <a:bodyPr vert="horz" lIns="91440" tIns="45720" rIns="91440" bIns="45720" rtlCol="0" anchor="b"/>
          <a:lstStyle>
            <a:lvl1pPr algn="r">
              <a:defRPr sz="1200"/>
            </a:lvl1pPr>
          </a:lstStyle>
          <a:p>
            <a:fld id="{43F05C2D-D39A-48CE-B0EB-51A11E4633C9}" type="slidenum">
              <a:rPr lang="en-GB" smtClean="0"/>
              <a:pPr/>
              <a:t>‹#›</a:t>
            </a:fld>
            <a:endParaRPr lang="en-GB"/>
          </a:p>
        </p:txBody>
      </p:sp>
    </p:spTree>
    <p:extLst>
      <p:ext uri="{BB962C8B-B14F-4D97-AF65-F5344CB8AC3E}">
        <p14:creationId xmlns:p14="http://schemas.microsoft.com/office/powerpoint/2010/main" val="12694910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491"/>
          </a:xfrm>
          <a:prstGeom prst="rect">
            <a:avLst/>
          </a:prstGeom>
        </p:spPr>
        <p:txBody>
          <a:bodyPr vert="horz" lIns="91440" tIns="45720" rIns="91440" bIns="45720" rtlCol="0"/>
          <a:lstStyle>
            <a:lvl1pPr algn="l">
              <a:defRPr sz="1200">
                <a:latin typeface="Arial" pitchFamily="34" charset="0"/>
              </a:defRPr>
            </a:lvl1pPr>
          </a:lstStyle>
          <a:p>
            <a:endParaRPr lang="de-DE" dirty="0"/>
          </a:p>
        </p:txBody>
      </p:sp>
      <p:sp>
        <p:nvSpPr>
          <p:cNvPr id="3" name="Datumsplatzhalter 2"/>
          <p:cNvSpPr>
            <a:spLocks noGrp="1"/>
          </p:cNvSpPr>
          <p:nvPr>
            <p:ph type="dt" idx="1"/>
          </p:nvPr>
        </p:nvSpPr>
        <p:spPr>
          <a:xfrm>
            <a:off x="3850443" y="0"/>
            <a:ext cx="2945659" cy="496491"/>
          </a:xfrm>
          <a:prstGeom prst="rect">
            <a:avLst/>
          </a:prstGeom>
        </p:spPr>
        <p:txBody>
          <a:bodyPr vert="horz" lIns="91440" tIns="45720" rIns="91440" bIns="45720" rtlCol="0"/>
          <a:lstStyle>
            <a:lvl1pPr algn="r">
              <a:defRPr sz="1200">
                <a:latin typeface="Arial" pitchFamily="34" charset="0"/>
              </a:defRPr>
            </a:lvl1pPr>
          </a:lstStyle>
          <a:p>
            <a:fld id="{45B75E70-762A-4375-AA7C-DE9BB7CC9339}" type="datetimeFigureOut">
              <a:rPr lang="de-DE" smtClean="0"/>
              <a:pPr/>
              <a:t>05.08.2026</a:t>
            </a:fld>
            <a:endParaRPr lang="de-DE" dirty="0"/>
          </a:p>
        </p:txBody>
      </p:sp>
      <p:sp>
        <p:nvSpPr>
          <p:cNvPr id="4" name="Folienbildplatzhalt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79768" y="4716662"/>
            <a:ext cx="5438140" cy="4468416"/>
          </a:xfrm>
          <a:prstGeom prst="rect">
            <a:avLst/>
          </a:prstGeom>
        </p:spPr>
        <p:txBody>
          <a:bodyPr vert="horz" lIns="91440" tIns="45720" rIns="91440" bIns="4572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9431599"/>
            <a:ext cx="2945659" cy="496491"/>
          </a:xfrm>
          <a:prstGeom prst="rect">
            <a:avLst/>
          </a:prstGeom>
        </p:spPr>
        <p:txBody>
          <a:bodyPr vert="horz" lIns="91440" tIns="45720" rIns="91440" bIns="45720" rtlCol="0" anchor="b"/>
          <a:lstStyle>
            <a:lvl1pPr algn="l">
              <a:defRPr sz="1200">
                <a:latin typeface="Arial" pitchFamily="34" charset="0"/>
              </a:defRPr>
            </a:lvl1pPr>
          </a:lstStyle>
          <a:p>
            <a:endParaRPr lang="de-DE" dirty="0"/>
          </a:p>
        </p:txBody>
      </p:sp>
      <p:sp>
        <p:nvSpPr>
          <p:cNvPr id="7" name="Foliennummernplatzhalter 6"/>
          <p:cNvSpPr>
            <a:spLocks noGrp="1"/>
          </p:cNvSpPr>
          <p:nvPr>
            <p:ph type="sldNum" sz="quarter" idx="5"/>
          </p:nvPr>
        </p:nvSpPr>
        <p:spPr>
          <a:xfrm>
            <a:off x="3850443" y="9431599"/>
            <a:ext cx="2945659" cy="496491"/>
          </a:xfrm>
          <a:prstGeom prst="rect">
            <a:avLst/>
          </a:prstGeom>
        </p:spPr>
        <p:txBody>
          <a:bodyPr vert="horz" lIns="91440" tIns="45720" rIns="91440" bIns="45720" rtlCol="0" anchor="b"/>
          <a:lstStyle>
            <a:lvl1pPr algn="r">
              <a:defRPr sz="1200">
                <a:latin typeface="Arial" pitchFamily="34" charset="0"/>
              </a:defRPr>
            </a:lvl1pPr>
          </a:lstStyle>
          <a:p>
            <a:fld id="{DF1895BC-06EC-475A-97CA-BF53472F2E03}" type="slidenum">
              <a:rPr lang="de-DE" smtClean="0"/>
              <a:pPr/>
              <a:t>‹#›</a:t>
            </a:fld>
            <a:endParaRPr lang="de-DE" dirty="0"/>
          </a:p>
        </p:txBody>
      </p:sp>
    </p:spTree>
    <p:extLst>
      <p:ext uri="{BB962C8B-B14F-4D97-AF65-F5344CB8AC3E}">
        <p14:creationId xmlns:p14="http://schemas.microsoft.com/office/powerpoint/2010/main" val="163683755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1895BC-06EC-475A-97CA-BF53472F2E03}" type="slidenum">
              <a:rPr lang="de-DE" smtClean="0"/>
              <a:pPr/>
              <a:t>1</a:t>
            </a:fld>
            <a:endParaRPr lang="de-DE" dirty="0"/>
          </a:p>
        </p:txBody>
      </p:sp>
    </p:spTree>
    <p:extLst>
      <p:ext uri="{BB962C8B-B14F-4D97-AF65-F5344CB8AC3E}">
        <p14:creationId xmlns:p14="http://schemas.microsoft.com/office/powerpoint/2010/main" val="2833748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9B818-7AA0-0811-F869-4F16A2DAED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BC843A-20AC-07F9-E5DE-F0102B2B573F}"/>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09EE3505-F821-0C09-1FEA-2951AC7095E3}"/>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C8D83631-5408-86CB-2F65-C09E72CEF0A5}"/>
              </a:ext>
            </a:extLst>
          </p:cNvPr>
          <p:cNvSpPr>
            <a:spLocks noGrp="1"/>
          </p:cNvSpPr>
          <p:nvPr>
            <p:ph type="sldNum" sz="quarter" idx="5"/>
          </p:nvPr>
        </p:nvSpPr>
        <p:spPr/>
        <p:txBody>
          <a:bodyPr/>
          <a:lstStyle/>
          <a:p>
            <a:fld id="{DF1895BC-06EC-475A-97CA-BF53472F2E03}" type="slidenum">
              <a:rPr lang="de-DE" smtClean="0"/>
              <a:pPr/>
              <a:t>2</a:t>
            </a:fld>
            <a:endParaRPr lang="de-DE" dirty="0"/>
          </a:p>
        </p:txBody>
      </p:sp>
    </p:spTree>
    <p:extLst>
      <p:ext uri="{BB962C8B-B14F-4D97-AF65-F5344CB8AC3E}">
        <p14:creationId xmlns:p14="http://schemas.microsoft.com/office/powerpoint/2010/main" val="456861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5655-F321-E981-D031-AFC51C6620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1B7BDE-2FFA-7B7D-60A3-3695AD4FC9C1}"/>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FEE33821-14E7-73A8-99FB-87BAC0B17BBA}"/>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23EA794-1FAE-5C5C-AE63-C18630BA6507}"/>
              </a:ext>
            </a:extLst>
          </p:cNvPr>
          <p:cNvSpPr>
            <a:spLocks noGrp="1"/>
          </p:cNvSpPr>
          <p:nvPr>
            <p:ph type="sldNum" sz="quarter" idx="5"/>
          </p:nvPr>
        </p:nvSpPr>
        <p:spPr/>
        <p:txBody>
          <a:bodyPr/>
          <a:lstStyle/>
          <a:p>
            <a:fld id="{DF1895BC-06EC-475A-97CA-BF53472F2E03}" type="slidenum">
              <a:rPr lang="de-DE" smtClean="0"/>
              <a:pPr/>
              <a:t>3</a:t>
            </a:fld>
            <a:endParaRPr lang="de-DE" dirty="0"/>
          </a:p>
        </p:txBody>
      </p:sp>
    </p:spTree>
    <p:extLst>
      <p:ext uri="{BB962C8B-B14F-4D97-AF65-F5344CB8AC3E}">
        <p14:creationId xmlns:p14="http://schemas.microsoft.com/office/powerpoint/2010/main" val="679906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Arial" pitchFamily="34" charset="0"/>
              <a:ea typeface="+mn-ea"/>
              <a:cs typeface="+mn-cs"/>
            </a:endParaRPr>
          </a:p>
        </p:txBody>
      </p:sp>
      <p:sp>
        <p:nvSpPr>
          <p:cNvPr id="4" name="灯片编号占位符 3"/>
          <p:cNvSpPr>
            <a:spLocks noGrp="1"/>
          </p:cNvSpPr>
          <p:nvPr>
            <p:ph type="sldNum" sz="quarter" idx="10"/>
          </p:nvPr>
        </p:nvSpPr>
        <p:spPr/>
        <p:txBody>
          <a:bodyPr/>
          <a:lstStyle/>
          <a:p>
            <a:fld id="{DF1895BC-06EC-475A-97CA-BF53472F2E03}" type="slidenum">
              <a:rPr lang="de-DE" smtClean="0"/>
              <a:pPr/>
              <a:t>4</a:t>
            </a:fld>
            <a:endParaRPr lang="de-DE" dirty="0"/>
          </a:p>
        </p:txBody>
      </p:sp>
    </p:spTree>
    <p:extLst>
      <p:ext uri="{BB962C8B-B14F-4D97-AF65-F5344CB8AC3E}">
        <p14:creationId xmlns:p14="http://schemas.microsoft.com/office/powerpoint/2010/main" val="169381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1BCDC-6DB2-92B6-6075-08B7FB7970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6150D8-F982-7109-25FE-A75C433EBF58}"/>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759629B4-8F0E-D284-9F25-4BE9A21FE0DB}"/>
              </a:ext>
            </a:extLst>
          </p:cNvPr>
          <p:cNvSpPr>
            <a:spLocks noGrp="1"/>
          </p:cNvSpPr>
          <p:nvPr>
            <p:ph type="body" idx="1"/>
          </p:nvPr>
        </p:nvSpPr>
        <p:spPr/>
        <p:txBody>
          <a:bodyPr/>
          <a:lstStyle/>
          <a:p>
            <a:endParaRPr lang="zh-CN" altLang="zh-CN" sz="1200" kern="1200" dirty="0">
              <a:solidFill>
                <a:schemeClr val="tx1"/>
              </a:solidFill>
              <a:effectLst/>
              <a:latin typeface="Arial" pitchFamily="34" charset="0"/>
              <a:ea typeface="+mn-ea"/>
              <a:cs typeface="+mn-cs"/>
            </a:endParaRPr>
          </a:p>
        </p:txBody>
      </p:sp>
      <p:sp>
        <p:nvSpPr>
          <p:cNvPr id="4" name="灯片编号占位符 3">
            <a:extLst>
              <a:ext uri="{FF2B5EF4-FFF2-40B4-BE49-F238E27FC236}">
                <a16:creationId xmlns:a16="http://schemas.microsoft.com/office/drawing/2014/main" id="{9D44CF41-DEBC-62AA-ED99-15010B688712}"/>
              </a:ext>
            </a:extLst>
          </p:cNvPr>
          <p:cNvSpPr>
            <a:spLocks noGrp="1"/>
          </p:cNvSpPr>
          <p:nvPr>
            <p:ph type="sldNum" sz="quarter" idx="10"/>
          </p:nvPr>
        </p:nvSpPr>
        <p:spPr/>
        <p:txBody>
          <a:bodyPr/>
          <a:lstStyle/>
          <a:p>
            <a:fld id="{DF1895BC-06EC-475A-97CA-BF53472F2E03}" type="slidenum">
              <a:rPr lang="de-DE" smtClean="0"/>
              <a:pPr/>
              <a:t>5</a:t>
            </a:fld>
            <a:endParaRPr lang="de-DE" dirty="0"/>
          </a:p>
        </p:txBody>
      </p:sp>
    </p:spTree>
    <p:extLst>
      <p:ext uri="{BB962C8B-B14F-4D97-AF65-F5344CB8AC3E}">
        <p14:creationId xmlns:p14="http://schemas.microsoft.com/office/powerpoint/2010/main" val="376469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313D-DA1F-EFE5-BD8C-42CD7B3B41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0BA111-5368-9277-CEA6-04857211FC57}"/>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C55775AC-2E18-0DEC-848F-9F3B517E8F3A}"/>
              </a:ext>
            </a:extLst>
          </p:cNvPr>
          <p:cNvSpPr>
            <a:spLocks noGrp="1"/>
          </p:cNvSpPr>
          <p:nvPr>
            <p:ph type="body" idx="1"/>
          </p:nvPr>
        </p:nvSpPr>
        <p:spPr/>
        <p:txBody>
          <a:bodyPr/>
          <a:lstStyle/>
          <a:p>
            <a:r>
              <a:rPr lang="zh-CN" altLang="zh-CN" sz="1200" b="0" i="0" kern="1200" dirty="0">
                <a:solidFill>
                  <a:schemeClr val="tx1"/>
                </a:solidFill>
                <a:effectLst/>
                <a:latin typeface="Arial" pitchFamily="34" charset="0"/>
                <a:ea typeface="+mn-ea"/>
                <a:cs typeface="+mn-cs"/>
              </a:rPr>
              <a:t>目前来看</a:t>
            </a:r>
            <a:r>
              <a:rPr lang="zh-CN" altLang="en-US" sz="1200" b="0" i="0" kern="1200" dirty="0">
                <a:solidFill>
                  <a:schemeClr val="tx1"/>
                </a:solidFill>
                <a:effectLst/>
                <a:latin typeface="Arial" pitchFamily="34" charset="0"/>
                <a:ea typeface="+mn-ea"/>
                <a:cs typeface="+mn-cs"/>
              </a:rPr>
              <a:t>，在当前背景下，利用航迹设计规避低声爆限制是超声速民机进入商业盈利的重要途经。具体来说就是飞机只在海上航段开启超声速巡航，在陆地则采用低马赫数巡航。上个世纪的协和号采用的就是这样的飞行策略，其核心航线为</a:t>
            </a:r>
            <a:r>
              <a:rPr lang="zh-CN" altLang="zh-CN" sz="1200" b="0" i="0" kern="1200" dirty="0">
                <a:solidFill>
                  <a:schemeClr val="tx1"/>
                </a:solidFill>
                <a:effectLst/>
                <a:latin typeface="Arial" pitchFamily="34" charset="0"/>
                <a:ea typeface="+mn-ea"/>
                <a:cs typeface="+mn-cs"/>
              </a:rPr>
              <a:t>跨大西洋的伦敦到纽约，</a:t>
            </a:r>
            <a:r>
              <a:rPr lang="zh-CN" altLang="en-US" sz="1200" b="0" i="0" kern="1200" dirty="0">
                <a:solidFill>
                  <a:schemeClr val="tx1"/>
                </a:solidFill>
                <a:effectLst/>
                <a:latin typeface="Arial" pitchFamily="34" charset="0"/>
                <a:ea typeface="+mn-ea"/>
                <a:cs typeface="+mn-cs"/>
              </a:rPr>
              <a:t>在</a:t>
            </a:r>
            <a:r>
              <a:rPr lang="zh-CN" altLang="zh-CN" sz="1200" b="0" i="0" kern="1200" dirty="0">
                <a:solidFill>
                  <a:schemeClr val="tx1"/>
                </a:solidFill>
                <a:effectLst/>
                <a:latin typeface="Arial" pitchFamily="34" charset="0"/>
                <a:ea typeface="+mn-ea"/>
                <a:cs typeface="+mn-cs"/>
              </a:rPr>
              <a:t>离开海岸线进入大西洋上空后，才加速突破音障；一旦接近大陆，必须提前减速至亚音速</a:t>
            </a:r>
            <a:r>
              <a:rPr lang="zh-CN" altLang="en-US" sz="1200" b="0" i="0" kern="1200" dirty="0">
                <a:solidFill>
                  <a:schemeClr val="tx1"/>
                </a:solidFill>
                <a:effectLst/>
                <a:latin typeface="Arial" pitchFamily="34" charset="0"/>
                <a:ea typeface="+mn-ea"/>
                <a:cs typeface="+mn-cs"/>
              </a:rPr>
              <a:t>。</a:t>
            </a:r>
            <a:r>
              <a:rPr lang="en-US" altLang="zh-CN" sz="1200" b="0" i="0" kern="1200" dirty="0">
                <a:solidFill>
                  <a:schemeClr val="tx1"/>
                </a:solidFill>
                <a:effectLst/>
                <a:latin typeface="Arial" pitchFamily="34" charset="0"/>
                <a:ea typeface="+mn-ea"/>
                <a:cs typeface="+mn-cs"/>
              </a:rPr>
              <a:t>2003</a:t>
            </a:r>
            <a:r>
              <a:rPr lang="zh-CN" altLang="en-US" sz="1200" b="0" i="0" kern="1200" dirty="0">
                <a:solidFill>
                  <a:schemeClr val="tx1"/>
                </a:solidFill>
                <a:effectLst/>
                <a:latin typeface="Arial" pitchFamily="34" charset="0"/>
                <a:ea typeface="+mn-ea"/>
                <a:cs typeface="+mn-cs"/>
              </a:rPr>
              <a:t>年协和号结束了他的最后一次飞行，二十几年后的今天，美国</a:t>
            </a:r>
            <a:r>
              <a:rPr lang="en-US" altLang="zh-CN" sz="1200" b="0" i="0" kern="1200" dirty="0">
                <a:solidFill>
                  <a:schemeClr val="tx1"/>
                </a:solidFill>
                <a:effectLst/>
                <a:latin typeface="Arial" pitchFamily="34" charset="0"/>
                <a:ea typeface="+mn-ea"/>
                <a:cs typeface="+mn-cs"/>
              </a:rPr>
              <a:t>boom</a:t>
            </a:r>
            <a:r>
              <a:rPr lang="zh-CN" altLang="en-US" sz="1200" b="0" i="0" kern="1200" dirty="0">
                <a:solidFill>
                  <a:schemeClr val="tx1"/>
                </a:solidFill>
                <a:effectLst/>
                <a:latin typeface="Arial" pitchFamily="34" charset="0"/>
                <a:ea typeface="+mn-ea"/>
                <a:cs typeface="+mn-cs"/>
              </a:rPr>
              <a:t>公司推出了新一代的</a:t>
            </a:r>
            <a:r>
              <a:rPr lang="zh-CN" altLang="zh-CN" sz="1200" b="0" i="0" kern="1200" dirty="0">
                <a:solidFill>
                  <a:schemeClr val="tx1"/>
                </a:solidFill>
                <a:effectLst/>
                <a:latin typeface="Arial" pitchFamily="34" charset="0"/>
                <a:ea typeface="+mn-ea"/>
                <a:cs typeface="+mn-cs"/>
              </a:rPr>
              <a:t> </a:t>
            </a:r>
            <a:r>
              <a:rPr lang="zh-CN" altLang="zh-CN" sz="1200" b="1" i="0" kern="1200" dirty="0">
                <a:solidFill>
                  <a:schemeClr val="tx1"/>
                </a:solidFill>
                <a:effectLst/>
                <a:latin typeface="Arial" pitchFamily="34" charset="0"/>
                <a:ea typeface="+mn-ea"/>
                <a:cs typeface="+mn-cs"/>
              </a:rPr>
              <a:t>Boom Overture（序曲飞机）</a:t>
            </a:r>
            <a:r>
              <a:rPr lang="zh-CN" altLang="zh-CN" sz="1200" b="0" i="0" kern="1200" dirty="0">
                <a:solidFill>
                  <a:schemeClr val="tx1"/>
                </a:solidFill>
                <a:effectLst/>
                <a:latin typeface="Arial" pitchFamily="34" charset="0"/>
                <a:ea typeface="+mn-ea"/>
                <a:cs typeface="+mn-cs"/>
              </a:rPr>
              <a:t>。它计划以1.7马赫巡航，</a:t>
            </a:r>
            <a:r>
              <a:rPr lang="zh-CN" altLang="en-US" sz="1200" b="0" i="0" kern="1200" dirty="0">
                <a:solidFill>
                  <a:schemeClr val="tx1"/>
                </a:solidFill>
                <a:effectLst/>
                <a:latin typeface="Arial" pitchFamily="34" charset="0"/>
                <a:ea typeface="+mn-ea"/>
                <a:cs typeface="+mn-cs"/>
              </a:rPr>
              <a:t>我们可以看到他并没有非常明显的低声爆设计，仍然继承了海上超声速、陆上亚声速的运营思路，公开资料称陆地航段</a:t>
            </a:r>
            <a:r>
              <a:rPr lang="zh-CN" altLang="zh-CN" sz="1200" b="0" i="0" kern="1200" dirty="0">
                <a:solidFill>
                  <a:schemeClr val="tx1"/>
                </a:solidFill>
                <a:effectLst/>
                <a:latin typeface="Arial" pitchFamily="34" charset="0"/>
                <a:ea typeface="+mn-ea"/>
                <a:cs typeface="+mn-cs"/>
              </a:rPr>
              <a:t>最大速度限制在0.94马赫。因此，</a:t>
            </a:r>
            <a:r>
              <a:rPr lang="zh-CN" altLang="en-US" sz="1200" b="0" i="0" kern="1200" dirty="0">
                <a:solidFill>
                  <a:schemeClr val="tx1"/>
                </a:solidFill>
                <a:effectLst/>
                <a:latin typeface="Arial" pitchFamily="34" charset="0"/>
                <a:ea typeface="+mn-ea"/>
                <a:cs typeface="+mn-cs"/>
              </a:rPr>
              <a:t>在现阶段的研究中，海上超声速陆上亚声速的飞行策略仍然是支撑超声速民机商业运营的主流方案。</a:t>
            </a:r>
            <a:r>
              <a:rPr lang="zh-CN" altLang="zh-CN" sz="1200" b="0" i="0" kern="1200" dirty="0">
                <a:solidFill>
                  <a:schemeClr val="tx1"/>
                </a:solidFill>
                <a:effectLst/>
                <a:latin typeface="Arial" pitchFamily="34" charset="0"/>
                <a:ea typeface="+mn-ea"/>
                <a:cs typeface="+mn-cs"/>
              </a:rPr>
              <a:t> </a:t>
            </a:r>
          </a:p>
          <a:p>
            <a:endParaRPr lang="zh-CN" altLang="zh-CN" sz="1200" kern="1200" dirty="0">
              <a:solidFill>
                <a:schemeClr val="tx1"/>
              </a:solidFill>
              <a:effectLst/>
              <a:latin typeface="Arial" pitchFamily="34" charset="0"/>
              <a:ea typeface="+mn-ea"/>
              <a:cs typeface="+mn-cs"/>
            </a:endParaRPr>
          </a:p>
        </p:txBody>
      </p:sp>
      <p:sp>
        <p:nvSpPr>
          <p:cNvPr id="4" name="灯片编号占位符 3">
            <a:extLst>
              <a:ext uri="{FF2B5EF4-FFF2-40B4-BE49-F238E27FC236}">
                <a16:creationId xmlns:a16="http://schemas.microsoft.com/office/drawing/2014/main" id="{4ED0841D-A519-D0B5-5BC8-4480439DC29E}"/>
              </a:ext>
            </a:extLst>
          </p:cNvPr>
          <p:cNvSpPr>
            <a:spLocks noGrp="1"/>
          </p:cNvSpPr>
          <p:nvPr>
            <p:ph type="sldNum" sz="quarter" idx="10"/>
          </p:nvPr>
        </p:nvSpPr>
        <p:spPr/>
        <p:txBody>
          <a:bodyPr/>
          <a:lstStyle/>
          <a:p>
            <a:fld id="{DF1895BC-06EC-475A-97CA-BF53472F2E03}" type="slidenum">
              <a:rPr lang="de-DE" smtClean="0"/>
              <a:pPr/>
              <a:t>6</a:t>
            </a:fld>
            <a:endParaRPr lang="de-DE" dirty="0"/>
          </a:p>
        </p:txBody>
      </p:sp>
    </p:spTree>
    <p:extLst>
      <p:ext uri="{BB962C8B-B14F-4D97-AF65-F5344CB8AC3E}">
        <p14:creationId xmlns:p14="http://schemas.microsoft.com/office/powerpoint/2010/main" val="1943079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0D46B-BAA0-10C7-E196-7ADE97B484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5D09E4-2559-000C-E9DE-5C510C3DF38F}"/>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E1E882BB-E88D-F59C-926E-A171826267C7}"/>
              </a:ext>
            </a:extLst>
          </p:cNvPr>
          <p:cNvSpPr>
            <a:spLocks noGrp="1"/>
          </p:cNvSpPr>
          <p:nvPr>
            <p:ph type="body" idx="1"/>
          </p:nvPr>
        </p:nvSpPr>
        <p:spPr/>
        <p:txBody>
          <a:bodyPr/>
          <a:lstStyle/>
          <a:p>
            <a:endParaRPr lang="zh-CN" altLang="zh-CN" sz="1200" kern="1200" dirty="0">
              <a:solidFill>
                <a:schemeClr val="tx1"/>
              </a:solidFill>
              <a:effectLst/>
              <a:latin typeface="Arial" pitchFamily="34" charset="0"/>
              <a:ea typeface="+mn-ea"/>
              <a:cs typeface="+mn-cs"/>
            </a:endParaRPr>
          </a:p>
        </p:txBody>
      </p:sp>
      <p:sp>
        <p:nvSpPr>
          <p:cNvPr id="4" name="灯片编号占位符 3">
            <a:extLst>
              <a:ext uri="{FF2B5EF4-FFF2-40B4-BE49-F238E27FC236}">
                <a16:creationId xmlns:a16="http://schemas.microsoft.com/office/drawing/2014/main" id="{9153C519-DF3F-3D35-DFF8-002B0D827E6D}"/>
              </a:ext>
            </a:extLst>
          </p:cNvPr>
          <p:cNvSpPr>
            <a:spLocks noGrp="1"/>
          </p:cNvSpPr>
          <p:nvPr>
            <p:ph type="sldNum" sz="quarter" idx="10"/>
          </p:nvPr>
        </p:nvSpPr>
        <p:spPr/>
        <p:txBody>
          <a:bodyPr/>
          <a:lstStyle/>
          <a:p>
            <a:fld id="{DF1895BC-06EC-475A-97CA-BF53472F2E03}" type="slidenum">
              <a:rPr lang="de-DE" smtClean="0"/>
              <a:pPr/>
              <a:t>7</a:t>
            </a:fld>
            <a:endParaRPr lang="de-DE" dirty="0"/>
          </a:p>
        </p:txBody>
      </p:sp>
    </p:spTree>
    <p:extLst>
      <p:ext uri="{BB962C8B-B14F-4D97-AF65-F5344CB8AC3E}">
        <p14:creationId xmlns:p14="http://schemas.microsoft.com/office/powerpoint/2010/main" val="1756690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6663C-DBEF-1FFE-024E-D6AB635499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455493-D6F5-56B8-1CB6-C34C2A814368}"/>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FD490DA2-F0F4-8F8C-3C2E-448D3E7FACE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1AF5103A-8461-5849-5FCA-D96D65B2F34C}"/>
              </a:ext>
            </a:extLst>
          </p:cNvPr>
          <p:cNvSpPr>
            <a:spLocks noGrp="1"/>
          </p:cNvSpPr>
          <p:nvPr>
            <p:ph type="sldNum" sz="quarter" idx="5"/>
          </p:nvPr>
        </p:nvSpPr>
        <p:spPr/>
        <p:txBody>
          <a:bodyPr/>
          <a:lstStyle/>
          <a:p>
            <a:fld id="{DF1895BC-06EC-475A-97CA-BF53472F2E03}" type="slidenum">
              <a:rPr lang="de-DE" smtClean="0"/>
              <a:pPr/>
              <a:t>8</a:t>
            </a:fld>
            <a:endParaRPr lang="de-DE" dirty="0"/>
          </a:p>
        </p:txBody>
      </p:sp>
    </p:spTree>
    <p:extLst>
      <p:ext uri="{BB962C8B-B14F-4D97-AF65-F5344CB8AC3E}">
        <p14:creationId xmlns:p14="http://schemas.microsoft.com/office/powerpoint/2010/main" val="1640927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5484D-9584-CB11-36A8-AFA1B47FE8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534308-6ABE-0521-162D-8D9E3DD936E7}"/>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5F9747ED-1439-B6AF-286C-38D0C13354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2060"/>
                </a:solidFill>
                <a:latin typeface="微软雅黑" panose="020B0503020204020204" pitchFamily="34" charset="-122"/>
                <a:ea typeface="微软雅黑" panose="020B0503020204020204" pitchFamily="34" charset="-122"/>
                <a:cs typeface="Arial" pitchFamily="34" charset="0"/>
              </a:rPr>
              <a:t>针对上述背景，本文发展了一种考虑声爆毯影响域的航线规划方法</a:t>
            </a:r>
            <a:endParaRPr lang="en-US" altLang="zh-CN" sz="1200" dirty="0">
              <a:solidFill>
                <a:srgbClr val="002060"/>
              </a:solidFill>
              <a:latin typeface="微软雅黑" panose="020B0503020204020204" pitchFamily="34" charset="-122"/>
              <a:ea typeface="微软雅黑" panose="020B0503020204020204" pitchFamily="34" charset="-122"/>
              <a:cs typeface="Arial" pitchFamily="34" charset="0"/>
            </a:endParaRPr>
          </a:p>
          <a:p>
            <a:endParaRPr lang="zh-CN" altLang="zh-CN" sz="1200" kern="1200" dirty="0">
              <a:solidFill>
                <a:schemeClr val="tx1"/>
              </a:solidFill>
              <a:effectLst/>
              <a:latin typeface="Arial" pitchFamily="34" charset="0"/>
              <a:ea typeface="+mn-ea"/>
              <a:cs typeface="+mn-cs"/>
            </a:endParaRPr>
          </a:p>
        </p:txBody>
      </p:sp>
      <p:sp>
        <p:nvSpPr>
          <p:cNvPr id="4" name="灯片编号占位符 3">
            <a:extLst>
              <a:ext uri="{FF2B5EF4-FFF2-40B4-BE49-F238E27FC236}">
                <a16:creationId xmlns:a16="http://schemas.microsoft.com/office/drawing/2014/main" id="{8FE9D8C8-3F8E-8FEA-3E2E-25C703C5E31E}"/>
              </a:ext>
            </a:extLst>
          </p:cNvPr>
          <p:cNvSpPr>
            <a:spLocks noGrp="1"/>
          </p:cNvSpPr>
          <p:nvPr>
            <p:ph type="sldNum" sz="quarter" idx="10"/>
          </p:nvPr>
        </p:nvSpPr>
        <p:spPr/>
        <p:txBody>
          <a:bodyPr/>
          <a:lstStyle/>
          <a:p>
            <a:fld id="{DF1895BC-06EC-475A-97CA-BF53472F2E03}" type="slidenum">
              <a:rPr lang="de-DE" smtClean="0"/>
              <a:pPr/>
              <a:t>9</a:t>
            </a:fld>
            <a:endParaRPr lang="de-DE" dirty="0"/>
          </a:p>
        </p:txBody>
      </p:sp>
    </p:spTree>
    <p:extLst>
      <p:ext uri="{BB962C8B-B14F-4D97-AF65-F5344CB8AC3E}">
        <p14:creationId xmlns:p14="http://schemas.microsoft.com/office/powerpoint/2010/main" val="4036414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993FB-E172-F1A8-3495-71106E6323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B249E2-9A5F-FE39-ED9F-9468EDA10782}"/>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9A284CC0-0EA3-C032-F6BC-FC8F1A9EF3CF}"/>
              </a:ext>
            </a:extLst>
          </p:cNvPr>
          <p:cNvSpPr>
            <a:spLocks noGrp="1"/>
          </p:cNvSpPr>
          <p:nvPr>
            <p:ph type="body" idx="1"/>
          </p:nvPr>
        </p:nvSpPr>
        <p:spPr/>
        <p:txBody>
          <a:bodyPr/>
          <a:lstStyle/>
          <a:p>
            <a:endParaRPr lang="zh-CN" altLang="zh-CN" sz="1200" kern="1200" dirty="0">
              <a:solidFill>
                <a:schemeClr val="tx1"/>
              </a:solidFill>
              <a:effectLst/>
              <a:latin typeface="Arial" pitchFamily="34" charset="0"/>
              <a:ea typeface="+mn-ea"/>
              <a:cs typeface="+mn-cs"/>
            </a:endParaRPr>
          </a:p>
        </p:txBody>
      </p:sp>
      <p:sp>
        <p:nvSpPr>
          <p:cNvPr id="4" name="灯片编号占位符 3">
            <a:extLst>
              <a:ext uri="{FF2B5EF4-FFF2-40B4-BE49-F238E27FC236}">
                <a16:creationId xmlns:a16="http://schemas.microsoft.com/office/drawing/2014/main" id="{E66DBA31-6015-C212-2B45-DDDC97A76D0D}"/>
              </a:ext>
            </a:extLst>
          </p:cNvPr>
          <p:cNvSpPr>
            <a:spLocks noGrp="1"/>
          </p:cNvSpPr>
          <p:nvPr>
            <p:ph type="sldNum" sz="quarter" idx="10"/>
          </p:nvPr>
        </p:nvSpPr>
        <p:spPr/>
        <p:txBody>
          <a:bodyPr/>
          <a:lstStyle/>
          <a:p>
            <a:fld id="{DF1895BC-06EC-475A-97CA-BF53472F2E03}" type="slidenum">
              <a:rPr lang="de-DE" smtClean="0"/>
              <a:pPr/>
              <a:t>10</a:t>
            </a:fld>
            <a:endParaRPr lang="de-DE" dirty="0"/>
          </a:p>
        </p:txBody>
      </p:sp>
    </p:spTree>
    <p:extLst>
      <p:ext uri="{BB962C8B-B14F-4D97-AF65-F5344CB8AC3E}">
        <p14:creationId xmlns:p14="http://schemas.microsoft.com/office/powerpoint/2010/main" val="1439753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A9FCB-7DD1-4C66-F4C8-646B5EC3C8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78DA00-AE35-EA93-97FC-98176F407C7C}"/>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BB1817C1-BAF4-3151-F00C-C588A20C0310}"/>
              </a:ext>
            </a:extLst>
          </p:cNvPr>
          <p:cNvSpPr>
            <a:spLocks noGrp="1"/>
          </p:cNvSpPr>
          <p:nvPr>
            <p:ph type="body" idx="1"/>
          </p:nvPr>
        </p:nvSpPr>
        <p:spPr/>
        <p:txBody>
          <a:bodyPr/>
          <a:lstStyle/>
          <a:p>
            <a:endParaRPr lang="zh-CN" altLang="zh-CN" sz="1200" kern="1200" dirty="0">
              <a:solidFill>
                <a:schemeClr val="tx1"/>
              </a:solidFill>
              <a:effectLst/>
              <a:latin typeface="Arial" pitchFamily="34" charset="0"/>
              <a:ea typeface="+mn-ea"/>
              <a:cs typeface="+mn-cs"/>
            </a:endParaRPr>
          </a:p>
        </p:txBody>
      </p:sp>
      <p:sp>
        <p:nvSpPr>
          <p:cNvPr id="4" name="灯片编号占位符 3">
            <a:extLst>
              <a:ext uri="{FF2B5EF4-FFF2-40B4-BE49-F238E27FC236}">
                <a16:creationId xmlns:a16="http://schemas.microsoft.com/office/drawing/2014/main" id="{10A91B97-23B3-2F8B-4886-93FB41E15739}"/>
              </a:ext>
            </a:extLst>
          </p:cNvPr>
          <p:cNvSpPr>
            <a:spLocks noGrp="1"/>
          </p:cNvSpPr>
          <p:nvPr>
            <p:ph type="sldNum" sz="quarter" idx="10"/>
          </p:nvPr>
        </p:nvSpPr>
        <p:spPr/>
        <p:txBody>
          <a:bodyPr/>
          <a:lstStyle/>
          <a:p>
            <a:fld id="{DF1895BC-06EC-475A-97CA-BF53472F2E03}" type="slidenum">
              <a:rPr lang="de-DE" smtClean="0"/>
              <a:pPr/>
              <a:t>11</a:t>
            </a:fld>
            <a:endParaRPr lang="de-DE" dirty="0"/>
          </a:p>
        </p:txBody>
      </p:sp>
    </p:spTree>
    <p:extLst>
      <p:ext uri="{BB962C8B-B14F-4D97-AF65-F5344CB8AC3E}">
        <p14:creationId xmlns:p14="http://schemas.microsoft.com/office/powerpoint/2010/main" val="2933922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FF31A-AE5D-4176-326A-FEDF721FE0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7E1B4A-33E9-654B-B3A4-5096E656D6B3}"/>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4D896CA0-EDB9-115C-DF07-9EE75ECD9887}"/>
              </a:ext>
            </a:extLst>
          </p:cNvPr>
          <p:cNvSpPr>
            <a:spLocks noGrp="1"/>
          </p:cNvSpPr>
          <p:nvPr>
            <p:ph type="body" idx="1"/>
          </p:nvPr>
        </p:nvSpPr>
        <p:spPr/>
        <p:txBody>
          <a:bodyPr/>
          <a:lstStyle/>
          <a:p>
            <a:endParaRPr lang="zh-CN" altLang="zh-CN" sz="1200" kern="1200" dirty="0">
              <a:solidFill>
                <a:schemeClr val="tx1"/>
              </a:solidFill>
              <a:effectLst/>
              <a:latin typeface="Arial" pitchFamily="34" charset="0"/>
              <a:ea typeface="+mn-ea"/>
              <a:cs typeface="+mn-cs"/>
            </a:endParaRPr>
          </a:p>
        </p:txBody>
      </p:sp>
      <p:sp>
        <p:nvSpPr>
          <p:cNvPr id="4" name="灯片编号占位符 3">
            <a:extLst>
              <a:ext uri="{FF2B5EF4-FFF2-40B4-BE49-F238E27FC236}">
                <a16:creationId xmlns:a16="http://schemas.microsoft.com/office/drawing/2014/main" id="{F8B00AD6-C62A-9158-537F-7A297DB926AB}"/>
              </a:ext>
            </a:extLst>
          </p:cNvPr>
          <p:cNvSpPr>
            <a:spLocks noGrp="1"/>
          </p:cNvSpPr>
          <p:nvPr>
            <p:ph type="sldNum" sz="quarter" idx="10"/>
          </p:nvPr>
        </p:nvSpPr>
        <p:spPr/>
        <p:txBody>
          <a:bodyPr/>
          <a:lstStyle/>
          <a:p>
            <a:fld id="{DF1895BC-06EC-475A-97CA-BF53472F2E03}" type="slidenum">
              <a:rPr lang="de-DE" smtClean="0"/>
              <a:pPr/>
              <a:t>12</a:t>
            </a:fld>
            <a:endParaRPr lang="de-DE" dirty="0"/>
          </a:p>
        </p:txBody>
      </p:sp>
    </p:spTree>
    <p:extLst>
      <p:ext uri="{BB962C8B-B14F-4D97-AF65-F5344CB8AC3E}">
        <p14:creationId xmlns:p14="http://schemas.microsoft.com/office/powerpoint/2010/main" val="491896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991CF-88F7-59C6-3E35-C6CC11E126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08C38C-16D9-C2E4-0BD9-60A89306CDEB}"/>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89273810-CDDA-4948-CE85-54DD829FC062}"/>
              </a:ext>
            </a:extLst>
          </p:cNvPr>
          <p:cNvSpPr>
            <a:spLocks noGrp="1"/>
          </p:cNvSpPr>
          <p:nvPr>
            <p:ph type="body" idx="1"/>
          </p:nvPr>
        </p:nvSpPr>
        <p:spPr/>
        <p:txBody>
          <a:bodyPr/>
          <a:lstStyle/>
          <a:p>
            <a:endParaRPr lang="zh-CN" altLang="zh-CN" sz="1200" kern="1200" dirty="0">
              <a:solidFill>
                <a:schemeClr val="tx1"/>
              </a:solidFill>
              <a:effectLst/>
              <a:latin typeface="Arial" pitchFamily="34" charset="0"/>
              <a:ea typeface="+mn-ea"/>
              <a:cs typeface="+mn-cs"/>
            </a:endParaRPr>
          </a:p>
        </p:txBody>
      </p:sp>
      <p:sp>
        <p:nvSpPr>
          <p:cNvPr id="4" name="灯片编号占位符 3">
            <a:extLst>
              <a:ext uri="{FF2B5EF4-FFF2-40B4-BE49-F238E27FC236}">
                <a16:creationId xmlns:a16="http://schemas.microsoft.com/office/drawing/2014/main" id="{7588672C-79FC-F797-DC13-896A7FF18025}"/>
              </a:ext>
            </a:extLst>
          </p:cNvPr>
          <p:cNvSpPr>
            <a:spLocks noGrp="1"/>
          </p:cNvSpPr>
          <p:nvPr>
            <p:ph type="sldNum" sz="quarter" idx="10"/>
          </p:nvPr>
        </p:nvSpPr>
        <p:spPr/>
        <p:txBody>
          <a:bodyPr/>
          <a:lstStyle/>
          <a:p>
            <a:fld id="{DF1895BC-06EC-475A-97CA-BF53472F2E03}" type="slidenum">
              <a:rPr lang="de-DE" smtClean="0"/>
              <a:pPr/>
              <a:t>13</a:t>
            </a:fld>
            <a:endParaRPr lang="de-DE" dirty="0"/>
          </a:p>
        </p:txBody>
      </p:sp>
    </p:spTree>
    <p:extLst>
      <p:ext uri="{BB962C8B-B14F-4D97-AF65-F5344CB8AC3E}">
        <p14:creationId xmlns:p14="http://schemas.microsoft.com/office/powerpoint/2010/main" val="1922758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44E1A-DEFA-6856-D193-18BB630C290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2D37FD-D844-D2C6-457D-0CF1F6B84920}"/>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59C449E1-2B75-672F-4E2F-8B108E215E96}"/>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D0432E9-5360-F043-AFD3-4F09799D5442}"/>
              </a:ext>
            </a:extLst>
          </p:cNvPr>
          <p:cNvSpPr>
            <a:spLocks noGrp="1"/>
          </p:cNvSpPr>
          <p:nvPr>
            <p:ph type="sldNum" sz="quarter" idx="5"/>
          </p:nvPr>
        </p:nvSpPr>
        <p:spPr/>
        <p:txBody>
          <a:bodyPr/>
          <a:lstStyle/>
          <a:p>
            <a:fld id="{DF1895BC-06EC-475A-97CA-BF53472F2E03}" type="slidenum">
              <a:rPr lang="de-DE" smtClean="0"/>
              <a:pPr/>
              <a:t>18</a:t>
            </a:fld>
            <a:endParaRPr lang="de-DE" dirty="0"/>
          </a:p>
        </p:txBody>
      </p:sp>
    </p:spTree>
    <p:extLst>
      <p:ext uri="{BB962C8B-B14F-4D97-AF65-F5344CB8AC3E}">
        <p14:creationId xmlns:p14="http://schemas.microsoft.com/office/powerpoint/2010/main" val="3072365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88D10-3E0F-43D0-3BBF-B17B87F3D8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F74B80-9AA0-056D-0C10-708C06F91D2F}"/>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290113AA-CB8B-EC89-D2AF-7A9200581656}"/>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9A0A00A-AF2D-6078-54EB-C0F0A8AEDD8A}"/>
              </a:ext>
            </a:extLst>
          </p:cNvPr>
          <p:cNvSpPr>
            <a:spLocks noGrp="1"/>
          </p:cNvSpPr>
          <p:nvPr>
            <p:ph type="sldNum" sz="quarter" idx="5"/>
          </p:nvPr>
        </p:nvSpPr>
        <p:spPr/>
        <p:txBody>
          <a:bodyPr/>
          <a:lstStyle/>
          <a:p>
            <a:fld id="{DF1895BC-06EC-475A-97CA-BF53472F2E03}" type="slidenum">
              <a:rPr lang="de-DE" smtClean="0"/>
              <a:pPr/>
              <a:t>22</a:t>
            </a:fld>
            <a:endParaRPr lang="de-DE" dirty="0"/>
          </a:p>
        </p:txBody>
      </p:sp>
    </p:spTree>
    <p:extLst>
      <p:ext uri="{BB962C8B-B14F-4D97-AF65-F5344CB8AC3E}">
        <p14:creationId xmlns:p14="http://schemas.microsoft.com/office/powerpoint/2010/main" val="2615832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6FB09-97AA-7E29-A45A-775B0F9F90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80F85E-744A-3B8D-8811-4AD5135D7910}"/>
              </a:ext>
            </a:extLst>
          </p:cNvPr>
          <p:cNvSpPr>
            <a:spLocks noGrp="1" noRot="1" noChangeAspect="1"/>
          </p:cNvSpPr>
          <p:nvPr>
            <p:ph type="sldImg"/>
          </p:nvPr>
        </p:nvSpPr>
        <p:spPr>
          <a:xfrm>
            <a:off x="90488" y="744538"/>
            <a:ext cx="6616700" cy="3722687"/>
          </a:xfrm>
        </p:spPr>
      </p:sp>
      <p:sp>
        <p:nvSpPr>
          <p:cNvPr id="3" name="备注占位符 2">
            <a:extLst>
              <a:ext uri="{FF2B5EF4-FFF2-40B4-BE49-F238E27FC236}">
                <a16:creationId xmlns:a16="http://schemas.microsoft.com/office/drawing/2014/main" id="{2494A4A5-24CF-5C2C-B6A3-5DE10E41109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021127B-505F-3B1A-2AAA-65DF92B51E67}"/>
              </a:ext>
            </a:extLst>
          </p:cNvPr>
          <p:cNvSpPr>
            <a:spLocks noGrp="1"/>
          </p:cNvSpPr>
          <p:nvPr>
            <p:ph type="sldNum" sz="quarter" idx="10"/>
          </p:nvPr>
        </p:nvSpPr>
        <p:spPr/>
        <p:txBody>
          <a:bodyPr/>
          <a:lstStyle/>
          <a:p>
            <a:fld id="{DF1895BC-06EC-475A-97CA-BF53472F2E03}" type="slidenum">
              <a:rPr lang="de-DE" smtClean="0"/>
              <a:pPr/>
              <a:t>24</a:t>
            </a:fld>
            <a:endParaRPr lang="de-DE" dirty="0"/>
          </a:p>
        </p:txBody>
      </p:sp>
    </p:spTree>
    <p:extLst>
      <p:ext uri="{BB962C8B-B14F-4D97-AF65-F5344CB8AC3E}">
        <p14:creationId xmlns:p14="http://schemas.microsoft.com/office/powerpoint/2010/main" val="115794859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gradFill flip="none" rotWithShape="1">
          <a:gsLst>
            <a:gs pos="0">
              <a:schemeClr val="accent1">
                <a:lumMod val="5000"/>
                <a:lumOff val="95000"/>
                <a:alpha val="65000"/>
              </a:schemeClr>
            </a:gs>
            <a:gs pos="74000">
              <a:schemeClr val="bg1">
                <a:lumMod val="95000"/>
              </a:schemeClr>
            </a:gs>
            <a:gs pos="83000">
              <a:schemeClr val="bg1">
                <a:lumMod val="95000"/>
              </a:schemeClr>
            </a:gs>
            <a:gs pos="100000">
              <a:schemeClr val="bg1">
                <a:lumMod val="95000"/>
              </a:schemeClr>
            </a:gs>
          </a:gsLst>
          <a:lin ang="2700000" scaled="1"/>
          <a:tileRect/>
        </a:gradFill>
        <a:effectLst/>
      </p:bgPr>
    </p:bg>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85414A06-3DA3-791F-C0E4-B960E8E5D74C}"/>
              </a:ext>
            </a:extLst>
          </p:cNvPr>
          <p:cNvSpPr/>
          <p:nvPr userDrawn="1"/>
        </p:nvSpPr>
        <p:spPr>
          <a:xfrm>
            <a:off x="0" y="0"/>
            <a:ext cx="12192000" cy="1620728"/>
          </a:xfrm>
          <a:custGeom>
            <a:avLst/>
            <a:gdLst>
              <a:gd name="connsiteX0" fmla="*/ 0 w 12192000"/>
              <a:gd name="connsiteY0" fmla="*/ 0 h 3820891"/>
              <a:gd name="connsiteX1" fmla="*/ 12192000 w 12192000"/>
              <a:gd name="connsiteY1" fmla="*/ 0 h 3820891"/>
              <a:gd name="connsiteX2" fmla="*/ 12192000 w 12192000"/>
              <a:gd name="connsiteY2" fmla="*/ 2822842 h 3820891"/>
              <a:gd name="connsiteX3" fmla="*/ 11920340 w 12192000"/>
              <a:gd name="connsiteY3" fmla="*/ 2925857 h 3820891"/>
              <a:gd name="connsiteX4" fmla="*/ 6096000 w 12192000"/>
              <a:gd name="connsiteY4" fmla="*/ 3820891 h 3820891"/>
              <a:gd name="connsiteX5" fmla="*/ 271660 w 12192000"/>
              <a:gd name="connsiteY5" fmla="*/ 2925857 h 3820891"/>
              <a:gd name="connsiteX6" fmla="*/ 0 w 12192000"/>
              <a:gd name="connsiteY6" fmla="*/ 2822842 h 3820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20891">
                <a:moveTo>
                  <a:pt x="0" y="0"/>
                </a:moveTo>
                <a:lnTo>
                  <a:pt x="12192000" y="0"/>
                </a:lnTo>
                <a:lnTo>
                  <a:pt x="12192000" y="2822842"/>
                </a:lnTo>
                <a:lnTo>
                  <a:pt x="11920340" y="2925857"/>
                </a:lnTo>
                <a:cubicBezTo>
                  <a:pt x="10382026" y="3481957"/>
                  <a:pt x="8338529" y="3820891"/>
                  <a:pt x="6096000" y="3820891"/>
                </a:cubicBezTo>
                <a:cubicBezTo>
                  <a:pt x="3853472" y="3820891"/>
                  <a:pt x="1809974" y="3481957"/>
                  <a:pt x="271660" y="2925857"/>
                </a:cubicBezTo>
                <a:lnTo>
                  <a:pt x="0" y="2822842"/>
                </a:lnTo>
                <a:close/>
              </a:path>
            </a:pathLst>
          </a:custGeom>
          <a:blipFill>
            <a:blip r:embed="rId2" cstate="print">
              <a:alphaModFix amt="80000"/>
              <a:extLst>
                <a:ext uri="{BEBA8EAE-BF5A-486C-A8C5-ECC9F3942E4B}">
                  <a14:imgProps xmlns:a14="http://schemas.microsoft.com/office/drawing/2010/main">
                    <a14:imgLayer r:embed="rId3">
                      <a14:imgEffect>
                        <a14:sharpenSoften amount="10000"/>
                      </a14:imgEffect>
                      <a14:imgEffect>
                        <a14:saturation sat="90000"/>
                      </a14:imgEffect>
                      <a14:imgEffect>
                        <a14:brightnessContrast contrast="-15000"/>
                      </a14:imgEffect>
                    </a14:imgLayer>
                  </a14:imgProps>
                </a:ext>
              </a:extLst>
            </a:blip>
            <a:stretch>
              <a:fillRect t="-157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 name="任意多边形: 形状 2">
            <a:extLst>
              <a:ext uri="{FF2B5EF4-FFF2-40B4-BE49-F238E27FC236}">
                <a16:creationId xmlns:a16="http://schemas.microsoft.com/office/drawing/2014/main" id="{61D700EA-D704-0EF1-7FFD-68A29F5B2C4A}"/>
              </a:ext>
            </a:extLst>
          </p:cNvPr>
          <p:cNvSpPr/>
          <p:nvPr userDrawn="1"/>
        </p:nvSpPr>
        <p:spPr>
          <a:xfrm>
            <a:off x="0" y="-3338"/>
            <a:ext cx="12192000" cy="1620728"/>
          </a:xfrm>
          <a:custGeom>
            <a:avLst/>
            <a:gdLst>
              <a:gd name="connsiteX0" fmla="*/ 0 w 12192000"/>
              <a:gd name="connsiteY0" fmla="*/ 0 h 3820891"/>
              <a:gd name="connsiteX1" fmla="*/ 12192000 w 12192000"/>
              <a:gd name="connsiteY1" fmla="*/ 0 h 3820891"/>
              <a:gd name="connsiteX2" fmla="*/ 12192000 w 12192000"/>
              <a:gd name="connsiteY2" fmla="*/ 2822842 h 3820891"/>
              <a:gd name="connsiteX3" fmla="*/ 11920340 w 12192000"/>
              <a:gd name="connsiteY3" fmla="*/ 2925857 h 3820891"/>
              <a:gd name="connsiteX4" fmla="*/ 6096000 w 12192000"/>
              <a:gd name="connsiteY4" fmla="*/ 3820891 h 3820891"/>
              <a:gd name="connsiteX5" fmla="*/ 271660 w 12192000"/>
              <a:gd name="connsiteY5" fmla="*/ 2925857 h 3820891"/>
              <a:gd name="connsiteX6" fmla="*/ 0 w 12192000"/>
              <a:gd name="connsiteY6" fmla="*/ 2822842 h 3820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20891">
                <a:moveTo>
                  <a:pt x="0" y="0"/>
                </a:moveTo>
                <a:lnTo>
                  <a:pt x="12192000" y="0"/>
                </a:lnTo>
                <a:lnTo>
                  <a:pt x="12192000" y="2822842"/>
                </a:lnTo>
                <a:lnTo>
                  <a:pt x="11920340" y="2925857"/>
                </a:lnTo>
                <a:cubicBezTo>
                  <a:pt x="10382026" y="3481957"/>
                  <a:pt x="8338529" y="3820891"/>
                  <a:pt x="6096000" y="3820891"/>
                </a:cubicBezTo>
                <a:cubicBezTo>
                  <a:pt x="3853472" y="3820891"/>
                  <a:pt x="1809974" y="3481957"/>
                  <a:pt x="271660" y="2925857"/>
                </a:cubicBezTo>
                <a:lnTo>
                  <a:pt x="0" y="2822842"/>
                </a:lnTo>
                <a:close/>
              </a:path>
            </a:pathLst>
          </a:custGeom>
          <a:gradFill>
            <a:gsLst>
              <a:gs pos="10000">
                <a:srgbClr val="002060">
                  <a:alpha val="80000"/>
                  <a:lumMod val="80000"/>
                </a:srgbClr>
              </a:gs>
              <a:gs pos="50000">
                <a:schemeClr val="accent1">
                  <a:lumMod val="60000"/>
                  <a:lumOff val="40000"/>
                  <a:alpha val="40000"/>
                </a:schemeClr>
              </a:gs>
              <a:gs pos="90000">
                <a:srgbClr val="002060">
                  <a:alpha val="80000"/>
                  <a:lumMod val="80000"/>
                </a:srgbClr>
              </a:gs>
            </a:gsLst>
            <a:lin ang="0" scaled="0"/>
          </a:gradFill>
          <a:ln>
            <a:noFill/>
          </a:ln>
        </p:spPr>
        <p:style>
          <a:lnRef idx="0">
            <a:scrgbClr r="0" g="0" b="0"/>
          </a:lnRef>
          <a:fillRef idx="0">
            <a:scrgbClr r="0" g="0" b="0"/>
          </a:fillRef>
          <a:effectRef idx="0">
            <a:scrgbClr r="0" g="0" b="0"/>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 name="TextBox 17">
            <a:extLst>
              <a:ext uri="{FF2B5EF4-FFF2-40B4-BE49-F238E27FC236}">
                <a16:creationId xmlns:a16="http://schemas.microsoft.com/office/drawing/2014/main" id="{E5B7A050-5462-6900-8FC7-CD0DC1ECF6AC}"/>
              </a:ext>
            </a:extLst>
          </p:cNvPr>
          <p:cNvSpPr txBox="1">
            <a:spLocks noChangeArrowheads="1"/>
          </p:cNvSpPr>
          <p:nvPr userDrawn="1"/>
        </p:nvSpPr>
        <p:spPr bwMode="auto">
          <a:xfrm>
            <a:off x="870384" y="413368"/>
            <a:ext cx="2393516" cy="421782"/>
          </a:xfrm>
          <a:prstGeom prst="rect">
            <a:avLst/>
          </a:prstGeom>
          <a:noFill/>
          <a:ln>
            <a:noFill/>
          </a:ln>
        </p:spPr>
        <p:txBody>
          <a:bodyPr wrap="square" lIns="36000" tIns="0" rIns="36000" bIns="0">
            <a:spAutoFit/>
          </a:bodyPr>
          <a:lstStyle>
            <a:lvl1pPr>
              <a:defRPr kumimoji="1" sz="2000" b="1">
                <a:solidFill>
                  <a:schemeClr val="tx1"/>
                </a:solidFill>
                <a:latin typeface="Times New Roman" panose="02020603050405020304" pitchFamily="18" charset="0"/>
                <a:ea typeface="宋体" panose="02010600030101010101" pitchFamily="2" charset="-122"/>
              </a:defRPr>
            </a:lvl1pPr>
            <a:lvl2pPr marL="742950" indent="-285750">
              <a:defRPr kumimoji="1" sz="2000" b="1">
                <a:solidFill>
                  <a:schemeClr val="tx1"/>
                </a:solidFill>
                <a:latin typeface="Times New Roman" panose="02020603050405020304" pitchFamily="18" charset="0"/>
                <a:ea typeface="宋体" panose="02010600030101010101" pitchFamily="2" charset="-122"/>
              </a:defRPr>
            </a:lvl2pPr>
            <a:lvl3pPr marL="1143000" indent="-228600">
              <a:defRPr kumimoji="1" sz="2000" b="1">
                <a:solidFill>
                  <a:schemeClr val="tx1"/>
                </a:solidFill>
                <a:latin typeface="Times New Roman" panose="02020603050405020304" pitchFamily="18" charset="0"/>
                <a:ea typeface="宋体" panose="02010600030101010101" pitchFamily="2" charset="-122"/>
              </a:defRPr>
            </a:lvl3pPr>
            <a:lvl4pPr marL="1600200" indent="-228600">
              <a:defRPr kumimoji="1" sz="2000" b="1">
                <a:solidFill>
                  <a:schemeClr val="tx1"/>
                </a:solidFill>
                <a:latin typeface="Times New Roman" panose="02020603050405020304" pitchFamily="18" charset="0"/>
                <a:ea typeface="宋体" panose="02010600030101010101" pitchFamily="2" charset="-122"/>
              </a:defRPr>
            </a:lvl4pPr>
            <a:lvl5pPr marL="2057400" indent="-22860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dist">
              <a:lnSpc>
                <a:spcPct val="150000"/>
              </a:lnSpc>
              <a:spcAft>
                <a:spcPts val="200"/>
              </a:spcAft>
              <a:defRPr/>
            </a:pPr>
            <a:r>
              <a:rPr kumimoji="0" lang="zh-CN" altLang="en-US" sz="1100" b="1" baseline="0" dirty="0">
                <a:solidFill>
                  <a:srgbClr val="FFFFFF"/>
                </a:solidFill>
                <a:latin typeface="微软雅黑" panose="020B0503020204020204" pitchFamily="34" charset="-122"/>
                <a:ea typeface="微软雅黑" panose="020B0503020204020204" pitchFamily="34" charset="-122"/>
              </a:rPr>
              <a:t> 飞行器基础布局全国重点实验室</a:t>
            </a:r>
            <a:endParaRPr kumimoji="0" lang="en-US" altLang="zh-CN" sz="1050" b="1" baseline="0" dirty="0">
              <a:solidFill>
                <a:srgbClr val="FFFFFF"/>
              </a:solidFill>
              <a:latin typeface="微软雅黑" panose="020B0503020204020204" pitchFamily="34" charset="-122"/>
              <a:ea typeface="微软雅黑" panose="020B0503020204020204" pitchFamily="34" charset="-122"/>
            </a:endParaRPr>
          </a:p>
          <a:p>
            <a:pPr algn="dist">
              <a:lnSpc>
                <a:spcPct val="150000"/>
              </a:lnSpc>
              <a:spcAft>
                <a:spcPts val="200"/>
              </a:spcAft>
              <a:defRPr/>
            </a:pPr>
            <a:r>
              <a:rPr kumimoji="1" lang="en-US" altLang="zh-CN" sz="700" b="1" kern="1200" baseline="0" dirty="0">
                <a:solidFill>
                  <a:srgbClr val="FFFFFF"/>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700" b="1"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National Key Laboratory of Aircraft Configuration Design</a:t>
            </a:r>
            <a:endParaRPr lang="zh-CN" altLang="en-US" sz="7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1" name="Picture 4" descr="国防logo">
            <a:extLst>
              <a:ext uri="{FF2B5EF4-FFF2-40B4-BE49-F238E27FC236}">
                <a16:creationId xmlns:a16="http://schemas.microsoft.com/office/drawing/2014/main" id="{9C282BA7-033B-29B1-F033-2ED0DE306EB0}"/>
              </a:ext>
            </a:extLst>
          </p:cNvPr>
          <p:cNvPicPr>
            <a:picLocks noChangeAspect="1" noChangeArrowheads="1"/>
          </p:cNvPicPr>
          <p:nvPr userDrawn="1"/>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261422" y="355997"/>
            <a:ext cx="668380" cy="598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7">
            <a:extLst>
              <a:ext uri="{FF2B5EF4-FFF2-40B4-BE49-F238E27FC236}">
                <a16:creationId xmlns:a16="http://schemas.microsoft.com/office/drawing/2014/main" id="{F1E381E7-913D-1276-8D2D-75569471A164}"/>
              </a:ext>
            </a:extLst>
          </p:cNvPr>
          <p:cNvSpPr txBox="1">
            <a:spLocks noChangeArrowheads="1"/>
          </p:cNvSpPr>
          <p:nvPr userDrawn="1"/>
        </p:nvSpPr>
        <p:spPr bwMode="auto">
          <a:xfrm>
            <a:off x="9169266" y="413368"/>
            <a:ext cx="2781000" cy="421782"/>
          </a:xfrm>
          <a:prstGeom prst="rect">
            <a:avLst/>
          </a:prstGeom>
          <a:noFill/>
          <a:ln>
            <a:noFill/>
          </a:ln>
        </p:spPr>
        <p:txBody>
          <a:bodyPr wrap="square" lIns="36000" tIns="0" rIns="36000" bIns="0">
            <a:spAutoFit/>
          </a:bodyPr>
          <a:lstStyle>
            <a:lvl1pPr>
              <a:defRPr kumimoji="1" sz="2000" b="1">
                <a:solidFill>
                  <a:schemeClr val="tx1"/>
                </a:solidFill>
                <a:latin typeface="Times New Roman" panose="02020603050405020304" pitchFamily="18" charset="0"/>
                <a:ea typeface="宋体" panose="02010600030101010101" pitchFamily="2" charset="-122"/>
              </a:defRPr>
            </a:lvl1pPr>
            <a:lvl2pPr marL="742950" indent="-285750">
              <a:defRPr kumimoji="1" sz="2000" b="1">
                <a:solidFill>
                  <a:schemeClr val="tx1"/>
                </a:solidFill>
                <a:latin typeface="Times New Roman" panose="02020603050405020304" pitchFamily="18" charset="0"/>
                <a:ea typeface="宋体" panose="02010600030101010101" pitchFamily="2" charset="-122"/>
              </a:defRPr>
            </a:lvl2pPr>
            <a:lvl3pPr marL="1143000" indent="-228600">
              <a:defRPr kumimoji="1" sz="2000" b="1">
                <a:solidFill>
                  <a:schemeClr val="tx1"/>
                </a:solidFill>
                <a:latin typeface="Times New Roman" panose="02020603050405020304" pitchFamily="18" charset="0"/>
                <a:ea typeface="宋体" panose="02010600030101010101" pitchFamily="2" charset="-122"/>
              </a:defRPr>
            </a:lvl3pPr>
            <a:lvl4pPr marL="1600200" indent="-228600">
              <a:defRPr kumimoji="1" sz="2000" b="1">
                <a:solidFill>
                  <a:schemeClr val="tx1"/>
                </a:solidFill>
                <a:latin typeface="Times New Roman" panose="02020603050405020304" pitchFamily="18" charset="0"/>
                <a:ea typeface="宋体" panose="02010600030101010101" pitchFamily="2" charset="-122"/>
              </a:defRPr>
            </a:lvl4pPr>
            <a:lvl5pPr marL="2057400" indent="-22860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dist">
              <a:lnSpc>
                <a:spcPct val="150000"/>
              </a:lnSpc>
              <a:spcAft>
                <a:spcPts val="200"/>
              </a:spcAft>
              <a:defRPr/>
            </a:pPr>
            <a:r>
              <a:rPr kumimoji="0" lang="zh-CN" altLang="en-US" sz="1100" b="1" baseline="0" dirty="0">
                <a:solidFill>
                  <a:srgbClr val="FFFFFF"/>
                </a:solidFill>
                <a:latin typeface="微软雅黑" panose="020B0503020204020204" pitchFamily="34" charset="-122"/>
                <a:ea typeface="微软雅黑" panose="020B0503020204020204" pitchFamily="34" charset="-122"/>
              </a:rPr>
              <a:t>气动与多学科优化设计研究所</a:t>
            </a:r>
            <a:endParaRPr kumimoji="0" lang="en-US" altLang="zh-CN" sz="1050" b="1" baseline="0" dirty="0">
              <a:solidFill>
                <a:srgbClr val="FFFFFF"/>
              </a:solidFill>
              <a:latin typeface="微软雅黑" panose="020B0503020204020204" pitchFamily="34" charset="-122"/>
              <a:ea typeface="微软雅黑" panose="020B0503020204020204" pitchFamily="34" charset="-122"/>
            </a:endParaRPr>
          </a:p>
          <a:p>
            <a:pPr algn="dist">
              <a:lnSpc>
                <a:spcPct val="150000"/>
              </a:lnSpc>
              <a:spcAft>
                <a:spcPts val="200"/>
              </a:spcAft>
              <a:defRPr/>
            </a:pPr>
            <a:r>
              <a:rPr kumimoji="1" lang="en-US" altLang="zh-CN" sz="700" b="1"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 Institute of Aerodynamic and Multidisciplinary Design Optimization</a:t>
            </a:r>
            <a:endParaRPr kumimoji="1" lang="zh-CN" altLang="en-US" sz="700" b="1" kern="1200" baseline="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13ABC5EA-673A-55B3-EA42-507EA30A0024}"/>
              </a:ext>
            </a:extLst>
          </p:cNvPr>
          <p:cNvPicPr>
            <a:picLocks noChangeAspect="1"/>
          </p:cNvPicPr>
          <p:nvPr userDrawn="1"/>
        </p:nvPicPr>
        <p:blipFill rotWithShape="1">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artisticPhotocopy/>
                    </a14:imgEffect>
                  </a14:imgLayer>
                </a14:imgProps>
              </a:ext>
            </a:extLst>
          </a:blip>
          <a:srcRect r="79416"/>
          <a:stretch/>
        </p:blipFill>
        <p:spPr>
          <a:xfrm>
            <a:off x="8432216" y="381397"/>
            <a:ext cx="648000" cy="521857"/>
          </a:xfrm>
          <a:prstGeom prst="rect">
            <a:avLst/>
          </a:prstGeom>
        </p:spPr>
      </p:pic>
      <p:sp>
        <p:nvSpPr>
          <p:cNvPr id="15" name="矩形 14">
            <a:extLst>
              <a:ext uri="{FF2B5EF4-FFF2-40B4-BE49-F238E27FC236}">
                <a16:creationId xmlns:a16="http://schemas.microsoft.com/office/drawing/2014/main" id="{F0476199-2BAB-3C73-86A5-3D7AF1E0C9D9}"/>
              </a:ext>
            </a:extLst>
          </p:cNvPr>
          <p:cNvSpPr/>
          <p:nvPr userDrawn="1"/>
        </p:nvSpPr>
        <p:spPr>
          <a:xfrm>
            <a:off x="419100" y="6604000"/>
            <a:ext cx="11772900" cy="254000"/>
          </a:xfrm>
          <a:prstGeom prst="rect">
            <a:avLst/>
          </a:prstGeom>
          <a:solidFill>
            <a:srgbClr val="F3F3F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672853707"/>
      </p:ext>
    </p:extLst>
  </p:cSld>
  <p:clrMapOvr>
    <a:masterClrMapping/>
  </p:clrMapOvr>
  <p:extLst>
    <p:ext uri="{DCECCB84-F9BA-43D5-87BE-67443E8EF086}">
      <p15:sldGuideLst xmlns:p15="http://schemas.microsoft.com/office/powerpoint/2012/main">
        <p15:guide id="1" orient="horz" pos="2183" userDrawn="1">
          <p15:clr>
            <a:srgbClr val="FBAE40"/>
          </p15:clr>
        </p15:guide>
        <p15:guide id="2" pos="381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2" name="流程图: 过程 21">
            <a:extLst>
              <a:ext uri="{FF2B5EF4-FFF2-40B4-BE49-F238E27FC236}">
                <a16:creationId xmlns:a16="http://schemas.microsoft.com/office/drawing/2014/main" id="{7B6A2D70-5AC0-63C2-9CDA-36E6EFA93F86}"/>
              </a:ext>
            </a:extLst>
          </p:cNvPr>
          <p:cNvSpPr/>
          <p:nvPr userDrawn="1"/>
        </p:nvSpPr>
        <p:spPr>
          <a:xfrm>
            <a:off x="463552" y="6585727"/>
            <a:ext cx="11728449" cy="272274"/>
          </a:xfrm>
          <a:prstGeom prst="flowChartProcess">
            <a:avLst/>
          </a:prstGeom>
          <a:gradFill flip="none" rotWithShape="1">
            <a:gsLst>
              <a:gs pos="0">
                <a:schemeClr val="tx2">
                  <a:lumMod val="60000"/>
                  <a:lumOff val="40000"/>
                </a:schemeClr>
              </a:gs>
              <a:gs pos="6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en-US" sz="1800" b="0" dirty="0"/>
          </a:p>
        </p:txBody>
      </p:sp>
      <p:sp>
        <p:nvSpPr>
          <p:cNvPr id="23" name="文本框 22">
            <a:extLst>
              <a:ext uri="{FF2B5EF4-FFF2-40B4-BE49-F238E27FC236}">
                <a16:creationId xmlns:a16="http://schemas.microsoft.com/office/drawing/2014/main" id="{BFD73065-7196-4418-70F9-4F6B2BCF8416}"/>
              </a:ext>
            </a:extLst>
          </p:cNvPr>
          <p:cNvSpPr txBox="1">
            <a:spLocks noChangeArrowheads="1"/>
          </p:cNvSpPr>
          <p:nvPr userDrawn="1"/>
        </p:nvSpPr>
        <p:spPr bwMode="auto">
          <a:xfrm>
            <a:off x="11700474" y="6661150"/>
            <a:ext cx="2725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fld id="{5169FF50-1D25-4263-B53B-ACA339EBE4E8}" type="slidenum">
              <a:rPr lang="en-GB" altLang="zh-CN" sz="1600" smtClean="0">
                <a:solidFill>
                  <a:srgbClr val="002060"/>
                </a:solidFill>
                <a:latin typeface="微软雅黑" panose="020B0503020204020204" pitchFamily="34" charset="-122"/>
                <a:ea typeface="微软雅黑" panose="020B0503020204020204" pitchFamily="34" charset="-122"/>
                <a:cs typeface="Arial" pitchFamily="34" charset="0"/>
              </a:rPr>
              <a:pPr eaLnBrk="1" hangingPunct="1"/>
              <a:t>‹#›</a:t>
            </a:fld>
            <a:endParaRPr lang="en-GB" altLang="zh-CN" sz="16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7" name="矩形 6">
            <a:extLst>
              <a:ext uri="{FF2B5EF4-FFF2-40B4-BE49-F238E27FC236}">
                <a16:creationId xmlns:a16="http://schemas.microsoft.com/office/drawing/2014/main" id="{73CC3651-9070-2544-3DE7-B1F5241D2CB4}"/>
              </a:ext>
            </a:extLst>
          </p:cNvPr>
          <p:cNvSpPr/>
          <p:nvPr userDrawn="1"/>
        </p:nvSpPr>
        <p:spPr>
          <a:xfrm>
            <a:off x="168777" y="6445251"/>
            <a:ext cx="12023223" cy="412749"/>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8" name="文本框 7">
            <a:extLst>
              <a:ext uri="{FF2B5EF4-FFF2-40B4-BE49-F238E27FC236}">
                <a16:creationId xmlns:a16="http://schemas.microsoft.com/office/drawing/2014/main" id="{B6D5D583-3D83-213B-220B-2DADD92EDCFB}"/>
              </a:ext>
            </a:extLst>
          </p:cNvPr>
          <p:cNvSpPr txBox="1">
            <a:spLocks noChangeArrowheads="1"/>
          </p:cNvSpPr>
          <p:nvPr userDrawn="1"/>
        </p:nvSpPr>
        <p:spPr bwMode="auto">
          <a:xfrm>
            <a:off x="11700474" y="6515100"/>
            <a:ext cx="2725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fld id="{5169FF50-1D25-4263-B53B-ACA339EBE4E8}" type="slidenum">
              <a:rPr lang="en-GB" altLang="zh-CN" sz="1600" smtClean="0">
                <a:solidFill>
                  <a:srgbClr val="002060"/>
                </a:solidFill>
                <a:latin typeface="微软雅黑" panose="020B0503020204020204" pitchFamily="34" charset="-122"/>
                <a:ea typeface="微软雅黑" panose="020B0503020204020204" pitchFamily="34" charset="-122"/>
                <a:cs typeface="Arial" pitchFamily="34" charset="0"/>
              </a:rPr>
              <a:pPr eaLnBrk="1" hangingPunct="1"/>
              <a:t>‹#›</a:t>
            </a:fld>
            <a:endParaRPr lang="en-GB" altLang="zh-CN" sz="1600"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3075751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7" name="流程图: 过程 6">
            <a:extLst>
              <a:ext uri="{FF2B5EF4-FFF2-40B4-BE49-F238E27FC236}">
                <a16:creationId xmlns:a16="http://schemas.microsoft.com/office/drawing/2014/main" id="{DF5FE356-776E-EF39-4817-5A1CC6E3CE88}"/>
              </a:ext>
            </a:extLst>
          </p:cNvPr>
          <p:cNvSpPr/>
          <p:nvPr userDrawn="1"/>
        </p:nvSpPr>
        <p:spPr>
          <a:xfrm>
            <a:off x="463552" y="6585727"/>
            <a:ext cx="11728449" cy="272274"/>
          </a:xfrm>
          <a:prstGeom prst="flowChartProcess">
            <a:avLst/>
          </a:prstGeom>
          <a:gradFill flip="none" rotWithShape="1">
            <a:gsLst>
              <a:gs pos="0">
                <a:schemeClr val="tx2">
                  <a:lumMod val="60000"/>
                  <a:lumOff val="40000"/>
                </a:schemeClr>
              </a:gs>
              <a:gs pos="6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en-US" sz="1800" b="0" dirty="0"/>
          </a:p>
        </p:txBody>
      </p:sp>
      <p:sp>
        <p:nvSpPr>
          <p:cNvPr id="9" name="TextBox 17">
            <a:extLst>
              <a:ext uri="{FF2B5EF4-FFF2-40B4-BE49-F238E27FC236}">
                <a16:creationId xmlns:a16="http://schemas.microsoft.com/office/drawing/2014/main" id="{E56F08AC-0BC3-A45C-8629-5E778CA56A91}"/>
              </a:ext>
            </a:extLst>
          </p:cNvPr>
          <p:cNvSpPr txBox="1">
            <a:spLocks noChangeArrowheads="1"/>
          </p:cNvSpPr>
          <p:nvPr userDrawn="1"/>
        </p:nvSpPr>
        <p:spPr bwMode="auto">
          <a:xfrm>
            <a:off x="1846537" y="6585727"/>
            <a:ext cx="1983239" cy="243656"/>
          </a:xfrm>
          <a:prstGeom prst="rect">
            <a:avLst/>
          </a:prstGeom>
          <a:noFill/>
          <a:ln>
            <a:noFill/>
          </a:ln>
        </p:spPr>
        <p:txBody>
          <a:bodyPr wrap="square" lIns="36000" tIns="0" rIns="36000" bIns="0">
            <a:spAutoFit/>
          </a:bodyPr>
          <a:lstStyle>
            <a:lvl1pPr>
              <a:defRPr kumimoji="1" sz="2000" b="1">
                <a:solidFill>
                  <a:schemeClr val="tx1"/>
                </a:solidFill>
                <a:latin typeface="Times New Roman" panose="02020603050405020304" pitchFamily="18" charset="0"/>
                <a:ea typeface="宋体" panose="02010600030101010101" pitchFamily="2" charset="-122"/>
              </a:defRPr>
            </a:lvl1pPr>
            <a:lvl2pPr marL="742950" indent="-285750">
              <a:defRPr kumimoji="1" sz="2000" b="1">
                <a:solidFill>
                  <a:schemeClr val="tx1"/>
                </a:solidFill>
                <a:latin typeface="Times New Roman" panose="02020603050405020304" pitchFamily="18" charset="0"/>
                <a:ea typeface="宋体" panose="02010600030101010101" pitchFamily="2" charset="-122"/>
              </a:defRPr>
            </a:lvl2pPr>
            <a:lvl3pPr marL="1143000" indent="-228600">
              <a:defRPr kumimoji="1" sz="2000" b="1">
                <a:solidFill>
                  <a:schemeClr val="tx1"/>
                </a:solidFill>
                <a:latin typeface="Times New Roman" panose="02020603050405020304" pitchFamily="18" charset="0"/>
                <a:ea typeface="宋体" panose="02010600030101010101" pitchFamily="2" charset="-122"/>
              </a:defRPr>
            </a:lvl3pPr>
            <a:lvl4pPr marL="1600200" indent="-228600">
              <a:defRPr kumimoji="1" sz="2000" b="1">
                <a:solidFill>
                  <a:schemeClr val="tx1"/>
                </a:solidFill>
                <a:latin typeface="Times New Roman" panose="02020603050405020304" pitchFamily="18" charset="0"/>
                <a:ea typeface="宋体" panose="02010600030101010101" pitchFamily="2" charset="-122"/>
              </a:defRPr>
            </a:lvl4pPr>
            <a:lvl5pPr marL="2057400" indent="-22860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dist">
              <a:lnSpc>
                <a:spcPts val="533"/>
              </a:lnSpc>
              <a:spcAft>
                <a:spcPts val="200"/>
              </a:spcAft>
              <a:defRPr/>
            </a:pPr>
            <a:r>
              <a:rPr kumimoji="0" lang="zh-CN" altLang="en-US" sz="900" b="0" baseline="0" dirty="0">
                <a:solidFill>
                  <a:srgbClr val="004097"/>
                </a:solidFill>
                <a:latin typeface="华文行楷" panose="02010800040101010101" pitchFamily="2" charset="-122"/>
                <a:ea typeface="华文行楷" panose="02010800040101010101" pitchFamily="2" charset="-122"/>
              </a:rPr>
              <a:t>  </a:t>
            </a:r>
            <a:endParaRPr kumimoji="0" lang="en-US" altLang="zh-CN" sz="900" b="0" baseline="0" dirty="0">
              <a:solidFill>
                <a:srgbClr val="004097"/>
              </a:solidFill>
              <a:latin typeface="华文行楷" panose="02010800040101010101" pitchFamily="2" charset="-122"/>
              <a:ea typeface="华文行楷" panose="02010800040101010101" pitchFamily="2" charset="-122"/>
            </a:endParaRPr>
          </a:p>
          <a:p>
            <a:pPr algn="dist">
              <a:lnSpc>
                <a:spcPts val="533"/>
              </a:lnSpc>
              <a:spcAft>
                <a:spcPts val="200"/>
              </a:spcAft>
              <a:defRPr/>
            </a:pPr>
            <a:r>
              <a:rPr kumimoji="0" lang="zh-CN" altLang="en-US" sz="1000" b="0" baseline="0" dirty="0">
                <a:solidFill>
                  <a:srgbClr val="004097"/>
                </a:solidFill>
                <a:latin typeface="华文行楷" panose="02010800040101010101" pitchFamily="2" charset="-122"/>
                <a:ea typeface="华文行楷" panose="02010800040101010101" pitchFamily="2" charset="-122"/>
              </a:rPr>
              <a:t>飞行器基础布局全国重点实验室</a:t>
            </a:r>
            <a:endParaRPr kumimoji="0" lang="en-US" altLang="zh-CN" sz="900" b="0" baseline="0" dirty="0">
              <a:solidFill>
                <a:srgbClr val="004097"/>
              </a:solidFill>
              <a:latin typeface="华文行楷" panose="02010800040101010101" pitchFamily="2" charset="-122"/>
              <a:ea typeface="华文行楷" panose="02010800040101010101" pitchFamily="2" charset="-122"/>
            </a:endParaRPr>
          </a:p>
          <a:p>
            <a:pPr algn="dist">
              <a:lnSpc>
                <a:spcPts val="533"/>
              </a:lnSpc>
              <a:spcAft>
                <a:spcPts val="200"/>
              </a:spcAft>
              <a:defRPr/>
            </a:pPr>
            <a:r>
              <a:rPr kumimoji="1" lang="en-US" altLang="zh-CN" sz="533" b="1" kern="1200" baseline="0" dirty="0">
                <a:solidFill>
                  <a:srgbClr val="004097"/>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500" b="1" kern="1200" baseline="0" dirty="0">
                <a:solidFill>
                  <a:srgbClr val="004097"/>
                </a:solidFill>
                <a:latin typeface="Times New Roman" panose="02020603050405020304" pitchFamily="18" charset="0"/>
                <a:ea typeface="微软雅黑" panose="020B0503020204020204" pitchFamily="34" charset="-122"/>
                <a:cs typeface="Times New Roman" panose="02020603050405020304" pitchFamily="18" charset="0"/>
              </a:rPr>
              <a:t>National Key Laboratory of Aircraft Configuration Design</a:t>
            </a:r>
            <a:endParaRPr lang="zh-CN" altLang="en-US" sz="533" baseline="0" dirty="0">
              <a:solidFill>
                <a:srgbClr val="004097"/>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9">
            <a:extLst>
              <a:ext uri="{FF2B5EF4-FFF2-40B4-BE49-F238E27FC236}">
                <a16:creationId xmlns:a16="http://schemas.microsoft.com/office/drawing/2014/main" id="{94FD8742-88EF-ABF4-3EC3-E00653652D37}"/>
              </a:ext>
            </a:extLst>
          </p:cNvPr>
          <p:cNvPicPr>
            <a:picLocks noChangeAspect="1"/>
          </p:cNvPicPr>
          <p:nvPr userDrawn="1"/>
        </p:nvPicPr>
        <p:blipFill rotWithShape="1">
          <a:blip r:embed="rId2" cstate="print"/>
          <a:srcRect r="79416"/>
          <a:stretch/>
        </p:blipFill>
        <p:spPr>
          <a:xfrm>
            <a:off x="4008867" y="6608049"/>
            <a:ext cx="305191" cy="220662"/>
          </a:xfrm>
          <a:prstGeom prst="rect">
            <a:avLst/>
          </a:prstGeom>
        </p:spPr>
      </p:pic>
      <p:sp>
        <p:nvSpPr>
          <p:cNvPr id="15" name="TextBox 17">
            <a:extLst>
              <a:ext uri="{FF2B5EF4-FFF2-40B4-BE49-F238E27FC236}">
                <a16:creationId xmlns:a16="http://schemas.microsoft.com/office/drawing/2014/main" id="{28FCC62F-29D7-422F-7CDB-28899C7EAEE0}"/>
              </a:ext>
            </a:extLst>
          </p:cNvPr>
          <p:cNvSpPr txBox="1">
            <a:spLocks noChangeArrowheads="1"/>
          </p:cNvSpPr>
          <p:nvPr userDrawn="1"/>
        </p:nvSpPr>
        <p:spPr bwMode="auto">
          <a:xfrm>
            <a:off x="4274591" y="6585727"/>
            <a:ext cx="1995866" cy="243656"/>
          </a:xfrm>
          <a:prstGeom prst="rect">
            <a:avLst/>
          </a:prstGeom>
          <a:noFill/>
          <a:ln>
            <a:noFill/>
          </a:ln>
        </p:spPr>
        <p:txBody>
          <a:bodyPr wrap="square" lIns="36000" tIns="0" rIns="36000" bIns="0">
            <a:spAutoFit/>
          </a:bodyPr>
          <a:lstStyle>
            <a:lvl1pPr>
              <a:defRPr kumimoji="1" sz="2000" b="1">
                <a:solidFill>
                  <a:schemeClr val="tx1"/>
                </a:solidFill>
                <a:latin typeface="Times New Roman" panose="02020603050405020304" pitchFamily="18" charset="0"/>
                <a:ea typeface="宋体" panose="02010600030101010101" pitchFamily="2" charset="-122"/>
              </a:defRPr>
            </a:lvl1pPr>
            <a:lvl2pPr marL="742950" indent="-285750">
              <a:defRPr kumimoji="1" sz="2000" b="1">
                <a:solidFill>
                  <a:schemeClr val="tx1"/>
                </a:solidFill>
                <a:latin typeface="Times New Roman" panose="02020603050405020304" pitchFamily="18" charset="0"/>
                <a:ea typeface="宋体" panose="02010600030101010101" pitchFamily="2" charset="-122"/>
              </a:defRPr>
            </a:lvl2pPr>
            <a:lvl3pPr marL="1143000" indent="-228600">
              <a:defRPr kumimoji="1" sz="2000" b="1">
                <a:solidFill>
                  <a:schemeClr val="tx1"/>
                </a:solidFill>
                <a:latin typeface="Times New Roman" panose="02020603050405020304" pitchFamily="18" charset="0"/>
                <a:ea typeface="宋体" panose="02010600030101010101" pitchFamily="2" charset="-122"/>
              </a:defRPr>
            </a:lvl3pPr>
            <a:lvl4pPr marL="1600200" indent="-228600">
              <a:defRPr kumimoji="1" sz="2000" b="1">
                <a:solidFill>
                  <a:schemeClr val="tx1"/>
                </a:solidFill>
                <a:latin typeface="Times New Roman" panose="02020603050405020304" pitchFamily="18" charset="0"/>
                <a:ea typeface="宋体" panose="02010600030101010101" pitchFamily="2" charset="-122"/>
              </a:defRPr>
            </a:lvl4pPr>
            <a:lvl5pPr marL="2057400" indent="-22860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dist">
              <a:lnSpc>
                <a:spcPts val="533"/>
              </a:lnSpc>
              <a:spcAft>
                <a:spcPts val="200"/>
              </a:spcAft>
              <a:defRPr/>
            </a:pPr>
            <a:r>
              <a:rPr kumimoji="0" lang="zh-CN" altLang="en-US" sz="900" b="0" baseline="0" dirty="0">
                <a:solidFill>
                  <a:srgbClr val="004097"/>
                </a:solidFill>
                <a:latin typeface="华文行楷" panose="02010800040101010101" pitchFamily="2" charset="-122"/>
                <a:ea typeface="华文行楷" panose="02010800040101010101" pitchFamily="2" charset="-122"/>
              </a:rPr>
              <a:t>       </a:t>
            </a:r>
            <a:endParaRPr kumimoji="0" lang="en-US" altLang="zh-CN" sz="900" b="0" baseline="0" dirty="0">
              <a:solidFill>
                <a:srgbClr val="004097"/>
              </a:solidFill>
              <a:latin typeface="华文行楷" panose="02010800040101010101" pitchFamily="2" charset="-122"/>
              <a:ea typeface="华文行楷" panose="02010800040101010101" pitchFamily="2" charset="-122"/>
            </a:endParaRPr>
          </a:p>
          <a:p>
            <a:pPr algn="dist">
              <a:lnSpc>
                <a:spcPts val="533"/>
              </a:lnSpc>
              <a:spcAft>
                <a:spcPts val="200"/>
              </a:spcAft>
              <a:defRPr/>
            </a:pPr>
            <a:r>
              <a:rPr kumimoji="0" lang="zh-CN" altLang="en-US" sz="1000" b="0" baseline="0" dirty="0">
                <a:solidFill>
                  <a:srgbClr val="004097"/>
                </a:solidFill>
                <a:latin typeface="华文行楷" panose="02010800040101010101" pitchFamily="2" charset="-122"/>
                <a:ea typeface="华文行楷" panose="02010800040101010101" pitchFamily="2" charset="-122"/>
              </a:rPr>
              <a:t>气动与多学科优化设计研究所</a:t>
            </a:r>
            <a:endParaRPr kumimoji="0" lang="en-US" altLang="zh-CN" sz="900" b="0" baseline="0" dirty="0">
              <a:solidFill>
                <a:srgbClr val="004097"/>
              </a:solidFill>
              <a:latin typeface="华文行楷" panose="02010800040101010101" pitchFamily="2" charset="-122"/>
              <a:ea typeface="华文行楷" panose="02010800040101010101" pitchFamily="2" charset="-122"/>
            </a:endParaRPr>
          </a:p>
          <a:p>
            <a:pPr algn="dist">
              <a:lnSpc>
                <a:spcPts val="533"/>
              </a:lnSpc>
              <a:spcAft>
                <a:spcPts val="200"/>
              </a:spcAft>
              <a:defRPr/>
            </a:pPr>
            <a:r>
              <a:rPr kumimoji="1" lang="en-US" altLang="zh-CN" sz="500" b="1" kern="1200" baseline="0" dirty="0">
                <a:solidFill>
                  <a:srgbClr val="004097"/>
                </a:solidFill>
                <a:latin typeface="Times New Roman" panose="02020603050405020304" pitchFamily="18" charset="0"/>
                <a:ea typeface="微软雅黑" panose="020B0503020204020204" pitchFamily="34" charset="-122"/>
                <a:cs typeface="Times New Roman" panose="02020603050405020304" pitchFamily="18" charset="0"/>
              </a:rPr>
              <a:t> Institute of Aerodynamic and Multidisciplinary Design Optimization</a:t>
            </a:r>
            <a:endParaRPr kumimoji="1" lang="zh-CN" altLang="en-US" sz="500" b="1" kern="1200" baseline="0" dirty="0">
              <a:solidFill>
                <a:srgbClr val="004097"/>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6" name="图片 15" descr="徽标, 公司名称&#10;&#10;描述已自动生成">
            <a:extLst>
              <a:ext uri="{FF2B5EF4-FFF2-40B4-BE49-F238E27FC236}">
                <a16:creationId xmlns:a16="http://schemas.microsoft.com/office/drawing/2014/main" id="{348A36C4-3B0C-AC99-0452-2A4CBAB6B97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1200" t="34750" r="12986" b="38625"/>
          <a:stretch/>
        </p:blipFill>
        <p:spPr>
          <a:xfrm>
            <a:off x="168777" y="6597237"/>
            <a:ext cx="1237564" cy="231474"/>
          </a:xfrm>
          <a:prstGeom prst="rect">
            <a:avLst/>
          </a:prstGeom>
        </p:spPr>
      </p:pic>
      <p:pic>
        <p:nvPicPr>
          <p:cNvPr id="18" name="Picture 4" descr="国防logo">
            <a:extLst>
              <a:ext uri="{FF2B5EF4-FFF2-40B4-BE49-F238E27FC236}">
                <a16:creationId xmlns:a16="http://schemas.microsoft.com/office/drawing/2014/main" id="{19781FD9-F228-E798-7682-BEE431A63A00}"/>
              </a:ext>
            </a:extLst>
          </p:cNvPr>
          <p:cNvPicPr>
            <a:picLocks noChangeAspect="1" noChangeArrowheads="1"/>
          </p:cNvPicPr>
          <p:nvPr userDrawn="1"/>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1603098" y="6597237"/>
            <a:ext cx="279589" cy="23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直接连接符 18">
            <a:extLst>
              <a:ext uri="{FF2B5EF4-FFF2-40B4-BE49-F238E27FC236}">
                <a16:creationId xmlns:a16="http://schemas.microsoft.com/office/drawing/2014/main" id="{AD799EF4-5209-6D9C-60DC-55BE69D7C3CF}"/>
              </a:ext>
            </a:extLst>
          </p:cNvPr>
          <p:cNvCxnSpPr>
            <a:cxnSpLocks/>
          </p:cNvCxnSpPr>
          <p:nvPr userDrawn="1"/>
        </p:nvCxnSpPr>
        <p:spPr>
          <a:xfrm>
            <a:off x="246000" y="747485"/>
            <a:ext cx="11700000" cy="0"/>
          </a:xfrm>
          <a:prstGeom prst="line">
            <a:avLst/>
          </a:prstGeom>
          <a:ln w="19050">
            <a:solidFill>
              <a:srgbClr val="002060"/>
            </a:solidFill>
            <a:tailEnd type="none"/>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BE27817B-A09C-A614-A85A-2B87FBA3C94B}"/>
              </a:ext>
            </a:extLst>
          </p:cNvPr>
          <p:cNvSpPr/>
          <p:nvPr userDrawn="1"/>
        </p:nvSpPr>
        <p:spPr>
          <a:xfrm>
            <a:off x="168777" y="6445251"/>
            <a:ext cx="12023223" cy="412749"/>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0875D557-BA29-4F2F-0E1A-1C68131D65BF}"/>
              </a:ext>
            </a:extLst>
          </p:cNvPr>
          <p:cNvSpPr txBox="1">
            <a:spLocks noChangeArrowheads="1"/>
          </p:cNvSpPr>
          <p:nvPr userDrawn="1"/>
        </p:nvSpPr>
        <p:spPr bwMode="auto">
          <a:xfrm>
            <a:off x="11700474" y="6515100"/>
            <a:ext cx="2725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fld id="{5169FF50-1D25-4263-B53B-ACA339EBE4E8}" type="slidenum">
              <a:rPr lang="en-GB" altLang="zh-CN" sz="1600" smtClean="0">
                <a:solidFill>
                  <a:srgbClr val="002060"/>
                </a:solidFill>
                <a:latin typeface="微软雅黑" panose="020B0503020204020204" pitchFamily="34" charset="-122"/>
                <a:ea typeface="微软雅黑" panose="020B0503020204020204" pitchFamily="34" charset="-122"/>
                <a:cs typeface="Arial" pitchFamily="34" charset="0"/>
              </a:rPr>
              <a:pPr eaLnBrk="1" hangingPunct="1"/>
              <a:t>‹#›</a:t>
            </a:fld>
            <a:endParaRPr lang="en-GB" altLang="zh-CN" sz="1600"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439236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2AF1924-1D13-8114-5EC0-DBDF9F4C7E1B}"/>
              </a:ext>
            </a:extLst>
          </p:cNvPr>
          <p:cNvSpPr/>
          <p:nvPr userDrawn="1"/>
        </p:nvSpPr>
        <p:spPr>
          <a:xfrm>
            <a:off x="419100" y="6604000"/>
            <a:ext cx="11772900" cy="254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2404087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流程图: 过程 11"/>
          <p:cNvSpPr/>
          <p:nvPr userDrawn="1"/>
        </p:nvSpPr>
        <p:spPr>
          <a:xfrm>
            <a:off x="463552" y="6637338"/>
            <a:ext cx="11728449" cy="220662"/>
          </a:xfrm>
          <a:prstGeom prst="flowChartProcess">
            <a:avLst/>
          </a:prstGeom>
          <a:gradFill flip="none" rotWithShape="1">
            <a:gsLst>
              <a:gs pos="0">
                <a:schemeClr val="tx2">
                  <a:lumMod val="60000"/>
                  <a:lumOff val="40000"/>
                </a:schemeClr>
              </a:gs>
              <a:gs pos="6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en-US" sz="1800" b="0"/>
          </a:p>
        </p:txBody>
      </p:sp>
      <p:sp>
        <p:nvSpPr>
          <p:cNvPr id="22" name="文本框 7"/>
          <p:cNvSpPr txBox="1">
            <a:spLocks noChangeArrowheads="1"/>
          </p:cNvSpPr>
          <p:nvPr/>
        </p:nvSpPr>
        <p:spPr bwMode="auto">
          <a:xfrm>
            <a:off x="11853144" y="6661150"/>
            <a:ext cx="18755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fld id="{D5E0037A-9D1D-439F-950C-9A7AC256782F}" type="slidenum">
              <a:rPr lang="en-GB" altLang="zh-CN" sz="1200" smtClean="0">
                <a:solidFill>
                  <a:schemeClr val="bg1"/>
                </a:solidFill>
                <a:latin typeface="Arial" pitchFamily="34" charset="0"/>
                <a:cs typeface="Arial" pitchFamily="34" charset="0"/>
              </a:rPr>
              <a:pPr eaLnBrk="1" hangingPunct="1"/>
              <a:t>‹#›</a:t>
            </a:fld>
            <a:endParaRPr lang="en-GB" altLang="zh-CN" sz="12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318367548"/>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3" r:id="rId3"/>
    <p:sldLayoutId id="2147483664" r:id="rId4"/>
  </p:sldLayoutIdLst>
  <p:hf hdr="0" dt="0"/>
  <p:txStyles>
    <p:titleStyle>
      <a:lvl1pPr algn="l" defTabSz="914400" rtl="0" eaLnBrk="1" latinLnBrk="0" hangingPunct="1">
        <a:spcBef>
          <a:spcPct val="0"/>
        </a:spcBef>
        <a:buNone/>
        <a:defRPr sz="2800" b="1" kern="1200">
          <a:solidFill>
            <a:srgbClr val="686868"/>
          </a:solidFill>
          <a:latin typeface="黑体" pitchFamily="49" charset="-122"/>
          <a:ea typeface="黑体" pitchFamily="49" charset="-122"/>
          <a:cs typeface="Arial" pitchFamily="34" charset="0"/>
        </a:defRPr>
      </a:lvl1pPr>
    </p:titleStyle>
    <p:bodyStyle>
      <a:lvl1pPr marL="180000" indent="-180000" algn="l" defTabSz="914400" rtl="0" eaLnBrk="1" latinLnBrk="0" hangingPunct="1">
        <a:spcBef>
          <a:spcPts val="300"/>
        </a:spcBef>
        <a:spcAft>
          <a:spcPts val="0"/>
        </a:spcAft>
        <a:buFont typeface="Arial" pitchFamily="34" charset="0"/>
        <a:buChar char="•"/>
        <a:defRPr sz="2000" kern="1200">
          <a:solidFill>
            <a:schemeClr val="tx1"/>
          </a:solidFill>
          <a:latin typeface="宋体" pitchFamily="2" charset="-122"/>
          <a:ea typeface="宋体" pitchFamily="2" charset="-122"/>
          <a:cs typeface="Arial" pitchFamily="34" charset="0"/>
        </a:defRPr>
      </a:lvl1pPr>
      <a:lvl2pPr marL="626400" indent="-180000" algn="l" defTabSz="914400" rtl="0" eaLnBrk="1" latinLnBrk="0" hangingPunct="1">
        <a:spcBef>
          <a:spcPts val="0"/>
        </a:spcBef>
        <a:buFont typeface="Arial" pitchFamily="34" charset="0"/>
        <a:buChar char="•"/>
        <a:defRPr sz="2000" kern="1200">
          <a:solidFill>
            <a:schemeClr val="tx1"/>
          </a:solidFill>
          <a:latin typeface="宋体" pitchFamily="2" charset="-122"/>
          <a:ea typeface="宋体" pitchFamily="2" charset="-122"/>
          <a:cs typeface="Arial" pitchFamily="34" charset="0"/>
        </a:defRPr>
      </a:lvl2pPr>
      <a:lvl3pPr marL="1076400" indent="-180000" algn="l" defTabSz="914400" rtl="0" eaLnBrk="1" latinLnBrk="0" hangingPunct="1">
        <a:spcBef>
          <a:spcPts val="0"/>
        </a:spcBef>
        <a:buFont typeface="Arial" pitchFamily="34" charset="0"/>
        <a:buChar char="•"/>
        <a:defRPr sz="2000" kern="1200">
          <a:solidFill>
            <a:schemeClr val="tx1"/>
          </a:solidFill>
          <a:latin typeface="宋体" pitchFamily="2" charset="-122"/>
          <a:ea typeface="宋体" pitchFamily="2" charset="-122"/>
          <a:cs typeface="Arial" pitchFamily="34" charset="0"/>
        </a:defRPr>
      </a:lvl3pPr>
      <a:lvl4pPr marL="1522800" indent="-180000" algn="l" defTabSz="914400" rtl="0" eaLnBrk="1" latinLnBrk="0" hangingPunct="1">
        <a:spcBef>
          <a:spcPts val="0"/>
        </a:spcBef>
        <a:buFont typeface="Arial" pitchFamily="34" charset="0"/>
        <a:buChar char="•"/>
        <a:defRPr sz="2000" kern="1200">
          <a:solidFill>
            <a:schemeClr val="tx1"/>
          </a:solidFill>
          <a:latin typeface="宋体" pitchFamily="2" charset="-122"/>
          <a:ea typeface="宋体" pitchFamily="2" charset="-122"/>
          <a:cs typeface="Arial" pitchFamily="34" charset="0"/>
        </a:defRPr>
      </a:lvl4pPr>
      <a:lvl5pPr marL="1969200" indent="-180000" algn="l" defTabSz="914400" rtl="0" eaLnBrk="1" latinLnBrk="0" hangingPunct="1">
        <a:spcBef>
          <a:spcPts val="0"/>
        </a:spcBef>
        <a:buFont typeface="Arial" pitchFamily="34" charset="0"/>
        <a:buChar char="•"/>
        <a:defRPr sz="2000" kern="1200">
          <a:solidFill>
            <a:schemeClr val="tx1"/>
          </a:solidFill>
          <a:latin typeface="宋体" pitchFamily="2" charset="-122"/>
          <a:ea typeface="宋体" pitchFamily="2" charset="-122"/>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notesSlide" Target="../notesSlides/notesSlide5.xml"/><Relationship Id="rId7"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2.xml"/><Relationship Id="rId6" Type="http://schemas.openxmlformats.org/officeDocument/2006/relationships/image" Target="../media/image11.tiff"/><Relationship Id="rId5" Type="http://schemas.openxmlformats.org/officeDocument/2006/relationships/image" Target="../media/image10.tiff"/><Relationship Id="rId4" Type="http://schemas.openxmlformats.org/officeDocument/2006/relationships/image" Target="../media/image9.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3.xml"/><Relationship Id="rId5" Type="http://schemas.openxmlformats.org/officeDocument/2006/relationships/image" Target="../media/image16.jpe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5.xml"/><Relationship Id="rId5" Type="http://schemas.openxmlformats.org/officeDocument/2006/relationships/image" Target="../media/image140.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12.xml"/><Relationship Id="rId7" Type="http://schemas.openxmlformats.org/officeDocument/2006/relationships/image" Target="../media/image29.wmf"/><Relationship Id="rId2" Type="http://schemas.openxmlformats.org/officeDocument/2006/relationships/slideLayout" Target="../slideLayouts/slideLayout3.xml"/><Relationship Id="rId1" Type="http://schemas.openxmlformats.org/officeDocument/2006/relationships/tags" Target="../tags/tag8.xml"/><Relationship Id="rId6" Type="http://schemas.openxmlformats.org/officeDocument/2006/relationships/oleObject" Target="../embeddings/oleObject1.bin"/><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0.w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917824" y="2644651"/>
            <a:ext cx="10356351" cy="822472"/>
          </a:xfrm>
          <a:prstGeom prst="rect">
            <a:avLst/>
          </a:prstGeom>
          <a:noFill/>
          <a:ln>
            <a:miter lim="800000"/>
            <a:headEnd/>
            <a:tailEnd/>
          </a:ln>
          <a:effectLst/>
        </p:spPr>
        <p:txBody>
          <a:bodyPr/>
          <a:lstStyle>
            <a:defPPr>
              <a:defRPr lang="zh-CN"/>
            </a:defPPr>
            <a:lvl1pPr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9pPr>
          </a:lstStyle>
          <a:p>
            <a:pPr algn="ctr" eaLnBrk="1" hangingPunct="1">
              <a:lnSpc>
                <a:spcPct val="120000"/>
              </a:lnSpc>
            </a:pPr>
            <a:r>
              <a:rPr lang="zh-CN" altLang="en-US" dirty="0">
                <a:solidFill>
                  <a:srgbClr val="002060"/>
                </a:solidFill>
                <a:latin typeface="微软雅黑" pitchFamily="34" charset="-122"/>
                <a:ea typeface="微软雅黑" pitchFamily="34" charset="-122"/>
              </a:rPr>
              <a:t>考虑航迹规划的超声速民机总体设计方法研究</a:t>
            </a:r>
            <a:endParaRPr lang="en-US" altLang="zh-CN" dirty="0">
              <a:solidFill>
                <a:srgbClr val="002060"/>
              </a:solidFill>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196292EF-3585-AD8A-03F9-ACDD8EE27DA5}"/>
              </a:ext>
            </a:extLst>
          </p:cNvPr>
          <p:cNvSpPr txBox="1"/>
          <p:nvPr/>
        </p:nvSpPr>
        <p:spPr>
          <a:xfrm>
            <a:off x="2884376" y="2091071"/>
            <a:ext cx="6423251" cy="369332"/>
          </a:xfrm>
          <a:prstGeom prst="rect">
            <a:avLst/>
          </a:prstGeom>
          <a:noFill/>
          <a:effectLst/>
        </p:spPr>
        <p:txBody>
          <a:bodyPr wrap="square" lIns="0" tIns="0" rIns="0" bIns="0" rtlCol="0">
            <a:spAutoFit/>
          </a:bodyPr>
          <a:lstStyle/>
          <a:p>
            <a:pPr algn="ctr"/>
            <a:r>
              <a:rPr lang="zh-CN" altLang="en-US" sz="2400" dirty="0">
                <a:solidFill>
                  <a:srgbClr val="C00000"/>
                </a:solidFill>
                <a:latin typeface="华文行楷" panose="02010800040101010101" pitchFamily="2" charset="-122"/>
                <a:ea typeface="华文行楷" panose="02010800040101010101" pitchFamily="2" charset="-122"/>
                <a:cs typeface="Arial" pitchFamily="34" charset="0"/>
              </a:rPr>
              <a:t>第十四届全国流体力学学术会议</a:t>
            </a:r>
          </a:p>
        </p:txBody>
      </p:sp>
      <p:sp>
        <p:nvSpPr>
          <p:cNvPr id="6" name="矩形 5">
            <a:extLst>
              <a:ext uri="{FF2B5EF4-FFF2-40B4-BE49-F238E27FC236}">
                <a16:creationId xmlns:a16="http://schemas.microsoft.com/office/drawing/2014/main" id="{980BCA8E-726A-72C1-1866-0AD63EAAC310}"/>
              </a:ext>
            </a:extLst>
          </p:cNvPr>
          <p:cNvSpPr>
            <a:spLocks noChangeArrowheads="1"/>
          </p:cNvSpPr>
          <p:nvPr/>
        </p:nvSpPr>
        <p:spPr bwMode="auto">
          <a:xfrm>
            <a:off x="3314990" y="3641780"/>
            <a:ext cx="5562020" cy="1369799"/>
          </a:xfrm>
          <a:prstGeom prst="rect">
            <a:avLst/>
          </a:prstGeom>
          <a:noFill/>
          <a:ln w="9525">
            <a:noFill/>
            <a:miter lim="800000"/>
            <a:headEnd/>
            <a:tailEnd/>
          </a:ln>
          <a:effectLst>
            <a:outerShdw blurRad="50800" dist="12700" dir="6900000" sx="83000" sy="83000" algn="tl" rotWithShape="0">
              <a:prstClr val="black">
                <a:alpha val="54000"/>
              </a:prstClr>
            </a:outerShdw>
          </a:effectLst>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30000"/>
              </a:lnSpc>
            </a:pP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汇报人：林毅</a:t>
            </a:r>
            <a:endPar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a:p>
            <a:pPr algn="ctr" eaLnBrk="1" hangingPunct="1">
              <a:lnSpc>
                <a:spcPct val="130000"/>
              </a:lnSpc>
            </a:pP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汇报时间：</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2025</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年</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8</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月</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9</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日</a:t>
            </a:r>
            <a:endPar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a:p>
            <a:pPr algn="ctr" eaLnBrk="1" hangingPunct="1">
              <a:lnSpc>
                <a:spcPct val="130000"/>
              </a:lnSpc>
            </a:pP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Email</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linyi@mail.nwpu.edu.cn</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 </a:t>
            </a:r>
            <a:endPar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文本框 6">
            <a:extLst>
              <a:ext uri="{FF2B5EF4-FFF2-40B4-BE49-F238E27FC236}">
                <a16:creationId xmlns:a16="http://schemas.microsoft.com/office/drawing/2014/main" id="{DC404858-53E0-FF1C-234B-D2AFBBC9244A}"/>
              </a:ext>
            </a:extLst>
          </p:cNvPr>
          <p:cNvSpPr txBox="1"/>
          <p:nvPr/>
        </p:nvSpPr>
        <p:spPr>
          <a:xfrm>
            <a:off x="3384619" y="5297288"/>
            <a:ext cx="5422761" cy="276999"/>
          </a:xfrm>
          <a:prstGeom prst="rect">
            <a:avLst/>
          </a:prstGeom>
          <a:noFill/>
        </p:spPr>
        <p:txBody>
          <a:bodyPr wrap="square" lIns="0" tIns="0" rIns="0" bIns="0" rtlCol="0">
            <a:spAutoFit/>
          </a:bodyPr>
          <a:lstStyle/>
          <a:p>
            <a:pPr algn="ctr"/>
            <a:r>
              <a:rPr lang="zh-CN" altLang="en-US" b="1" dirty="0">
                <a:solidFill>
                  <a:srgbClr val="002060"/>
                </a:solidFill>
                <a:latin typeface="+mn-ea"/>
                <a:cs typeface="Arial" pitchFamily="34" charset="0"/>
              </a:rPr>
              <a:t>作者：林毅</a:t>
            </a:r>
            <a:r>
              <a:rPr lang="en-US" altLang="zh-CN" b="1" baseline="30000" dirty="0">
                <a:solidFill>
                  <a:srgbClr val="002060"/>
                </a:solidFill>
                <a:latin typeface="+mn-ea"/>
                <a:cs typeface="Arial" pitchFamily="34" charset="0"/>
              </a:rPr>
              <a:t>1,2</a:t>
            </a:r>
            <a:r>
              <a:rPr lang="zh-CN" altLang="en-US" b="1" dirty="0">
                <a:solidFill>
                  <a:srgbClr val="002060"/>
                </a:solidFill>
                <a:latin typeface="+mn-ea"/>
                <a:cs typeface="Arial" pitchFamily="34" charset="0"/>
              </a:rPr>
              <a:t>，韩忠华</a:t>
            </a:r>
            <a:r>
              <a:rPr lang="en-US" altLang="zh-CN" b="1" baseline="30000" dirty="0">
                <a:solidFill>
                  <a:srgbClr val="002060"/>
                </a:solidFill>
                <a:latin typeface="+mn-ea"/>
                <a:cs typeface="Arial" pitchFamily="34" charset="0"/>
              </a:rPr>
              <a:t>1,2,*</a:t>
            </a:r>
            <a:r>
              <a:rPr lang="zh-CN" altLang="en-US" b="1" dirty="0">
                <a:solidFill>
                  <a:srgbClr val="002060"/>
                </a:solidFill>
                <a:latin typeface="+mn-ea"/>
                <a:cs typeface="Arial" pitchFamily="34" charset="0"/>
              </a:rPr>
              <a:t>，张科施</a:t>
            </a:r>
            <a:r>
              <a:rPr lang="en-US" altLang="zh-CN" b="1" baseline="30000" dirty="0">
                <a:solidFill>
                  <a:srgbClr val="002060"/>
                </a:solidFill>
                <a:latin typeface="+mn-ea"/>
                <a:cs typeface="Arial" pitchFamily="34" charset="0"/>
              </a:rPr>
              <a:t>1,2</a:t>
            </a:r>
            <a:r>
              <a:rPr lang="zh-CN" altLang="en-US" b="1" dirty="0">
                <a:solidFill>
                  <a:srgbClr val="002060"/>
                </a:solidFill>
                <a:latin typeface="+mn-ea"/>
                <a:cs typeface="Arial" pitchFamily="34" charset="0"/>
              </a:rPr>
              <a:t>，陈晴</a:t>
            </a:r>
            <a:r>
              <a:rPr lang="en-US" altLang="zh-CN" b="1" baseline="30000" dirty="0">
                <a:solidFill>
                  <a:srgbClr val="002060"/>
                </a:solidFill>
                <a:latin typeface="+mn-ea"/>
                <a:cs typeface="Arial" pitchFamily="34" charset="0"/>
              </a:rPr>
              <a:t>1,2</a:t>
            </a:r>
            <a:endParaRPr lang="zh-CN" altLang="en-US" b="1" baseline="30000" dirty="0">
              <a:solidFill>
                <a:srgbClr val="002060"/>
              </a:solidFill>
              <a:latin typeface="+mn-ea"/>
              <a:cs typeface="Arial" pitchFamily="34" charset="0"/>
            </a:endParaRPr>
          </a:p>
        </p:txBody>
      </p:sp>
      <p:sp>
        <p:nvSpPr>
          <p:cNvPr id="8" name="文本框 7">
            <a:extLst>
              <a:ext uri="{FF2B5EF4-FFF2-40B4-BE49-F238E27FC236}">
                <a16:creationId xmlns:a16="http://schemas.microsoft.com/office/drawing/2014/main" id="{17A3A900-18CF-1AA0-51D6-1345B9EC7F56}"/>
              </a:ext>
            </a:extLst>
          </p:cNvPr>
          <p:cNvSpPr txBox="1"/>
          <p:nvPr/>
        </p:nvSpPr>
        <p:spPr>
          <a:xfrm>
            <a:off x="2307770" y="5729367"/>
            <a:ext cx="7576457" cy="492443"/>
          </a:xfrm>
          <a:prstGeom prst="rect">
            <a:avLst/>
          </a:prstGeom>
          <a:noFill/>
        </p:spPr>
        <p:txBody>
          <a:bodyPr wrap="square" lIns="0" tIns="0" rIns="0" bIns="0" rtlCol="0">
            <a:spAutoFit/>
          </a:bodyPr>
          <a:lstStyle/>
          <a:p>
            <a:pPr algn="ctr"/>
            <a:r>
              <a:rPr lang="en-US" altLang="zh-CN" sz="1600" dirty="0">
                <a:solidFill>
                  <a:srgbClr val="002060"/>
                </a:solidFill>
                <a:latin typeface="+mn-ea"/>
                <a:cs typeface="Arial" pitchFamily="34" charset="0"/>
              </a:rPr>
              <a:t>1.</a:t>
            </a:r>
            <a:r>
              <a:rPr lang="zh-CN" altLang="en-US" sz="1600" dirty="0">
                <a:solidFill>
                  <a:srgbClr val="002060"/>
                </a:solidFill>
                <a:latin typeface="+mn-ea"/>
                <a:cs typeface="Arial" pitchFamily="34" charset="0"/>
              </a:rPr>
              <a:t>西北工业大学 航空学院 气动与多学科优化设计研究所，西安 </a:t>
            </a:r>
            <a:r>
              <a:rPr lang="en-US" altLang="zh-CN" sz="1600" dirty="0">
                <a:solidFill>
                  <a:srgbClr val="002060"/>
                </a:solidFill>
                <a:latin typeface="+mn-ea"/>
                <a:cs typeface="Arial" pitchFamily="34" charset="0"/>
              </a:rPr>
              <a:t>710072</a:t>
            </a:r>
          </a:p>
          <a:p>
            <a:pPr algn="ctr"/>
            <a:r>
              <a:rPr lang="en-US" altLang="zh-CN" sz="1600" dirty="0">
                <a:solidFill>
                  <a:srgbClr val="002060"/>
                </a:solidFill>
                <a:latin typeface="+mn-ea"/>
                <a:cs typeface="Arial" pitchFamily="34" charset="0"/>
              </a:rPr>
              <a:t>2.</a:t>
            </a:r>
            <a:r>
              <a:rPr lang="zh-CN" altLang="en-US" sz="1600" dirty="0">
                <a:solidFill>
                  <a:srgbClr val="002060"/>
                </a:solidFill>
                <a:latin typeface="+mn-ea"/>
                <a:cs typeface="Arial" pitchFamily="34" charset="0"/>
              </a:rPr>
              <a:t>飞行器基础布局全国重点实验室，西安 </a:t>
            </a:r>
            <a:r>
              <a:rPr lang="en-US" altLang="zh-CN" sz="1600" dirty="0">
                <a:solidFill>
                  <a:srgbClr val="002060"/>
                </a:solidFill>
                <a:latin typeface="+mn-ea"/>
                <a:cs typeface="Arial" pitchFamily="34" charset="0"/>
              </a:rPr>
              <a:t>710072</a:t>
            </a:r>
            <a:endParaRPr lang="zh-CN" altLang="en-US" sz="1600" dirty="0">
              <a:solidFill>
                <a:srgbClr val="002060"/>
              </a:solidFill>
              <a:latin typeface="+mn-ea"/>
              <a:cs typeface="Arial" pitchFamily="34" charset="0"/>
            </a:endParaRPr>
          </a:p>
        </p:txBody>
      </p:sp>
    </p:spTree>
    <p:extLst>
      <p:ext uri="{BB962C8B-B14F-4D97-AF65-F5344CB8AC3E}">
        <p14:creationId xmlns:p14="http://schemas.microsoft.com/office/powerpoint/2010/main" val="3479985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AF049-E44C-8E37-A21A-D0A6970B4DC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191D338C-01BD-0FD3-7CC0-53DB6B794D20}"/>
              </a:ext>
            </a:extLst>
          </p:cNvPr>
          <p:cNvSpPr txBox="1"/>
          <p:nvPr/>
        </p:nvSpPr>
        <p:spPr>
          <a:xfrm>
            <a:off x="3909856" y="989343"/>
            <a:ext cx="5924808"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研究背景与意义</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4" name="文本框 3">
            <a:extLst>
              <a:ext uri="{FF2B5EF4-FFF2-40B4-BE49-F238E27FC236}">
                <a16:creationId xmlns:a16="http://schemas.microsoft.com/office/drawing/2014/main" id="{8F236D12-DACC-29AF-3B47-DD6150295B6B}"/>
              </a:ext>
            </a:extLst>
          </p:cNvPr>
          <p:cNvSpPr txBox="1"/>
          <p:nvPr/>
        </p:nvSpPr>
        <p:spPr>
          <a:xfrm>
            <a:off x="873493" y="2624787"/>
            <a:ext cx="861774" cy="1608426"/>
          </a:xfrm>
          <a:prstGeom prst="rect">
            <a:avLst/>
          </a:prstGeom>
          <a:noFill/>
        </p:spPr>
        <p:txBody>
          <a:bodyPr vert="eaVert" wrap="square" rtlCol="0">
            <a:spAutoFit/>
          </a:bodyPr>
          <a:lstStyle/>
          <a:p>
            <a:pPr algn="dist"/>
            <a:r>
              <a:rPr lang="zh-CN" altLang="en-US" sz="4400" b="1" dirty="0">
                <a:solidFill>
                  <a:srgbClr val="002060"/>
                </a:solidFill>
                <a:latin typeface="微软雅黑" panose="020B0503020204020204" pitchFamily="34" charset="-122"/>
                <a:ea typeface="微软雅黑" panose="020B0503020204020204" pitchFamily="34" charset="-122"/>
              </a:rPr>
              <a:t>目</a:t>
            </a:r>
            <a:r>
              <a:rPr lang="en-US" altLang="zh-CN" sz="4400" b="1" dirty="0">
                <a:solidFill>
                  <a:srgbClr val="002060"/>
                </a:solidFill>
                <a:latin typeface="微软雅黑" panose="020B0503020204020204" pitchFamily="34" charset="-122"/>
                <a:ea typeface="微软雅黑" panose="020B0503020204020204" pitchFamily="34" charset="-122"/>
              </a:rPr>
              <a:t>	</a:t>
            </a:r>
            <a:r>
              <a:rPr lang="zh-CN" altLang="en-US" sz="4400" b="1" dirty="0">
                <a:solidFill>
                  <a:srgbClr val="002060"/>
                </a:solidFill>
                <a:latin typeface="微软雅黑" panose="020B0503020204020204" pitchFamily="34" charset="-122"/>
                <a:ea typeface="微软雅黑" panose="020B0503020204020204" pitchFamily="34" charset="-122"/>
              </a:rPr>
              <a:t>录</a:t>
            </a:r>
          </a:p>
        </p:txBody>
      </p:sp>
      <p:sp>
        <p:nvSpPr>
          <p:cNvPr id="6" name="文本框 5">
            <a:extLst>
              <a:ext uri="{FF2B5EF4-FFF2-40B4-BE49-F238E27FC236}">
                <a16:creationId xmlns:a16="http://schemas.microsoft.com/office/drawing/2014/main" id="{A36B2A2E-1758-F32A-8F29-4D7ABD764D62}"/>
              </a:ext>
            </a:extLst>
          </p:cNvPr>
          <p:cNvSpPr txBox="1"/>
          <p:nvPr/>
        </p:nvSpPr>
        <p:spPr>
          <a:xfrm>
            <a:off x="3909856" y="2397248"/>
            <a:ext cx="5924811"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总体设计框架介绍</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1" name="文本框 10">
            <a:extLst>
              <a:ext uri="{FF2B5EF4-FFF2-40B4-BE49-F238E27FC236}">
                <a16:creationId xmlns:a16="http://schemas.microsoft.com/office/drawing/2014/main" id="{5DE1FC54-B8E9-5634-CA4F-BAB27702419D}"/>
              </a:ext>
            </a:extLst>
          </p:cNvPr>
          <p:cNvSpPr txBox="1"/>
          <p:nvPr/>
        </p:nvSpPr>
        <p:spPr>
          <a:xfrm>
            <a:off x="3909858" y="5213059"/>
            <a:ext cx="5924806"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研究总结与展望</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2" name="椭圆 11">
            <a:extLst>
              <a:ext uri="{FF2B5EF4-FFF2-40B4-BE49-F238E27FC236}">
                <a16:creationId xmlns:a16="http://schemas.microsoft.com/office/drawing/2014/main" id="{8E7C5E46-5733-905B-688A-EC2866B38AD9}"/>
              </a:ext>
            </a:extLst>
          </p:cNvPr>
          <p:cNvSpPr/>
          <p:nvPr/>
        </p:nvSpPr>
        <p:spPr>
          <a:xfrm>
            <a:off x="2979398" y="942342"/>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一</a:t>
            </a:r>
          </a:p>
        </p:txBody>
      </p:sp>
      <p:sp>
        <p:nvSpPr>
          <p:cNvPr id="13" name="椭圆 12">
            <a:extLst>
              <a:ext uri="{FF2B5EF4-FFF2-40B4-BE49-F238E27FC236}">
                <a16:creationId xmlns:a16="http://schemas.microsoft.com/office/drawing/2014/main" id="{6D81E003-EABC-F53E-7239-63403B62A4F0}"/>
              </a:ext>
            </a:extLst>
          </p:cNvPr>
          <p:cNvSpPr/>
          <p:nvPr/>
        </p:nvSpPr>
        <p:spPr>
          <a:xfrm>
            <a:off x="2979398" y="2350247"/>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二</a:t>
            </a:r>
          </a:p>
        </p:txBody>
      </p:sp>
      <p:sp>
        <p:nvSpPr>
          <p:cNvPr id="16" name="椭圆 15">
            <a:extLst>
              <a:ext uri="{FF2B5EF4-FFF2-40B4-BE49-F238E27FC236}">
                <a16:creationId xmlns:a16="http://schemas.microsoft.com/office/drawing/2014/main" id="{0A69A37B-31D5-51D1-D455-3235884E95A9}"/>
              </a:ext>
            </a:extLst>
          </p:cNvPr>
          <p:cNvSpPr/>
          <p:nvPr/>
        </p:nvSpPr>
        <p:spPr>
          <a:xfrm>
            <a:off x="2979398" y="5166058"/>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四</a:t>
            </a:r>
          </a:p>
        </p:txBody>
      </p:sp>
      <p:cxnSp>
        <p:nvCxnSpPr>
          <p:cNvPr id="2" name="直接连接符 1">
            <a:extLst>
              <a:ext uri="{FF2B5EF4-FFF2-40B4-BE49-F238E27FC236}">
                <a16:creationId xmlns:a16="http://schemas.microsoft.com/office/drawing/2014/main" id="{858DDC54-5D32-70D0-E710-1D5943B9F0BE}"/>
              </a:ext>
            </a:extLst>
          </p:cNvPr>
          <p:cNvCxnSpPr>
            <a:cxnSpLocks/>
          </p:cNvCxnSpPr>
          <p:nvPr/>
        </p:nvCxnSpPr>
        <p:spPr>
          <a:xfrm>
            <a:off x="2357332" y="1308100"/>
            <a:ext cx="0" cy="419100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FF5464F8-6232-F8CA-3D6A-31AE94F9FB1C}"/>
              </a:ext>
            </a:extLst>
          </p:cNvPr>
          <p:cNvSpPr txBox="1"/>
          <p:nvPr/>
        </p:nvSpPr>
        <p:spPr>
          <a:xfrm>
            <a:off x="3909858" y="3805153"/>
            <a:ext cx="5924808"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超声速民机总体设计案例</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8" name="椭圆 7">
            <a:extLst>
              <a:ext uri="{FF2B5EF4-FFF2-40B4-BE49-F238E27FC236}">
                <a16:creationId xmlns:a16="http://schemas.microsoft.com/office/drawing/2014/main" id="{571BB52D-DCC4-F567-4F63-3BE46D10F079}"/>
              </a:ext>
            </a:extLst>
          </p:cNvPr>
          <p:cNvSpPr/>
          <p:nvPr/>
        </p:nvSpPr>
        <p:spPr>
          <a:xfrm>
            <a:off x="2979398" y="3758152"/>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三</a:t>
            </a:r>
          </a:p>
        </p:txBody>
      </p:sp>
    </p:spTree>
    <p:extLst>
      <p:ext uri="{BB962C8B-B14F-4D97-AF65-F5344CB8AC3E}">
        <p14:creationId xmlns:p14="http://schemas.microsoft.com/office/powerpoint/2010/main" val="3955178598"/>
      </p:ext>
    </p:extLst>
  </p:cSld>
  <p:clrMapOvr>
    <a:masterClrMapping/>
  </p:clrMapOvr>
  <mc:AlternateContent xmlns:mc="http://schemas.openxmlformats.org/markup-compatibility/2006" xmlns:p14="http://schemas.microsoft.com/office/powerpoint/2010/main">
    <mc:Choice Requires="p14">
      <p:transition spd="slow" p14:dur="2000" advTm="2422"/>
    </mc:Choice>
    <mc:Fallback xmlns="">
      <p:transition spd="slow" advTm="242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CCD8D-7ECD-16F6-CE7E-A9D433C746A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555E95A-71E1-53DC-45D4-1B4C31C078BA}"/>
              </a:ext>
            </a:extLst>
          </p:cNvPr>
          <p:cNvSpPr txBox="1"/>
          <p:nvPr/>
        </p:nvSpPr>
        <p:spPr>
          <a:xfrm>
            <a:off x="3909856" y="989343"/>
            <a:ext cx="5924808" cy="553998"/>
          </a:xfrm>
          <a:prstGeom prst="rect">
            <a:avLst/>
          </a:prstGeom>
          <a:noFill/>
        </p:spPr>
        <p:txBody>
          <a:bodyPr wrap="square" lIns="0" tIns="0" rIns="0" bIns="0" rtlCol="0">
            <a:spAutoFit/>
          </a:bodyPr>
          <a:lstStyle/>
          <a:p>
            <a:pPr algn="dist"/>
            <a:r>
              <a:rPr lang="zh-CN" altLang="en-US" sz="3600" b="1" dirty="0">
                <a:solidFill>
                  <a:srgbClr val="C00000"/>
                </a:solidFill>
                <a:latin typeface="微软雅黑" panose="020B0503020204020204" pitchFamily="34" charset="-122"/>
                <a:ea typeface="微软雅黑" panose="020B0503020204020204" pitchFamily="34" charset="-122"/>
                <a:cs typeface="Arial" pitchFamily="34" charset="0"/>
              </a:rPr>
              <a:t>研究背景与意义</a:t>
            </a:r>
            <a:endParaRPr lang="en-US" altLang="zh-CN" sz="36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4" name="文本框 3">
            <a:extLst>
              <a:ext uri="{FF2B5EF4-FFF2-40B4-BE49-F238E27FC236}">
                <a16:creationId xmlns:a16="http://schemas.microsoft.com/office/drawing/2014/main" id="{BF977A21-D7C5-8B61-5BB6-828AB2A6A026}"/>
              </a:ext>
            </a:extLst>
          </p:cNvPr>
          <p:cNvSpPr txBox="1"/>
          <p:nvPr/>
        </p:nvSpPr>
        <p:spPr>
          <a:xfrm>
            <a:off x="873493" y="2624787"/>
            <a:ext cx="861774" cy="1608426"/>
          </a:xfrm>
          <a:prstGeom prst="rect">
            <a:avLst/>
          </a:prstGeom>
          <a:noFill/>
        </p:spPr>
        <p:txBody>
          <a:bodyPr vert="eaVert" wrap="square" rtlCol="0">
            <a:spAutoFit/>
          </a:bodyPr>
          <a:lstStyle/>
          <a:p>
            <a:pPr algn="dist"/>
            <a:r>
              <a:rPr lang="zh-CN" altLang="en-US" sz="4400" b="1" dirty="0">
                <a:solidFill>
                  <a:srgbClr val="002060"/>
                </a:solidFill>
                <a:latin typeface="微软雅黑" panose="020B0503020204020204" pitchFamily="34" charset="-122"/>
                <a:ea typeface="微软雅黑" panose="020B0503020204020204" pitchFamily="34" charset="-122"/>
              </a:rPr>
              <a:t>目</a:t>
            </a:r>
            <a:r>
              <a:rPr lang="en-US" altLang="zh-CN" sz="4400" b="1" dirty="0">
                <a:solidFill>
                  <a:srgbClr val="002060"/>
                </a:solidFill>
                <a:latin typeface="微软雅黑" panose="020B0503020204020204" pitchFamily="34" charset="-122"/>
                <a:ea typeface="微软雅黑" panose="020B0503020204020204" pitchFamily="34" charset="-122"/>
              </a:rPr>
              <a:t>	</a:t>
            </a:r>
            <a:r>
              <a:rPr lang="zh-CN" altLang="en-US" sz="4400" b="1" dirty="0">
                <a:solidFill>
                  <a:srgbClr val="002060"/>
                </a:solidFill>
                <a:latin typeface="微软雅黑" panose="020B0503020204020204" pitchFamily="34" charset="-122"/>
                <a:ea typeface="微软雅黑" panose="020B0503020204020204" pitchFamily="34" charset="-122"/>
              </a:rPr>
              <a:t>录</a:t>
            </a:r>
          </a:p>
        </p:txBody>
      </p:sp>
      <p:sp>
        <p:nvSpPr>
          <p:cNvPr id="6" name="文本框 5">
            <a:extLst>
              <a:ext uri="{FF2B5EF4-FFF2-40B4-BE49-F238E27FC236}">
                <a16:creationId xmlns:a16="http://schemas.microsoft.com/office/drawing/2014/main" id="{1324AC21-C2A9-A258-1066-EE210F781239}"/>
              </a:ext>
            </a:extLst>
          </p:cNvPr>
          <p:cNvSpPr txBox="1"/>
          <p:nvPr/>
        </p:nvSpPr>
        <p:spPr>
          <a:xfrm>
            <a:off x="3909856" y="2397248"/>
            <a:ext cx="5924811"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总体设计框架介绍</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1" name="文本框 10">
            <a:extLst>
              <a:ext uri="{FF2B5EF4-FFF2-40B4-BE49-F238E27FC236}">
                <a16:creationId xmlns:a16="http://schemas.microsoft.com/office/drawing/2014/main" id="{B71A3E30-D224-7754-72E4-011CD7F9BC1C}"/>
              </a:ext>
            </a:extLst>
          </p:cNvPr>
          <p:cNvSpPr txBox="1"/>
          <p:nvPr/>
        </p:nvSpPr>
        <p:spPr>
          <a:xfrm>
            <a:off x="3909858" y="5213059"/>
            <a:ext cx="5924806"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研究总结与展望</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2" name="椭圆 11">
            <a:extLst>
              <a:ext uri="{FF2B5EF4-FFF2-40B4-BE49-F238E27FC236}">
                <a16:creationId xmlns:a16="http://schemas.microsoft.com/office/drawing/2014/main" id="{201F807D-F878-1F0D-FFB8-405769F94BD9}"/>
              </a:ext>
            </a:extLst>
          </p:cNvPr>
          <p:cNvSpPr/>
          <p:nvPr/>
        </p:nvSpPr>
        <p:spPr>
          <a:xfrm>
            <a:off x="2979398" y="942342"/>
            <a:ext cx="720000" cy="648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一</a:t>
            </a:r>
          </a:p>
        </p:txBody>
      </p:sp>
      <p:sp>
        <p:nvSpPr>
          <p:cNvPr id="13" name="椭圆 12">
            <a:extLst>
              <a:ext uri="{FF2B5EF4-FFF2-40B4-BE49-F238E27FC236}">
                <a16:creationId xmlns:a16="http://schemas.microsoft.com/office/drawing/2014/main" id="{D9767D3B-8CD4-1C64-322B-F84C2B6309B1}"/>
              </a:ext>
            </a:extLst>
          </p:cNvPr>
          <p:cNvSpPr/>
          <p:nvPr/>
        </p:nvSpPr>
        <p:spPr>
          <a:xfrm>
            <a:off x="2979398" y="2350247"/>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二</a:t>
            </a:r>
          </a:p>
        </p:txBody>
      </p:sp>
      <p:sp>
        <p:nvSpPr>
          <p:cNvPr id="16" name="椭圆 15">
            <a:extLst>
              <a:ext uri="{FF2B5EF4-FFF2-40B4-BE49-F238E27FC236}">
                <a16:creationId xmlns:a16="http://schemas.microsoft.com/office/drawing/2014/main" id="{C376F4BD-72C9-3A5D-6451-298E77035837}"/>
              </a:ext>
            </a:extLst>
          </p:cNvPr>
          <p:cNvSpPr/>
          <p:nvPr/>
        </p:nvSpPr>
        <p:spPr>
          <a:xfrm>
            <a:off x="2979398" y="5166058"/>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四</a:t>
            </a:r>
          </a:p>
        </p:txBody>
      </p:sp>
      <p:cxnSp>
        <p:nvCxnSpPr>
          <p:cNvPr id="2" name="直接连接符 1">
            <a:extLst>
              <a:ext uri="{FF2B5EF4-FFF2-40B4-BE49-F238E27FC236}">
                <a16:creationId xmlns:a16="http://schemas.microsoft.com/office/drawing/2014/main" id="{168F8B69-CE8B-644F-8565-BC52B89A419D}"/>
              </a:ext>
            </a:extLst>
          </p:cNvPr>
          <p:cNvCxnSpPr>
            <a:cxnSpLocks/>
          </p:cNvCxnSpPr>
          <p:nvPr/>
        </p:nvCxnSpPr>
        <p:spPr>
          <a:xfrm>
            <a:off x="2357332" y="1308100"/>
            <a:ext cx="0" cy="419100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A1A14371-067D-6021-06F5-134811456002}"/>
              </a:ext>
            </a:extLst>
          </p:cNvPr>
          <p:cNvSpPr txBox="1"/>
          <p:nvPr/>
        </p:nvSpPr>
        <p:spPr>
          <a:xfrm>
            <a:off x="3909858" y="3805153"/>
            <a:ext cx="5924808"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超声速民机总体设计案例</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8" name="椭圆 7">
            <a:extLst>
              <a:ext uri="{FF2B5EF4-FFF2-40B4-BE49-F238E27FC236}">
                <a16:creationId xmlns:a16="http://schemas.microsoft.com/office/drawing/2014/main" id="{DFEB25BB-BB42-986C-7402-240D0C1BC477}"/>
              </a:ext>
            </a:extLst>
          </p:cNvPr>
          <p:cNvSpPr/>
          <p:nvPr/>
        </p:nvSpPr>
        <p:spPr>
          <a:xfrm>
            <a:off x="2979398" y="3758152"/>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三</a:t>
            </a:r>
          </a:p>
        </p:txBody>
      </p:sp>
    </p:spTree>
    <p:extLst>
      <p:ext uri="{BB962C8B-B14F-4D97-AF65-F5344CB8AC3E}">
        <p14:creationId xmlns:p14="http://schemas.microsoft.com/office/powerpoint/2010/main" val="117730138"/>
      </p:ext>
    </p:extLst>
  </p:cSld>
  <p:clrMapOvr>
    <a:masterClrMapping/>
  </p:clrMapOvr>
  <mc:AlternateContent xmlns:mc="http://schemas.openxmlformats.org/markup-compatibility/2006" xmlns:p14="http://schemas.microsoft.com/office/powerpoint/2010/main">
    <mc:Choice Requires="p14">
      <p:transition spd="slow" p14:dur="2000" advTm="2422"/>
    </mc:Choice>
    <mc:Fallback xmlns="">
      <p:transition spd="slow" advTm="242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05AA8DE8-B88C-F48C-38C2-BE782BBE0424}"/>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一</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研究背景与意义</a:t>
            </a:r>
            <a:endParaRPr kumimoji="0" lang="zh-CN" altLang="en-US" b="1" i="0" u="none" strike="noStrike" kern="1200" cap="none" spc="10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nvGrpSpPr>
          <p:cNvPr id="13" name="组合 12">
            <a:extLst>
              <a:ext uri="{FF2B5EF4-FFF2-40B4-BE49-F238E27FC236}">
                <a16:creationId xmlns:a16="http://schemas.microsoft.com/office/drawing/2014/main" id="{ED182B5D-6F2D-81BD-F1DE-8A40D24B1902}"/>
              </a:ext>
            </a:extLst>
          </p:cNvPr>
          <p:cNvGrpSpPr/>
          <p:nvPr/>
        </p:nvGrpSpPr>
        <p:grpSpPr>
          <a:xfrm>
            <a:off x="6541105" y="1719205"/>
            <a:ext cx="2894508" cy="1675828"/>
            <a:chOff x="6607762" y="1878724"/>
            <a:chExt cx="2702986" cy="1516309"/>
          </a:xfrm>
        </p:grpSpPr>
        <p:pic>
          <p:nvPicPr>
            <p:cNvPr id="16" name="图片 15">
              <a:extLst>
                <a:ext uri="{FF2B5EF4-FFF2-40B4-BE49-F238E27FC236}">
                  <a16:creationId xmlns:a16="http://schemas.microsoft.com/office/drawing/2014/main" id="{A4EBE6AD-D26D-A103-9F2A-55973A5418D4}"/>
                </a:ext>
              </a:extLst>
            </p:cNvPr>
            <p:cNvPicPr>
              <a:picLocks noChangeAspect="1"/>
            </p:cNvPicPr>
            <p:nvPr/>
          </p:nvPicPr>
          <p:blipFill>
            <a:blip r:embed="rId4"/>
            <a:stretch>
              <a:fillRect/>
            </a:stretch>
          </p:blipFill>
          <p:spPr>
            <a:xfrm flipH="1">
              <a:off x="6607762" y="1878724"/>
              <a:ext cx="2702986" cy="1516309"/>
            </a:xfrm>
            <a:prstGeom prst="rect">
              <a:avLst/>
            </a:prstGeom>
          </p:spPr>
        </p:pic>
        <p:sp>
          <p:nvSpPr>
            <p:cNvPr id="19" name="矩形 18">
              <a:extLst>
                <a:ext uri="{FF2B5EF4-FFF2-40B4-BE49-F238E27FC236}">
                  <a16:creationId xmlns:a16="http://schemas.microsoft.com/office/drawing/2014/main" id="{7E1BFAB1-C4DB-6E20-1D70-2F6AC84CB680}"/>
                </a:ext>
              </a:extLst>
            </p:cNvPr>
            <p:cNvSpPr/>
            <p:nvPr/>
          </p:nvSpPr>
          <p:spPr>
            <a:xfrm>
              <a:off x="6634860" y="3281973"/>
              <a:ext cx="283345" cy="7832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grpSp>
      <p:sp>
        <p:nvSpPr>
          <p:cNvPr id="21" name="文本框 20">
            <a:extLst>
              <a:ext uri="{FF2B5EF4-FFF2-40B4-BE49-F238E27FC236}">
                <a16:creationId xmlns:a16="http://schemas.microsoft.com/office/drawing/2014/main" id="{AD688137-63BD-0700-5565-076109AE3525}"/>
              </a:ext>
            </a:extLst>
          </p:cNvPr>
          <p:cNvSpPr txBox="1"/>
          <p:nvPr/>
        </p:nvSpPr>
        <p:spPr>
          <a:xfrm>
            <a:off x="211886" y="6486818"/>
            <a:ext cx="11519999" cy="246221"/>
          </a:xfrm>
          <a:prstGeom prst="rect">
            <a:avLst/>
          </a:prstGeom>
          <a:noFill/>
        </p:spPr>
        <p:txBody>
          <a:bodyPr wrap="square">
            <a:spAutoFit/>
          </a:bodyPr>
          <a:lstStyle/>
          <a:p>
            <a:r>
              <a:rPr lang="en-US" altLang="zh-CN" sz="1000" dirty="0">
                <a:solidFill>
                  <a:srgbClr val="222222"/>
                </a:solidFill>
                <a:latin typeface="微软雅黑" panose="020B0503020204020204" pitchFamily="34" charset="-122"/>
                <a:ea typeface="微软雅黑" panose="020B0503020204020204" pitchFamily="34" charset="-122"/>
              </a:rPr>
              <a:t>[1] </a:t>
            </a:r>
            <a:r>
              <a:rPr lang="zh-CN" altLang="en-US" sz="1000" dirty="0">
                <a:solidFill>
                  <a:srgbClr val="222222"/>
                </a:solidFill>
                <a:latin typeface="微软雅黑" panose="020B0503020204020204" pitchFamily="34" charset="-122"/>
                <a:ea typeface="微软雅黑" panose="020B0503020204020204" pitchFamily="34" charset="-122"/>
              </a:rPr>
              <a:t>韩</a:t>
            </a:r>
            <a:r>
              <a:rPr lang="zh-CN" altLang="en-US" sz="1000" b="0" i="0" dirty="0">
                <a:solidFill>
                  <a:srgbClr val="222222"/>
                </a:solidFill>
                <a:effectLst/>
                <a:latin typeface="微软雅黑" panose="020B0503020204020204" pitchFamily="34" charset="-122"/>
                <a:ea typeface="微软雅黑" panose="020B0503020204020204" pitchFamily="34" charset="-122"/>
              </a:rPr>
              <a:t>忠华</a:t>
            </a:r>
            <a:r>
              <a:rPr lang="en-US" altLang="zh-CN" sz="1000" b="0" i="0" dirty="0">
                <a:solidFill>
                  <a:srgbClr val="222222"/>
                </a:solidFill>
                <a:effectLst/>
                <a:latin typeface="微软雅黑" panose="020B0503020204020204" pitchFamily="34" charset="-122"/>
                <a:ea typeface="微软雅黑" panose="020B0503020204020204" pitchFamily="34" charset="-122"/>
              </a:rPr>
              <a:t>, </a:t>
            </a:r>
            <a:r>
              <a:rPr lang="zh-CN" altLang="en-US" sz="1000" b="0" i="0" dirty="0">
                <a:solidFill>
                  <a:srgbClr val="222222"/>
                </a:solidFill>
                <a:effectLst/>
                <a:latin typeface="微软雅黑" panose="020B0503020204020204" pitchFamily="34" charset="-122"/>
                <a:ea typeface="微软雅黑" panose="020B0503020204020204" pitchFamily="34" charset="-122"/>
              </a:rPr>
              <a:t>乔建领</a:t>
            </a:r>
            <a:r>
              <a:rPr lang="en-US" altLang="zh-CN" sz="1000" b="0" i="0" dirty="0">
                <a:solidFill>
                  <a:srgbClr val="222222"/>
                </a:solidFill>
                <a:effectLst/>
                <a:latin typeface="微软雅黑" panose="020B0503020204020204" pitchFamily="34" charset="-122"/>
                <a:ea typeface="微软雅黑" panose="020B0503020204020204" pitchFamily="34" charset="-122"/>
              </a:rPr>
              <a:t>, </a:t>
            </a:r>
            <a:r>
              <a:rPr lang="zh-CN" altLang="en-US" sz="1000" b="0" i="0" dirty="0">
                <a:solidFill>
                  <a:srgbClr val="222222"/>
                </a:solidFill>
                <a:effectLst/>
                <a:latin typeface="微软雅黑" panose="020B0503020204020204" pitchFamily="34" charset="-122"/>
                <a:ea typeface="微软雅黑" panose="020B0503020204020204" pitchFamily="34" charset="-122"/>
              </a:rPr>
              <a:t>丁玉临</a:t>
            </a:r>
            <a:r>
              <a:rPr lang="en-US" altLang="zh-CN" sz="1000" b="0" i="0" dirty="0">
                <a:solidFill>
                  <a:srgbClr val="222222"/>
                </a:solidFill>
                <a:effectLst/>
                <a:latin typeface="微软雅黑" panose="020B0503020204020204" pitchFamily="34" charset="-122"/>
                <a:ea typeface="微软雅黑" panose="020B0503020204020204" pitchFamily="34" charset="-122"/>
              </a:rPr>
              <a:t>, </a:t>
            </a:r>
            <a:r>
              <a:rPr lang="zh-CN" altLang="en-US" sz="1000" b="0" i="0" dirty="0">
                <a:solidFill>
                  <a:srgbClr val="222222"/>
                </a:solidFill>
                <a:effectLst/>
                <a:latin typeface="微软雅黑" panose="020B0503020204020204" pitchFamily="34" charset="-122"/>
                <a:ea typeface="微软雅黑" panose="020B0503020204020204" pitchFamily="34" charset="-122"/>
              </a:rPr>
              <a:t>等</a:t>
            </a:r>
            <a:r>
              <a:rPr lang="en-US" altLang="zh-CN" sz="1000" b="0" i="0" dirty="0">
                <a:solidFill>
                  <a:srgbClr val="222222"/>
                </a:solidFill>
                <a:effectLst/>
                <a:latin typeface="微软雅黑" panose="020B0503020204020204" pitchFamily="34" charset="-122"/>
                <a:ea typeface="微软雅黑" panose="020B0503020204020204" pitchFamily="34" charset="-122"/>
              </a:rPr>
              <a:t>. </a:t>
            </a:r>
            <a:r>
              <a:rPr lang="zh-CN" altLang="en-US" sz="1000" b="0" i="0" dirty="0">
                <a:solidFill>
                  <a:srgbClr val="222222"/>
                </a:solidFill>
                <a:effectLst/>
                <a:latin typeface="微软雅黑" panose="020B0503020204020204" pitchFamily="34" charset="-122"/>
                <a:ea typeface="微软雅黑" panose="020B0503020204020204" pitchFamily="34" charset="-122"/>
              </a:rPr>
              <a:t>新一代环保型超声速客机气动相关关键技术与研究进展</a:t>
            </a:r>
            <a:r>
              <a:rPr lang="en-US" altLang="zh-CN" sz="1000" b="0" i="0" dirty="0">
                <a:solidFill>
                  <a:srgbClr val="222222"/>
                </a:solidFill>
                <a:effectLst/>
                <a:latin typeface="微软雅黑" panose="020B0503020204020204" pitchFamily="34" charset="-122"/>
                <a:ea typeface="微软雅黑" panose="020B0503020204020204" pitchFamily="34" charset="-122"/>
              </a:rPr>
              <a:t>[J]. </a:t>
            </a:r>
            <a:r>
              <a:rPr lang="zh-CN" altLang="en-US" sz="1000" b="0" i="0" dirty="0">
                <a:solidFill>
                  <a:srgbClr val="222222"/>
                </a:solidFill>
                <a:effectLst/>
                <a:latin typeface="微软雅黑" panose="020B0503020204020204" pitchFamily="34" charset="-122"/>
                <a:ea typeface="微软雅黑" panose="020B0503020204020204" pitchFamily="34" charset="-122"/>
              </a:rPr>
              <a:t>空气动力学学报</a:t>
            </a:r>
            <a:r>
              <a:rPr lang="en-US" altLang="zh-CN" sz="1000" b="0" i="0" dirty="0">
                <a:solidFill>
                  <a:srgbClr val="222222"/>
                </a:solidFill>
                <a:effectLst/>
                <a:latin typeface="微软雅黑" panose="020B0503020204020204" pitchFamily="34" charset="-122"/>
                <a:ea typeface="微软雅黑" panose="020B0503020204020204" pitchFamily="34" charset="-122"/>
              </a:rPr>
              <a:t>, 2019, 37(4): 620-635.</a:t>
            </a:r>
            <a:endParaRPr lang="zh-CN" altLang="en-US" sz="1000"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C9621B20-4F94-7347-E352-8B09C8F2CEA8}"/>
              </a:ext>
            </a:extLst>
          </p:cNvPr>
          <p:cNvSpPr txBox="1"/>
          <p:nvPr/>
        </p:nvSpPr>
        <p:spPr>
          <a:xfrm>
            <a:off x="6685346" y="3312356"/>
            <a:ext cx="2520000" cy="400110"/>
          </a:xfrm>
          <a:prstGeom prst="rect">
            <a:avLst/>
          </a:prstGeom>
          <a:noFill/>
        </p:spPr>
        <p:txBody>
          <a:bodyPr wrap="square" rtlCol="0">
            <a:spAutoFit/>
          </a:bodyPr>
          <a:lstStyle/>
          <a:p>
            <a:pPr algn="ctr"/>
            <a:r>
              <a:rPr lang="en-US" altLang="zh-CN" sz="2000" b="1" dirty="0">
                <a:solidFill>
                  <a:srgbClr val="002060"/>
                </a:solidFill>
                <a:latin typeface="微软雅黑" panose="020B0503020204020204" pitchFamily="34" charset="-122"/>
                <a:ea typeface="微软雅黑" panose="020B0503020204020204" pitchFamily="34" charset="-122"/>
              </a:rPr>
              <a:t>C919</a:t>
            </a:r>
            <a:r>
              <a:rPr lang="zh-CN" altLang="en-US" sz="2000" b="1" dirty="0">
                <a:solidFill>
                  <a:srgbClr val="002060"/>
                </a:solidFill>
                <a:latin typeface="微软雅黑" panose="020B0503020204020204" pitchFamily="34" charset="-122"/>
                <a:ea typeface="微软雅黑" panose="020B0503020204020204" pitchFamily="34" charset="-122"/>
              </a:rPr>
              <a:t>：</a:t>
            </a:r>
            <a:r>
              <a:rPr lang="en-US" altLang="zh-CN" sz="2000" b="1" dirty="0">
                <a:solidFill>
                  <a:srgbClr val="002060"/>
                </a:solidFill>
                <a:latin typeface="微软雅黑" panose="020B0503020204020204" pitchFamily="34" charset="-122"/>
                <a:ea typeface="微软雅黑" panose="020B0503020204020204" pitchFamily="34" charset="-122"/>
              </a:rPr>
              <a:t>0.785</a:t>
            </a:r>
            <a:r>
              <a:rPr lang="zh-CN" altLang="en-US" sz="2000" b="1" dirty="0">
                <a:solidFill>
                  <a:srgbClr val="002060"/>
                </a:solidFill>
                <a:latin typeface="微软雅黑" panose="020B0503020204020204" pitchFamily="34" charset="-122"/>
                <a:ea typeface="微软雅黑" panose="020B0503020204020204" pitchFamily="34" charset="-122"/>
              </a:rPr>
              <a:t>马赫</a:t>
            </a:r>
          </a:p>
        </p:txBody>
      </p:sp>
      <p:grpSp>
        <p:nvGrpSpPr>
          <p:cNvPr id="27" name="组合 26">
            <a:extLst>
              <a:ext uri="{FF2B5EF4-FFF2-40B4-BE49-F238E27FC236}">
                <a16:creationId xmlns:a16="http://schemas.microsoft.com/office/drawing/2014/main" id="{D1D0D55F-4432-3EDC-D876-E04F029F3F44}"/>
              </a:ext>
            </a:extLst>
          </p:cNvPr>
          <p:cNvGrpSpPr/>
          <p:nvPr/>
        </p:nvGrpSpPr>
        <p:grpSpPr>
          <a:xfrm>
            <a:off x="9453396" y="1961303"/>
            <a:ext cx="2592000" cy="1268268"/>
            <a:chOff x="7802465" y="3967178"/>
            <a:chExt cx="3511331" cy="1537320"/>
          </a:xfrm>
        </p:grpSpPr>
        <p:pic>
          <p:nvPicPr>
            <p:cNvPr id="28" name="图片 27">
              <a:extLst>
                <a:ext uri="{FF2B5EF4-FFF2-40B4-BE49-F238E27FC236}">
                  <a16:creationId xmlns:a16="http://schemas.microsoft.com/office/drawing/2014/main" id="{633323A4-0B0D-C4A6-3061-3DFC5917E788}"/>
                </a:ext>
              </a:extLst>
            </p:cNvPr>
            <p:cNvPicPr>
              <a:picLocks noChangeAspect="1"/>
            </p:cNvPicPr>
            <p:nvPr/>
          </p:nvPicPr>
          <p:blipFill>
            <a:blip r:embed="rId5"/>
            <a:stretch>
              <a:fillRect/>
            </a:stretch>
          </p:blipFill>
          <p:spPr>
            <a:xfrm>
              <a:off x="7811890" y="3967178"/>
              <a:ext cx="3501906" cy="1537320"/>
            </a:xfrm>
            <a:prstGeom prst="rect">
              <a:avLst/>
            </a:prstGeom>
          </p:spPr>
        </p:pic>
        <p:sp>
          <p:nvSpPr>
            <p:cNvPr id="29" name="矩形 28">
              <a:extLst>
                <a:ext uri="{FF2B5EF4-FFF2-40B4-BE49-F238E27FC236}">
                  <a16:creationId xmlns:a16="http://schemas.microsoft.com/office/drawing/2014/main" id="{4F37BC98-9F4A-8813-BEEE-4B48E8688079}"/>
                </a:ext>
              </a:extLst>
            </p:cNvPr>
            <p:cNvSpPr/>
            <p:nvPr/>
          </p:nvSpPr>
          <p:spPr>
            <a:xfrm>
              <a:off x="7802465" y="3967179"/>
              <a:ext cx="484385" cy="1548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文本框 29">
            <a:extLst>
              <a:ext uri="{FF2B5EF4-FFF2-40B4-BE49-F238E27FC236}">
                <a16:creationId xmlns:a16="http://schemas.microsoft.com/office/drawing/2014/main" id="{527288BF-96CC-A9EF-DF17-33BFBAA7BFF4}"/>
              </a:ext>
            </a:extLst>
          </p:cNvPr>
          <p:cNvSpPr txBox="1"/>
          <p:nvPr/>
        </p:nvSpPr>
        <p:spPr>
          <a:xfrm>
            <a:off x="9254826" y="3307892"/>
            <a:ext cx="2894509" cy="400110"/>
          </a:xfrm>
          <a:prstGeom prst="rect">
            <a:avLst/>
          </a:prstGeom>
          <a:noFill/>
        </p:spPr>
        <p:txBody>
          <a:bodyPr wrap="square" rtlCol="0">
            <a:spAutoFit/>
          </a:bodyPr>
          <a:lstStyle/>
          <a:p>
            <a:pPr algn="ctr"/>
            <a:r>
              <a:rPr lang="zh-CN" altLang="en-US" sz="2000" b="1" dirty="0">
                <a:solidFill>
                  <a:srgbClr val="002060"/>
                </a:solidFill>
                <a:latin typeface="微软雅黑" panose="020B0503020204020204" pitchFamily="34" charset="-122"/>
                <a:ea typeface="微软雅黑" panose="020B0503020204020204" pitchFamily="34" charset="-122"/>
              </a:rPr>
              <a:t>超声速民机：</a:t>
            </a:r>
            <a:r>
              <a:rPr lang="en-US" altLang="zh-CN" sz="2000" b="1" dirty="0">
                <a:solidFill>
                  <a:srgbClr val="002060"/>
                </a:solidFill>
                <a:latin typeface="微软雅黑" panose="020B0503020204020204" pitchFamily="34" charset="-122"/>
                <a:ea typeface="微软雅黑" panose="020B0503020204020204" pitchFamily="34" charset="-122"/>
              </a:rPr>
              <a:t>2</a:t>
            </a:r>
            <a:r>
              <a:rPr lang="zh-CN" altLang="en-US" sz="2000" b="1" dirty="0">
                <a:solidFill>
                  <a:srgbClr val="002060"/>
                </a:solidFill>
                <a:latin typeface="微软雅黑" panose="020B0503020204020204" pitchFamily="34" charset="-122"/>
                <a:ea typeface="微软雅黑" panose="020B0503020204020204" pitchFamily="34" charset="-122"/>
              </a:rPr>
              <a:t>马赫</a:t>
            </a:r>
          </a:p>
        </p:txBody>
      </p:sp>
      <p:grpSp>
        <p:nvGrpSpPr>
          <p:cNvPr id="31" name="组合 30">
            <a:extLst>
              <a:ext uri="{FF2B5EF4-FFF2-40B4-BE49-F238E27FC236}">
                <a16:creationId xmlns:a16="http://schemas.microsoft.com/office/drawing/2014/main" id="{9C158A5A-647C-0167-085F-1C74B0C37D69}"/>
              </a:ext>
            </a:extLst>
          </p:cNvPr>
          <p:cNvGrpSpPr/>
          <p:nvPr/>
        </p:nvGrpSpPr>
        <p:grpSpPr>
          <a:xfrm>
            <a:off x="338157" y="1719205"/>
            <a:ext cx="6120000" cy="3709443"/>
            <a:chOff x="815464" y="1647748"/>
            <a:chExt cx="5985026" cy="3297475"/>
          </a:xfrm>
        </p:grpSpPr>
        <p:grpSp>
          <p:nvGrpSpPr>
            <p:cNvPr id="32" name="组合 31">
              <a:extLst>
                <a:ext uri="{FF2B5EF4-FFF2-40B4-BE49-F238E27FC236}">
                  <a16:creationId xmlns:a16="http://schemas.microsoft.com/office/drawing/2014/main" id="{0B678208-B9A2-2C0A-4AD9-2DB7505086AE}"/>
                </a:ext>
              </a:extLst>
            </p:cNvPr>
            <p:cNvGrpSpPr/>
            <p:nvPr/>
          </p:nvGrpSpPr>
          <p:grpSpPr>
            <a:xfrm>
              <a:off x="815464" y="1647748"/>
              <a:ext cx="5985026" cy="3297475"/>
              <a:chOff x="-3790" y="1670873"/>
              <a:chExt cx="7263118" cy="3503471"/>
            </a:xfrm>
          </p:grpSpPr>
          <p:pic>
            <p:nvPicPr>
              <p:cNvPr id="38" name="图片 37">
                <a:extLst>
                  <a:ext uri="{FF2B5EF4-FFF2-40B4-BE49-F238E27FC236}">
                    <a16:creationId xmlns:a16="http://schemas.microsoft.com/office/drawing/2014/main" id="{E2E794F5-F0E1-7F4A-00A3-ACECF8C0561B}"/>
                  </a:ext>
                </a:extLst>
              </p:cNvPr>
              <p:cNvPicPr>
                <a:picLocks noChangeAspect="1"/>
              </p:cNvPicPr>
              <p:nvPr/>
            </p:nvPicPr>
            <p:blipFill>
              <a:blip r:embed="rId6"/>
              <a:stretch>
                <a:fillRect/>
              </a:stretch>
            </p:blipFill>
            <p:spPr>
              <a:xfrm>
                <a:off x="-3790" y="1818581"/>
                <a:ext cx="7182813" cy="3205186"/>
              </a:xfrm>
              <a:prstGeom prst="rect">
                <a:avLst/>
              </a:prstGeom>
            </p:spPr>
          </p:pic>
          <p:sp>
            <p:nvSpPr>
              <p:cNvPr id="39" name="椭圆 38">
                <a:extLst>
                  <a:ext uri="{FF2B5EF4-FFF2-40B4-BE49-F238E27FC236}">
                    <a16:creationId xmlns:a16="http://schemas.microsoft.com/office/drawing/2014/main" id="{0DE12219-018C-265F-8E58-D3D13231452D}"/>
                  </a:ext>
                </a:extLst>
              </p:cNvPr>
              <p:cNvSpPr/>
              <p:nvPr/>
            </p:nvSpPr>
            <p:spPr>
              <a:xfrm>
                <a:off x="1808400" y="2073139"/>
                <a:ext cx="1621797" cy="1234163"/>
              </a:xfrm>
              <a:prstGeom prst="ellipse">
                <a:avLst/>
              </a:prstGeom>
              <a:noFill/>
              <a:ln w="19050">
                <a:solidFill>
                  <a:schemeClr val="tx1">
                    <a:lumMod val="50000"/>
                    <a:lumOff val="50000"/>
                  </a:schemeClr>
                </a:solidFill>
                <a:prstDash val="dash"/>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40" name="椭圆 39">
                <a:extLst>
                  <a:ext uri="{FF2B5EF4-FFF2-40B4-BE49-F238E27FC236}">
                    <a16:creationId xmlns:a16="http://schemas.microsoft.com/office/drawing/2014/main" id="{AF4BF95A-C51E-56EE-DCD2-24328B4568FC}"/>
                  </a:ext>
                </a:extLst>
              </p:cNvPr>
              <p:cNvSpPr/>
              <p:nvPr/>
            </p:nvSpPr>
            <p:spPr>
              <a:xfrm>
                <a:off x="223110" y="1670873"/>
                <a:ext cx="7036218" cy="3503471"/>
              </a:xfrm>
              <a:prstGeom prst="ellipse">
                <a:avLst/>
              </a:prstGeom>
              <a:noFill/>
              <a:ln w="19050">
                <a:solidFill>
                  <a:schemeClr val="tx1">
                    <a:lumMod val="50000"/>
                    <a:lumOff val="50000"/>
                  </a:schemeClr>
                </a:solidFill>
                <a:prstDash val="dash"/>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grpSp>
        <p:sp>
          <p:nvSpPr>
            <p:cNvPr id="36" name="文本框 35">
              <a:extLst>
                <a:ext uri="{FF2B5EF4-FFF2-40B4-BE49-F238E27FC236}">
                  <a16:creationId xmlns:a16="http://schemas.microsoft.com/office/drawing/2014/main" id="{7F24CA0B-7555-7975-A11C-41E08A45E79E}"/>
                </a:ext>
              </a:extLst>
            </p:cNvPr>
            <p:cNvSpPr txBox="1"/>
            <p:nvPr/>
          </p:nvSpPr>
          <p:spPr>
            <a:xfrm>
              <a:off x="2048314" y="2762889"/>
              <a:ext cx="1818836" cy="332971"/>
            </a:xfrm>
            <a:prstGeom prst="wedgeRoundRectCallout">
              <a:avLst>
                <a:gd name="adj1" fmla="val -867"/>
                <a:gd name="adj2" fmla="val -141278"/>
                <a:gd name="adj3" fmla="val 16667"/>
              </a:avLst>
            </a:prstGeom>
            <a:solidFill>
              <a:srgbClr val="0C3387"/>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dirty="0">
                  <a:solidFill>
                    <a:prstClr val="white"/>
                  </a:solidFill>
                  <a:latin typeface="微软雅黑" panose="020B0503020204020204" pitchFamily="34" charset="-122"/>
                  <a:ea typeface="微软雅黑" panose="020B0503020204020204" pitchFamily="34" charset="-122"/>
                </a:rPr>
                <a:t>亚太</a:t>
              </a:r>
              <a:r>
                <a:rPr kumimoji="0" lang="en-US" altLang="zh-CN" sz="1600" b="1" i="0" u="none" strike="noStrike" kern="1200" cap="none" spc="0" normalizeH="0" baseline="0" noProof="0" dirty="0">
                  <a:ln>
                    <a:noFill/>
                  </a:ln>
                  <a:solidFill>
                    <a:srgbClr val="FFC000"/>
                  </a:solidFill>
                  <a:effectLst/>
                  <a:uLnTx/>
                  <a:uFillTx/>
                  <a:latin typeface="微软雅黑" panose="020B0503020204020204" pitchFamily="34" charset="-122"/>
                  <a:ea typeface="微软雅黑" panose="020B0503020204020204" pitchFamily="34" charset="-122"/>
                  <a:cs typeface="+mn-cs"/>
                </a:rPr>
                <a:t>3</a:t>
              </a:r>
              <a:r>
                <a:rPr kumimoji="0" lang="zh-CN" altLang="en-US" sz="1600" b="1" i="0" u="none" strike="noStrike" kern="1200" cap="none" spc="0" normalizeH="0" baseline="0" noProof="0" dirty="0">
                  <a:ln>
                    <a:noFill/>
                  </a:ln>
                  <a:solidFill>
                    <a:srgbClr val="FFC000"/>
                  </a:solidFill>
                  <a:effectLst/>
                  <a:uLnTx/>
                  <a:uFillTx/>
                  <a:latin typeface="微软雅黑" panose="020B0503020204020204" pitchFamily="34" charset="-122"/>
                  <a:ea typeface="微软雅黑" panose="020B0503020204020204" pitchFamily="34" charset="-122"/>
                  <a:cs typeface="+mn-cs"/>
                </a:rPr>
                <a:t>小时</a:t>
              </a:r>
              <a:r>
                <a:rPr kumimoji="0" lang="zh-CN" altLang="en-US"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经济圈</a:t>
              </a:r>
            </a:p>
          </p:txBody>
        </p:sp>
        <p:sp>
          <p:nvSpPr>
            <p:cNvPr id="37" name="文本框 36">
              <a:extLst>
                <a:ext uri="{FF2B5EF4-FFF2-40B4-BE49-F238E27FC236}">
                  <a16:creationId xmlns:a16="http://schemas.microsoft.com/office/drawing/2014/main" id="{D1387530-098E-120B-1F8A-22414E82F0FE}"/>
                </a:ext>
              </a:extLst>
            </p:cNvPr>
            <p:cNvSpPr txBox="1"/>
            <p:nvPr/>
          </p:nvSpPr>
          <p:spPr>
            <a:xfrm>
              <a:off x="3295514" y="3722605"/>
              <a:ext cx="1931699" cy="332971"/>
            </a:xfrm>
            <a:prstGeom prst="wedgeRoundRectCallout">
              <a:avLst>
                <a:gd name="adj1" fmla="val -37213"/>
                <a:gd name="adj2" fmla="val 87687"/>
                <a:gd name="adj3" fmla="val 16667"/>
              </a:avLst>
            </a:prstGeom>
            <a:solidFill>
              <a:srgbClr val="0C3387"/>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全球</a:t>
              </a:r>
              <a:r>
                <a:rPr kumimoji="0" lang="en-US" altLang="zh-CN" sz="1600" b="1" i="0" u="none" strike="noStrike" kern="1200" cap="none" spc="0" normalizeH="0" baseline="0" noProof="0" dirty="0">
                  <a:ln>
                    <a:noFill/>
                  </a:ln>
                  <a:solidFill>
                    <a:srgbClr val="FFC000"/>
                  </a:solidFill>
                  <a:effectLst/>
                  <a:uLnTx/>
                  <a:uFillTx/>
                  <a:latin typeface="微软雅黑" panose="020B0503020204020204" pitchFamily="34" charset="-122"/>
                  <a:ea typeface="微软雅黑" panose="020B0503020204020204" pitchFamily="34" charset="-122"/>
                  <a:cs typeface="+mn-cs"/>
                </a:rPr>
                <a:t>1</a:t>
              </a:r>
              <a:r>
                <a:rPr kumimoji="0" lang="zh-CN" altLang="en-US" sz="1600" b="1" i="0" u="none" strike="noStrike" kern="1200" cap="none" spc="0" normalizeH="0" baseline="0" noProof="0" dirty="0">
                  <a:ln>
                    <a:noFill/>
                  </a:ln>
                  <a:solidFill>
                    <a:srgbClr val="FFC000"/>
                  </a:solidFill>
                  <a:effectLst/>
                  <a:uLnTx/>
                  <a:uFillTx/>
                  <a:latin typeface="微软雅黑" panose="020B0503020204020204" pitchFamily="34" charset="-122"/>
                  <a:ea typeface="微软雅黑" panose="020B0503020204020204" pitchFamily="34" charset="-122"/>
                  <a:cs typeface="+mn-cs"/>
                </a:rPr>
                <a:t>日</a:t>
              </a:r>
              <a:r>
                <a:rPr kumimoji="0" lang="zh-CN" altLang="en-US"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经济圈</a:t>
              </a:r>
            </a:p>
          </p:txBody>
        </p:sp>
      </p:grpSp>
      <p:sp>
        <p:nvSpPr>
          <p:cNvPr id="41" name="文本框 40">
            <a:extLst>
              <a:ext uri="{FF2B5EF4-FFF2-40B4-BE49-F238E27FC236}">
                <a16:creationId xmlns:a16="http://schemas.microsoft.com/office/drawing/2014/main" id="{BDD053FB-3597-17DB-B205-5F7AE067C51A}"/>
              </a:ext>
            </a:extLst>
          </p:cNvPr>
          <p:cNvSpPr txBox="1"/>
          <p:nvPr/>
        </p:nvSpPr>
        <p:spPr>
          <a:xfrm>
            <a:off x="1489918" y="831770"/>
            <a:ext cx="9212163" cy="461665"/>
          </a:xfrm>
          <a:prstGeom prst="rect">
            <a:avLst/>
          </a:prstGeom>
          <a:noFill/>
        </p:spPr>
        <p:txBody>
          <a:bodyPr wrap="square">
            <a:spAutoFit/>
          </a:bodyPr>
          <a:lstStyle/>
          <a:p>
            <a:pPr algn="ctr">
              <a:spcAft>
                <a:spcPts val="600"/>
              </a:spcAft>
              <a:defRPr/>
            </a:pPr>
            <a:r>
              <a:rPr kumimoji="0" lang="zh-CN" altLang="en-US" sz="2400" b="1" i="0" u="none" strike="noStrike" kern="1200" cap="none" spc="100" normalizeH="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随着经济全球化加剧，传统</a:t>
            </a:r>
            <a:r>
              <a:rPr kumimoji="0" lang="zh-CN" altLang="zh-CN" sz="2400" b="1" i="0" u="none" strike="noStrike" kern="1200" cap="none" spc="100" normalizeH="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亚声速</a:t>
            </a:r>
            <a:r>
              <a:rPr kumimoji="0" lang="zh-CN" altLang="en-US" sz="2400" b="1" i="0" u="none" strike="noStrike" kern="1200" cap="none" spc="100" normalizeH="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民</a:t>
            </a:r>
            <a:r>
              <a:rPr kumimoji="0" lang="zh-CN" altLang="zh-CN" sz="2400" b="1" i="0" u="none" strike="noStrike" kern="1200" cap="none" spc="100" normalizeH="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机</a:t>
            </a:r>
            <a:r>
              <a:rPr kumimoji="0" lang="zh-CN" altLang="zh-CN" sz="2400" b="1" i="0" u="none" strike="noStrike" kern="1200" cap="none" spc="100" normalizeH="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无法满足</a:t>
            </a:r>
            <a:r>
              <a:rPr kumimoji="0" lang="zh-CN" altLang="en-US" sz="2400" b="1" i="0" u="none" strike="noStrike" kern="1200" cap="none" spc="100" normalizeH="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高效出行</a:t>
            </a:r>
            <a:r>
              <a:rPr kumimoji="0" lang="zh-CN" altLang="en-US" sz="2400" b="1" i="0" u="none" strike="noStrike" kern="1200" cap="none" spc="100" normalizeH="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a:t>
            </a:r>
            <a:r>
              <a:rPr kumimoji="0" lang="zh-CN" altLang="zh-CN" sz="2400" b="1" i="0" u="none" strike="noStrike" kern="1200" cap="none" spc="100" normalizeH="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需求</a:t>
            </a:r>
            <a:endParaRPr kumimoji="0" lang="zh-CN" altLang="en-US" sz="2400" b="1" i="0" u="none" strike="noStrike" kern="1200" cap="none" spc="100" normalizeH="0" noProof="0" dirty="0">
              <a:ln>
                <a:noFill/>
              </a:ln>
              <a:solidFill>
                <a:srgbClr val="0C3387"/>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矩形: 圆角 41">
            <a:extLst>
              <a:ext uri="{FF2B5EF4-FFF2-40B4-BE49-F238E27FC236}">
                <a16:creationId xmlns:a16="http://schemas.microsoft.com/office/drawing/2014/main" id="{38257B54-9BB2-BC0D-DBE5-B6214A132A56}"/>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新一代超声速民机是世界航空领域新的</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战略制高点</a:t>
            </a:r>
            <a:endPar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43" name="组合 42">
            <a:extLst>
              <a:ext uri="{FF2B5EF4-FFF2-40B4-BE49-F238E27FC236}">
                <a16:creationId xmlns:a16="http://schemas.microsoft.com/office/drawing/2014/main" id="{AFF225EA-DEC7-FD1C-CCCE-ABCBCAB36E67}"/>
              </a:ext>
            </a:extLst>
          </p:cNvPr>
          <p:cNvGrpSpPr/>
          <p:nvPr/>
        </p:nvGrpSpPr>
        <p:grpSpPr>
          <a:xfrm>
            <a:off x="6873545" y="4157288"/>
            <a:ext cx="4980298" cy="1148330"/>
            <a:chOff x="6873545" y="4157288"/>
            <a:chExt cx="4980298" cy="1148330"/>
          </a:xfrm>
        </p:grpSpPr>
        <p:sp>
          <p:nvSpPr>
            <p:cNvPr id="44" name="矩形 43">
              <a:extLst>
                <a:ext uri="{FF2B5EF4-FFF2-40B4-BE49-F238E27FC236}">
                  <a16:creationId xmlns:a16="http://schemas.microsoft.com/office/drawing/2014/main" id="{49B9C728-CE94-66FD-AA41-BEC84E39C68F}"/>
                </a:ext>
              </a:extLst>
            </p:cNvPr>
            <p:cNvSpPr/>
            <p:nvPr/>
          </p:nvSpPr>
          <p:spPr>
            <a:xfrm>
              <a:off x="6873545" y="4157288"/>
              <a:ext cx="4980298" cy="1148330"/>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45" name="文本框 44">
              <a:extLst>
                <a:ext uri="{FF2B5EF4-FFF2-40B4-BE49-F238E27FC236}">
                  <a16:creationId xmlns:a16="http://schemas.microsoft.com/office/drawing/2014/main" id="{DF550D96-0BE3-54B7-DC19-B4FE10E8F033}"/>
                </a:ext>
              </a:extLst>
            </p:cNvPr>
            <p:cNvSpPr txBox="1"/>
            <p:nvPr/>
          </p:nvSpPr>
          <p:spPr>
            <a:xfrm>
              <a:off x="6967648" y="4279194"/>
              <a:ext cx="4817371" cy="923330"/>
            </a:xfrm>
            <a:prstGeom prst="rect">
              <a:avLst/>
            </a:prstGeom>
            <a:noFill/>
          </p:spPr>
          <p:txBody>
            <a:bodyPr wrap="square" lIns="0" tIns="0" rIns="0" bIns="0" rtlCol="0">
              <a:spAutoFit/>
            </a:bodyPr>
            <a:lstStyle/>
            <a:p>
              <a:pPr algn="just"/>
              <a:r>
                <a:rPr lang="zh-CN" altLang="en-US" sz="2000" dirty="0">
                  <a:latin typeface="微软雅黑" panose="020B0503020204020204" pitchFamily="34" charset="-122"/>
                  <a:ea typeface="微软雅黑" panose="020B0503020204020204" pitchFamily="34" charset="-122"/>
                </a:rPr>
                <a:t>美国</a:t>
              </a:r>
              <a:r>
                <a:rPr lang="en-US" altLang="zh-CN" sz="2000" dirty="0">
                  <a:latin typeface="微软雅黑" panose="020B0503020204020204" pitchFamily="34" charset="-122"/>
                  <a:ea typeface="微软雅黑" panose="020B0503020204020204" pitchFamily="34" charset="-122"/>
                </a:rPr>
                <a:t>NASA</a:t>
              </a:r>
              <a:r>
                <a:rPr lang="zh-CN" altLang="en-US" sz="2000" dirty="0">
                  <a:latin typeface="微软雅黑" panose="020B0503020204020204" pitchFamily="34" charset="-122"/>
                  <a:ea typeface="微软雅黑" panose="020B0503020204020204" pitchFamily="34" charset="-122"/>
                </a:rPr>
                <a:t>在航空战略规划中指出：“高效、经济和环保的新一代超声速客机，将成为未来洲际旅行的规则改变者。</a:t>
              </a:r>
              <a:r>
                <a:rPr lang="en-US" altLang="zh-CN" sz="2000" dirty="0">
                  <a:latin typeface="微软雅黑" panose="020B0503020204020204" pitchFamily="34" charset="-122"/>
                  <a:ea typeface="微软雅黑" panose="020B0503020204020204" pitchFamily="34" charset="-122"/>
                </a:rPr>
                <a:t>”</a:t>
              </a:r>
              <a:endParaRPr lang="zh-CN" altLang="en-US" sz="2000" dirty="0">
                <a:solidFill>
                  <a:srgbClr val="C00000"/>
                </a:solidFill>
                <a:latin typeface="微软雅黑" panose="020B0503020204020204" pitchFamily="34" charset="-122"/>
                <a:ea typeface="微软雅黑" panose="020B0503020204020204" pitchFamily="34" charset="-122"/>
                <a:cs typeface="Arial" pitchFamily="34" charset="0"/>
              </a:endParaRPr>
            </a:p>
          </p:txBody>
        </p:sp>
      </p:grpSp>
    </p:spTree>
    <p:custDataLst>
      <p:tags r:id="rId1"/>
    </p:custDataLst>
    <p:extLst>
      <p:ext uri="{BB962C8B-B14F-4D97-AF65-F5344CB8AC3E}">
        <p14:creationId xmlns:p14="http://schemas.microsoft.com/office/powerpoint/2010/main" val="183596546"/>
      </p:ext>
    </p:extLst>
  </p:cSld>
  <p:clrMapOvr>
    <a:masterClrMapping/>
  </p:clrMapOvr>
  <mc:AlternateContent xmlns:mc="http://schemas.openxmlformats.org/markup-compatibility/2006" xmlns:p14="http://schemas.microsoft.com/office/powerpoint/2010/main">
    <mc:Choice Requires="p14">
      <p:transition spd="slow" p14:dur="2000" advTm="20472"/>
    </mc:Choice>
    <mc:Fallback xmlns="">
      <p:transition spd="slow" advTm="204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250" fill="hold"/>
                                        <p:tgtEl>
                                          <p:spTgt spid="43"/>
                                        </p:tgtEl>
                                        <p:attrNameLst>
                                          <p:attrName>ppt_x</p:attrName>
                                        </p:attrNameLst>
                                      </p:cBhvr>
                                      <p:tavLst>
                                        <p:tav tm="0">
                                          <p:val>
                                            <p:strVal val="#ppt_x"/>
                                          </p:val>
                                        </p:tav>
                                        <p:tav tm="100000">
                                          <p:val>
                                            <p:strVal val="#ppt_x"/>
                                          </p:val>
                                        </p:tav>
                                      </p:tavLst>
                                    </p:anim>
                                    <p:anim calcmode="lin" valueType="num">
                                      <p:cBhvr additive="base">
                                        <p:cTn id="8" dur="25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additive="base">
                                        <p:cTn id="13" dur="250" fill="hold"/>
                                        <p:tgtEl>
                                          <p:spTgt spid="42"/>
                                        </p:tgtEl>
                                        <p:attrNameLst>
                                          <p:attrName>ppt_x</p:attrName>
                                        </p:attrNameLst>
                                      </p:cBhvr>
                                      <p:tavLst>
                                        <p:tav tm="0">
                                          <p:val>
                                            <p:strVal val="#ppt_x"/>
                                          </p:val>
                                        </p:tav>
                                        <p:tav tm="100000">
                                          <p:val>
                                            <p:strVal val="#ppt_x"/>
                                          </p:val>
                                        </p:tav>
                                      </p:tavLst>
                                    </p:anim>
                                    <p:anim calcmode="lin" valueType="num">
                                      <p:cBhvr additive="base">
                                        <p:cTn id="14" dur="25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17D00-3C25-F748-CFC6-4B804BE64646}"/>
            </a:ext>
          </a:extLst>
        </p:cNvPr>
        <p:cNvGrpSpPr/>
        <p:nvPr/>
      </p:nvGrpSpPr>
      <p:grpSpPr>
        <a:xfrm>
          <a:off x="0" y="0"/>
          <a:ext cx="0" cy="0"/>
          <a:chOff x="0" y="0"/>
          <a:chExt cx="0" cy="0"/>
        </a:xfrm>
      </p:grpSpPr>
      <p:pic>
        <p:nvPicPr>
          <p:cNvPr id="108" name="图片 107">
            <a:extLst>
              <a:ext uri="{FF2B5EF4-FFF2-40B4-BE49-F238E27FC236}">
                <a16:creationId xmlns:a16="http://schemas.microsoft.com/office/drawing/2014/main" id="{E8B67E13-B9D1-FCC5-0A0A-6E30B842DB95}"/>
              </a:ext>
            </a:extLst>
          </p:cNvPr>
          <p:cNvPicPr>
            <a:picLocks noChangeAspect="1"/>
          </p:cNvPicPr>
          <p:nvPr/>
        </p:nvPicPr>
        <p:blipFill>
          <a:blip r:embed="rId4"/>
          <a:stretch>
            <a:fillRect/>
          </a:stretch>
        </p:blipFill>
        <p:spPr>
          <a:xfrm>
            <a:off x="7869630" y="2660191"/>
            <a:ext cx="4071153" cy="2428005"/>
          </a:xfrm>
          <a:prstGeom prst="rect">
            <a:avLst/>
          </a:prstGeom>
        </p:spPr>
      </p:pic>
      <p:sp>
        <p:nvSpPr>
          <p:cNvPr id="4" name="标题 1">
            <a:extLst>
              <a:ext uri="{FF2B5EF4-FFF2-40B4-BE49-F238E27FC236}">
                <a16:creationId xmlns:a16="http://schemas.microsoft.com/office/drawing/2014/main" id="{DC3EC960-EDBC-CA5F-255E-354188698A77}"/>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一</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研究背景与意义</a:t>
            </a:r>
            <a:endParaRPr kumimoji="0" lang="zh-CN" altLang="en-US" b="1" i="0" u="none" strike="noStrike" kern="1200" cap="none" spc="10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 name="矩形: 圆角 2">
            <a:extLst>
              <a:ext uri="{FF2B5EF4-FFF2-40B4-BE49-F238E27FC236}">
                <a16:creationId xmlns:a16="http://schemas.microsoft.com/office/drawing/2014/main" id="{74B37CE3-A095-5A92-FB47-8B09BAACDCA9}"/>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latin typeface="微软雅黑" panose="020B0503020204020204" pitchFamily="34" charset="-122"/>
                <a:ea typeface="微软雅黑" panose="020B0503020204020204" pitchFamily="34" charset="-122"/>
              </a:rPr>
              <a:t>现阶段理论框架下高经济性与低声爆之间存在矛盾</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EC518040-A73B-454A-DC07-31112123B827}"/>
              </a:ext>
            </a:extLst>
          </p:cNvPr>
          <p:cNvSpPr txBox="1"/>
          <p:nvPr/>
        </p:nvSpPr>
        <p:spPr>
          <a:xfrm>
            <a:off x="2501265" y="1408919"/>
            <a:ext cx="3615820" cy="276999"/>
          </a:xfrm>
          <a:prstGeom prst="rect">
            <a:avLst/>
          </a:prstGeom>
          <a:noFill/>
        </p:spPr>
        <p:txBody>
          <a:bodyPr wrap="square" lIns="0" tIns="0" rIns="0" bIns="0" rtlCol="0">
            <a:spAutoFit/>
          </a:bodyPr>
          <a:lstStyle/>
          <a:p>
            <a:pPr algn="ct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先进低声爆方案响度</a:t>
            </a: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座级对比</a:t>
            </a:r>
          </a:p>
        </p:txBody>
      </p:sp>
      <p:sp>
        <p:nvSpPr>
          <p:cNvPr id="2" name="文本框 1">
            <a:extLst>
              <a:ext uri="{FF2B5EF4-FFF2-40B4-BE49-F238E27FC236}">
                <a16:creationId xmlns:a16="http://schemas.microsoft.com/office/drawing/2014/main" id="{0B5CB88F-89AE-1F94-4BA2-EB92719E9363}"/>
              </a:ext>
            </a:extLst>
          </p:cNvPr>
          <p:cNvSpPr txBox="1"/>
          <p:nvPr/>
        </p:nvSpPr>
        <p:spPr>
          <a:xfrm>
            <a:off x="8490762" y="5188556"/>
            <a:ext cx="3306898" cy="246221"/>
          </a:xfrm>
          <a:prstGeom prst="rect">
            <a:avLst/>
          </a:prstGeom>
          <a:noFill/>
        </p:spPr>
        <p:txBody>
          <a:bodyPr wrap="square" lIns="0" tIns="0" rIns="0" bIns="0" rtlCol="0">
            <a:spAutoFit/>
          </a:bodyPr>
          <a:lstStyle/>
          <a:p>
            <a:r>
              <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rPr>
              <a:t>JSGD</a:t>
            </a: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理论最小声爆随飞机重量变化</a:t>
            </a:r>
          </a:p>
        </p:txBody>
      </p:sp>
      <p:sp>
        <p:nvSpPr>
          <p:cNvPr id="7" name="文本框 6">
            <a:extLst>
              <a:ext uri="{FF2B5EF4-FFF2-40B4-BE49-F238E27FC236}">
                <a16:creationId xmlns:a16="http://schemas.microsoft.com/office/drawing/2014/main" id="{7C581368-9B7A-7E6E-B492-4299514CEF86}"/>
              </a:ext>
            </a:extLst>
          </p:cNvPr>
          <p:cNvSpPr txBox="1"/>
          <p:nvPr/>
        </p:nvSpPr>
        <p:spPr>
          <a:xfrm>
            <a:off x="7779330" y="1132962"/>
            <a:ext cx="4161453" cy="1231106"/>
          </a:xfrm>
          <a:prstGeom prst="rect">
            <a:avLst/>
          </a:prstGeom>
          <a:noFill/>
        </p:spPr>
        <p:txBody>
          <a:bodyPr wrap="square" lIns="0" tIns="0" rIns="0" bIns="0" rtlCol="0">
            <a:spAutoFit/>
          </a:bodyPr>
          <a:lstStyle/>
          <a:p>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先进低声爆布局均采用</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中小座级</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的公务机配置，但从经济上考虑超声速民机的座级至少应大于</a:t>
            </a:r>
            <a:r>
              <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rPr>
              <a:t>50</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座级</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才能形成稳定盈利的商业模式。</a:t>
            </a:r>
          </a:p>
        </p:txBody>
      </p:sp>
      <p:grpSp>
        <p:nvGrpSpPr>
          <p:cNvPr id="62" name="组合 61">
            <a:extLst>
              <a:ext uri="{FF2B5EF4-FFF2-40B4-BE49-F238E27FC236}">
                <a16:creationId xmlns:a16="http://schemas.microsoft.com/office/drawing/2014/main" id="{73EC104B-A776-85E7-132C-820EFF68C7E6}"/>
              </a:ext>
            </a:extLst>
          </p:cNvPr>
          <p:cNvGrpSpPr>
            <a:grpSpLocks noChangeAspect="1"/>
          </p:cNvGrpSpPr>
          <p:nvPr/>
        </p:nvGrpSpPr>
        <p:grpSpPr>
          <a:xfrm>
            <a:off x="0" y="1050644"/>
            <a:ext cx="7962201" cy="4553514"/>
            <a:chOff x="1251736" y="1385740"/>
            <a:chExt cx="7962201" cy="4553514"/>
          </a:xfrm>
        </p:grpSpPr>
        <p:sp>
          <p:nvSpPr>
            <p:cNvPr id="63" name="矩形 62">
              <a:extLst>
                <a:ext uri="{FF2B5EF4-FFF2-40B4-BE49-F238E27FC236}">
                  <a16:creationId xmlns:a16="http://schemas.microsoft.com/office/drawing/2014/main" id="{A6B14F0B-8234-45F3-2BC5-544DB9D6F82D}"/>
                </a:ext>
              </a:extLst>
            </p:cNvPr>
            <p:cNvSpPr/>
            <p:nvPr/>
          </p:nvSpPr>
          <p:spPr>
            <a:xfrm>
              <a:off x="1782524" y="4881977"/>
              <a:ext cx="6690861" cy="692779"/>
            </a:xfrm>
            <a:prstGeom prst="rect">
              <a:avLst/>
            </a:prstGeom>
            <a:solidFill>
              <a:schemeClr val="tx2">
                <a:lumMod val="10000"/>
                <a:lumOff val="9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箭头连接符 63">
              <a:extLst>
                <a:ext uri="{FF2B5EF4-FFF2-40B4-BE49-F238E27FC236}">
                  <a16:creationId xmlns:a16="http://schemas.microsoft.com/office/drawing/2014/main" id="{81731EDD-731D-E1D1-AAEE-81A223A613C0}"/>
                </a:ext>
              </a:extLst>
            </p:cNvPr>
            <p:cNvCxnSpPr>
              <a:cxnSpLocks/>
            </p:cNvCxnSpPr>
            <p:nvPr/>
          </p:nvCxnSpPr>
          <p:spPr>
            <a:xfrm flipH="1" flipV="1">
              <a:off x="1777608" y="1385740"/>
              <a:ext cx="2030" cy="42149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直接箭头连接符 64">
              <a:extLst>
                <a:ext uri="{FF2B5EF4-FFF2-40B4-BE49-F238E27FC236}">
                  <a16:creationId xmlns:a16="http://schemas.microsoft.com/office/drawing/2014/main" id="{0723941E-7419-3D89-F110-A73AE9E7DA81}"/>
                </a:ext>
              </a:extLst>
            </p:cNvPr>
            <p:cNvCxnSpPr>
              <a:cxnSpLocks/>
            </p:cNvCxnSpPr>
            <p:nvPr/>
          </p:nvCxnSpPr>
          <p:spPr>
            <a:xfrm flipV="1">
              <a:off x="1779638" y="5586908"/>
              <a:ext cx="6807771" cy="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直接连接符 65">
              <a:extLst>
                <a:ext uri="{FF2B5EF4-FFF2-40B4-BE49-F238E27FC236}">
                  <a16:creationId xmlns:a16="http://schemas.microsoft.com/office/drawing/2014/main" id="{9EEE9058-EDF6-802B-F86C-3CD36396F47B}"/>
                </a:ext>
              </a:extLst>
            </p:cNvPr>
            <p:cNvCxnSpPr>
              <a:cxnSpLocks/>
            </p:cNvCxnSpPr>
            <p:nvPr/>
          </p:nvCxnSpPr>
          <p:spPr>
            <a:xfrm>
              <a:off x="1779638" y="1989217"/>
              <a:ext cx="10815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直接连接符 66">
              <a:extLst>
                <a:ext uri="{FF2B5EF4-FFF2-40B4-BE49-F238E27FC236}">
                  <a16:creationId xmlns:a16="http://schemas.microsoft.com/office/drawing/2014/main" id="{78C7BB16-4210-538C-BFF3-1DCF01F19FA9}"/>
                </a:ext>
              </a:extLst>
            </p:cNvPr>
            <p:cNvCxnSpPr>
              <a:cxnSpLocks/>
            </p:cNvCxnSpPr>
            <p:nvPr/>
          </p:nvCxnSpPr>
          <p:spPr>
            <a:xfrm>
              <a:off x="1779638" y="2708354"/>
              <a:ext cx="10815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直接连接符 67">
              <a:extLst>
                <a:ext uri="{FF2B5EF4-FFF2-40B4-BE49-F238E27FC236}">
                  <a16:creationId xmlns:a16="http://schemas.microsoft.com/office/drawing/2014/main" id="{38E64612-D086-33F8-0A1A-CD15AD0B0C39}"/>
                </a:ext>
              </a:extLst>
            </p:cNvPr>
            <p:cNvCxnSpPr>
              <a:cxnSpLocks/>
            </p:cNvCxnSpPr>
            <p:nvPr/>
          </p:nvCxnSpPr>
          <p:spPr>
            <a:xfrm>
              <a:off x="1779638" y="3429000"/>
              <a:ext cx="10815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直接连接符 68">
              <a:extLst>
                <a:ext uri="{FF2B5EF4-FFF2-40B4-BE49-F238E27FC236}">
                  <a16:creationId xmlns:a16="http://schemas.microsoft.com/office/drawing/2014/main" id="{7F6628EA-3376-125E-6CFF-A2748014FA12}"/>
                </a:ext>
              </a:extLst>
            </p:cNvPr>
            <p:cNvCxnSpPr>
              <a:cxnSpLocks/>
            </p:cNvCxnSpPr>
            <p:nvPr/>
          </p:nvCxnSpPr>
          <p:spPr>
            <a:xfrm>
              <a:off x="1779638" y="4148138"/>
              <a:ext cx="10815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直接连接符 69">
              <a:extLst>
                <a:ext uri="{FF2B5EF4-FFF2-40B4-BE49-F238E27FC236}">
                  <a16:creationId xmlns:a16="http://schemas.microsoft.com/office/drawing/2014/main" id="{EFF8231E-8609-E202-0E38-A3C3066110F9}"/>
                </a:ext>
              </a:extLst>
            </p:cNvPr>
            <p:cNvCxnSpPr>
              <a:cxnSpLocks/>
            </p:cNvCxnSpPr>
            <p:nvPr/>
          </p:nvCxnSpPr>
          <p:spPr>
            <a:xfrm>
              <a:off x="1779638" y="4872038"/>
              <a:ext cx="108156" cy="0"/>
            </a:xfrm>
            <a:prstGeom prst="line">
              <a:avLst/>
            </a:prstGeom>
          </p:spPr>
          <p:style>
            <a:lnRef idx="2">
              <a:schemeClr val="accent1"/>
            </a:lnRef>
            <a:fillRef idx="0">
              <a:schemeClr val="accent1"/>
            </a:fillRef>
            <a:effectRef idx="1">
              <a:schemeClr val="accent1"/>
            </a:effectRef>
            <a:fontRef idx="minor">
              <a:schemeClr val="tx1"/>
            </a:fontRef>
          </p:style>
        </p:cxnSp>
        <p:sp>
          <p:nvSpPr>
            <p:cNvPr id="71" name="文本框 70">
              <a:extLst>
                <a:ext uri="{FF2B5EF4-FFF2-40B4-BE49-F238E27FC236}">
                  <a16:creationId xmlns:a16="http://schemas.microsoft.com/office/drawing/2014/main" id="{0E909A06-9977-26A5-214E-E6A1CD196897}"/>
                </a:ext>
              </a:extLst>
            </p:cNvPr>
            <p:cNvSpPr txBox="1"/>
            <p:nvPr/>
          </p:nvSpPr>
          <p:spPr>
            <a:xfrm>
              <a:off x="1253765" y="4703975"/>
              <a:ext cx="525872" cy="338554"/>
            </a:xfrm>
            <a:prstGeom prst="rect">
              <a:avLst/>
            </a:prstGeom>
            <a:noFill/>
          </p:spPr>
          <p:txBody>
            <a:bodyPr wrap="square" rtlCol="0">
              <a:spAutoFit/>
            </a:bodyPr>
            <a:lstStyle/>
            <a:p>
              <a:pPr algn="ctr"/>
              <a:r>
                <a:rPr lang="en-US" altLang="zh-CN" sz="1600" b="1" dirty="0">
                  <a:solidFill>
                    <a:srgbClr val="002060"/>
                  </a:solidFill>
                  <a:latin typeface="微软雅黑" panose="020B0503020204020204" pitchFamily="34" charset="-122"/>
                  <a:ea typeface="微软雅黑" panose="020B0503020204020204" pitchFamily="34" charset="-122"/>
                </a:rPr>
                <a:t>70</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sp>
          <p:nvSpPr>
            <p:cNvPr id="72" name="文本框 71">
              <a:extLst>
                <a:ext uri="{FF2B5EF4-FFF2-40B4-BE49-F238E27FC236}">
                  <a16:creationId xmlns:a16="http://schemas.microsoft.com/office/drawing/2014/main" id="{E0004622-591F-AC54-7F65-ECD446E4FF74}"/>
                </a:ext>
              </a:extLst>
            </p:cNvPr>
            <p:cNvSpPr txBox="1"/>
            <p:nvPr/>
          </p:nvSpPr>
          <p:spPr>
            <a:xfrm>
              <a:off x="1253765" y="3981243"/>
              <a:ext cx="525872" cy="338554"/>
            </a:xfrm>
            <a:prstGeom prst="rect">
              <a:avLst/>
            </a:prstGeom>
            <a:noFill/>
          </p:spPr>
          <p:txBody>
            <a:bodyPr wrap="square" rtlCol="0">
              <a:spAutoFit/>
            </a:bodyPr>
            <a:lstStyle/>
            <a:p>
              <a:pPr algn="ctr"/>
              <a:r>
                <a:rPr lang="en-US" altLang="zh-CN" sz="1600" b="1" dirty="0">
                  <a:solidFill>
                    <a:srgbClr val="002060"/>
                  </a:solidFill>
                  <a:latin typeface="微软雅黑" panose="020B0503020204020204" pitchFamily="34" charset="-122"/>
                  <a:ea typeface="微软雅黑" panose="020B0503020204020204" pitchFamily="34" charset="-122"/>
                </a:rPr>
                <a:t>75</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6570E26C-27AD-7A27-EB15-5797F1E1B975}"/>
                </a:ext>
              </a:extLst>
            </p:cNvPr>
            <p:cNvSpPr txBox="1"/>
            <p:nvPr/>
          </p:nvSpPr>
          <p:spPr>
            <a:xfrm>
              <a:off x="1253765" y="3257019"/>
              <a:ext cx="525872" cy="338554"/>
            </a:xfrm>
            <a:prstGeom prst="rect">
              <a:avLst/>
            </a:prstGeom>
            <a:noFill/>
          </p:spPr>
          <p:txBody>
            <a:bodyPr wrap="square" rtlCol="0">
              <a:spAutoFit/>
            </a:bodyPr>
            <a:lstStyle/>
            <a:p>
              <a:pPr algn="ctr"/>
              <a:r>
                <a:rPr lang="en-US" altLang="zh-CN" sz="1600" b="1" dirty="0">
                  <a:solidFill>
                    <a:srgbClr val="002060"/>
                  </a:solidFill>
                  <a:latin typeface="微软雅黑" panose="020B0503020204020204" pitchFamily="34" charset="-122"/>
                  <a:ea typeface="微软雅黑" panose="020B0503020204020204" pitchFamily="34" charset="-122"/>
                </a:rPr>
                <a:t>80</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sp>
          <p:nvSpPr>
            <p:cNvPr id="74" name="文本框 73">
              <a:extLst>
                <a:ext uri="{FF2B5EF4-FFF2-40B4-BE49-F238E27FC236}">
                  <a16:creationId xmlns:a16="http://schemas.microsoft.com/office/drawing/2014/main" id="{EDFC2A13-F62C-112D-FC56-D025C0BF21CB}"/>
                </a:ext>
              </a:extLst>
            </p:cNvPr>
            <p:cNvSpPr txBox="1"/>
            <p:nvPr/>
          </p:nvSpPr>
          <p:spPr>
            <a:xfrm>
              <a:off x="1251736" y="2542123"/>
              <a:ext cx="525872" cy="338554"/>
            </a:xfrm>
            <a:prstGeom prst="rect">
              <a:avLst/>
            </a:prstGeom>
            <a:noFill/>
          </p:spPr>
          <p:txBody>
            <a:bodyPr wrap="square" rtlCol="0">
              <a:spAutoFit/>
            </a:bodyPr>
            <a:lstStyle/>
            <a:p>
              <a:pPr algn="ctr"/>
              <a:r>
                <a:rPr lang="en-US" altLang="zh-CN" sz="1600" b="1" dirty="0">
                  <a:solidFill>
                    <a:srgbClr val="002060"/>
                  </a:solidFill>
                  <a:latin typeface="微软雅黑" panose="020B0503020204020204" pitchFamily="34" charset="-122"/>
                  <a:ea typeface="微软雅黑" panose="020B0503020204020204" pitchFamily="34" charset="-122"/>
                </a:rPr>
                <a:t>85</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sp>
          <p:nvSpPr>
            <p:cNvPr id="75" name="文本框 74">
              <a:extLst>
                <a:ext uri="{FF2B5EF4-FFF2-40B4-BE49-F238E27FC236}">
                  <a16:creationId xmlns:a16="http://schemas.microsoft.com/office/drawing/2014/main" id="{8BA422A5-419D-FFE1-EF7B-D2438994C524}"/>
                </a:ext>
              </a:extLst>
            </p:cNvPr>
            <p:cNvSpPr txBox="1"/>
            <p:nvPr/>
          </p:nvSpPr>
          <p:spPr>
            <a:xfrm>
              <a:off x="1256652" y="1818249"/>
              <a:ext cx="525872" cy="338554"/>
            </a:xfrm>
            <a:prstGeom prst="rect">
              <a:avLst/>
            </a:prstGeom>
            <a:noFill/>
          </p:spPr>
          <p:txBody>
            <a:bodyPr wrap="square" rtlCol="0">
              <a:spAutoFit/>
            </a:bodyPr>
            <a:lstStyle/>
            <a:p>
              <a:pPr algn="ctr"/>
              <a:r>
                <a:rPr lang="en-US" altLang="zh-CN" sz="1600" b="1" dirty="0">
                  <a:solidFill>
                    <a:srgbClr val="002060"/>
                  </a:solidFill>
                  <a:latin typeface="微软雅黑" panose="020B0503020204020204" pitchFamily="34" charset="-122"/>
                  <a:ea typeface="微软雅黑" panose="020B0503020204020204" pitchFamily="34" charset="-122"/>
                </a:rPr>
                <a:t>90</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cxnSp>
          <p:nvCxnSpPr>
            <p:cNvPr id="76" name="直接连接符 75">
              <a:extLst>
                <a:ext uri="{FF2B5EF4-FFF2-40B4-BE49-F238E27FC236}">
                  <a16:creationId xmlns:a16="http://schemas.microsoft.com/office/drawing/2014/main" id="{3D08FD08-004B-F36E-D0DD-24C8D84CEBAE}"/>
                </a:ext>
              </a:extLst>
            </p:cNvPr>
            <p:cNvCxnSpPr/>
            <p:nvPr/>
          </p:nvCxnSpPr>
          <p:spPr>
            <a:xfrm>
              <a:off x="3223870" y="5439266"/>
              <a:ext cx="0" cy="147669"/>
            </a:xfrm>
            <a:prstGeom prst="line">
              <a:avLst/>
            </a:prstGeom>
          </p:spPr>
          <p:style>
            <a:lnRef idx="2">
              <a:schemeClr val="accent1"/>
            </a:lnRef>
            <a:fillRef idx="0">
              <a:schemeClr val="accent1"/>
            </a:fillRef>
            <a:effectRef idx="1">
              <a:schemeClr val="accent1"/>
            </a:effectRef>
            <a:fontRef idx="minor">
              <a:schemeClr val="tx1"/>
            </a:fontRef>
          </p:style>
        </p:cxnSp>
        <p:cxnSp>
          <p:nvCxnSpPr>
            <p:cNvPr id="77" name="直接连接符 76">
              <a:extLst>
                <a:ext uri="{FF2B5EF4-FFF2-40B4-BE49-F238E27FC236}">
                  <a16:creationId xmlns:a16="http://schemas.microsoft.com/office/drawing/2014/main" id="{44855152-D4E1-9BE2-659E-9FA50B2E061F}"/>
                </a:ext>
              </a:extLst>
            </p:cNvPr>
            <p:cNvCxnSpPr/>
            <p:nvPr/>
          </p:nvCxnSpPr>
          <p:spPr>
            <a:xfrm>
              <a:off x="4662146" y="5439266"/>
              <a:ext cx="0" cy="147669"/>
            </a:xfrm>
            <a:prstGeom prst="line">
              <a:avLst/>
            </a:prstGeom>
          </p:spPr>
          <p:style>
            <a:lnRef idx="2">
              <a:schemeClr val="accent1"/>
            </a:lnRef>
            <a:fillRef idx="0">
              <a:schemeClr val="accent1"/>
            </a:fillRef>
            <a:effectRef idx="1">
              <a:schemeClr val="accent1"/>
            </a:effectRef>
            <a:fontRef idx="minor">
              <a:schemeClr val="tx1"/>
            </a:fontRef>
          </p:style>
        </p:cxnSp>
        <p:cxnSp>
          <p:nvCxnSpPr>
            <p:cNvPr id="78" name="直接连接符 77">
              <a:extLst>
                <a:ext uri="{FF2B5EF4-FFF2-40B4-BE49-F238E27FC236}">
                  <a16:creationId xmlns:a16="http://schemas.microsoft.com/office/drawing/2014/main" id="{9436DA80-AB7A-056E-824D-45E73E4FDDA9}"/>
                </a:ext>
              </a:extLst>
            </p:cNvPr>
            <p:cNvCxnSpPr/>
            <p:nvPr/>
          </p:nvCxnSpPr>
          <p:spPr>
            <a:xfrm>
              <a:off x="6105183" y="5437390"/>
              <a:ext cx="0" cy="147669"/>
            </a:xfrm>
            <a:prstGeom prst="line">
              <a:avLst/>
            </a:prstGeom>
          </p:spPr>
          <p:style>
            <a:lnRef idx="2">
              <a:schemeClr val="accent1"/>
            </a:lnRef>
            <a:fillRef idx="0">
              <a:schemeClr val="accent1"/>
            </a:fillRef>
            <a:effectRef idx="1">
              <a:schemeClr val="accent1"/>
            </a:effectRef>
            <a:fontRef idx="minor">
              <a:schemeClr val="tx1"/>
            </a:fontRef>
          </p:style>
        </p:cxnSp>
        <p:cxnSp>
          <p:nvCxnSpPr>
            <p:cNvPr id="79" name="直接连接符 78">
              <a:extLst>
                <a:ext uri="{FF2B5EF4-FFF2-40B4-BE49-F238E27FC236}">
                  <a16:creationId xmlns:a16="http://schemas.microsoft.com/office/drawing/2014/main" id="{510EAB96-C8DF-36D5-985F-FF13931E6B87}"/>
                </a:ext>
              </a:extLst>
            </p:cNvPr>
            <p:cNvCxnSpPr/>
            <p:nvPr/>
          </p:nvCxnSpPr>
          <p:spPr>
            <a:xfrm>
              <a:off x="7545767" y="5437388"/>
              <a:ext cx="0" cy="147669"/>
            </a:xfrm>
            <a:prstGeom prst="line">
              <a:avLst/>
            </a:prstGeom>
          </p:spPr>
          <p:style>
            <a:lnRef idx="2">
              <a:schemeClr val="accent1"/>
            </a:lnRef>
            <a:fillRef idx="0">
              <a:schemeClr val="accent1"/>
            </a:fillRef>
            <a:effectRef idx="1">
              <a:schemeClr val="accent1"/>
            </a:effectRef>
            <a:fontRef idx="minor">
              <a:schemeClr val="tx1"/>
            </a:fontRef>
          </p:style>
        </p:cxnSp>
        <p:sp>
          <p:nvSpPr>
            <p:cNvPr id="80" name="文本框 79">
              <a:extLst>
                <a:ext uri="{FF2B5EF4-FFF2-40B4-BE49-F238E27FC236}">
                  <a16:creationId xmlns:a16="http://schemas.microsoft.com/office/drawing/2014/main" id="{3CC4F21C-0F88-2565-E434-FF81C582D1C1}"/>
                </a:ext>
              </a:extLst>
            </p:cNvPr>
            <p:cNvSpPr txBox="1"/>
            <p:nvPr/>
          </p:nvSpPr>
          <p:spPr>
            <a:xfrm>
              <a:off x="3011766" y="5600700"/>
              <a:ext cx="443060" cy="338554"/>
            </a:xfrm>
            <a:prstGeom prst="rect">
              <a:avLst/>
            </a:prstGeom>
            <a:noFill/>
          </p:spPr>
          <p:txBody>
            <a:bodyPr wrap="square" rtlCol="0">
              <a:spAutoFit/>
            </a:bodyPr>
            <a:lstStyle/>
            <a:p>
              <a:r>
                <a:rPr lang="en-US" altLang="zh-CN" sz="1600" b="1" dirty="0">
                  <a:solidFill>
                    <a:srgbClr val="002060"/>
                  </a:solidFill>
                  <a:latin typeface="微软雅黑" panose="020B0503020204020204" pitchFamily="34" charset="-122"/>
                  <a:ea typeface="微软雅黑" panose="020B0503020204020204" pitchFamily="34" charset="-122"/>
                </a:rPr>
                <a:t>10</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sp>
          <p:nvSpPr>
            <p:cNvPr id="81" name="文本框 80">
              <a:extLst>
                <a:ext uri="{FF2B5EF4-FFF2-40B4-BE49-F238E27FC236}">
                  <a16:creationId xmlns:a16="http://schemas.microsoft.com/office/drawing/2014/main" id="{4FC7FD69-1D5D-8774-C4C1-07BE736DA65F}"/>
                </a:ext>
              </a:extLst>
            </p:cNvPr>
            <p:cNvSpPr txBox="1"/>
            <p:nvPr/>
          </p:nvSpPr>
          <p:spPr>
            <a:xfrm>
              <a:off x="4445952" y="5600700"/>
              <a:ext cx="443060" cy="338554"/>
            </a:xfrm>
            <a:prstGeom prst="rect">
              <a:avLst/>
            </a:prstGeom>
            <a:noFill/>
          </p:spPr>
          <p:txBody>
            <a:bodyPr wrap="square" rtlCol="0">
              <a:spAutoFit/>
            </a:bodyPr>
            <a:lstStyle/>
            <a:p>
              <a:r>
                <a:rPr lang="en-US" altLang="zh-CN" sz="1600" b="1" dirty="0">
                  <a:solidFill>
                    <a:srgbClr val="002060"/>
                  </a:solidFill>
                  <a:latin typeface="微软雅黑" panose="020B0503020204020204" pitchFamily="34" charset="-122"/>
                  <a:ea typeface="微软雅黑" panose="020B0503020204020204" pitchFamily="34" charset="-122"/>
                </a:rPr>
                <a:t>20</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sp>
          <p:nvSpPr>
            <p:cNvPr id="82" name="文本框 81">
              <a:extLst>
                <a:ext uri="{FF2B5EF4-FFF2-40B4-BE49-F238E27FC236}">
                  <a16:creationId xmlns:a16="http://schemas.microsoft.com/office/drawing/2014/main" id="{CB9312E2-F91F-46FA-61B7-B6A0BF471511}"/>
                </a:ext>
              </a:extLst>
            </p:cNvPr>
            <p:cNvSpPr txBox="1"/>
            <p:nvPr/>
          </p:nvSpPr>
          <p:spPr>
            <a:xfrm>
              <a:off x="5889565" y="5600700"/>
              <a:ext cx="443060" cy="338554"/>
            </a:xfrm>
            <a:prstGeom prst="rect">
              <a:avLst/>
            </a:prstGeom>
            <a:noFill/>
          </p:spPr>
          <p:txBody>
            <a:bodyPr wrap="square" rtlCol="0">
              <a:spAutoFit/>
            </a:bodyPr>
            <a:lstStyle/>
            <a:p>
              <a:r>
                <a:rPr lang="en-US" altLang="zh-CN" sz="1600" b="1" dirty="0">
                  <a:solidFill>
                    <a:srgbClr val="002060"/>
                  </a:solidFill>
                  <a:latin typeface="微软雅黑" panose="020B0503020204020204" pitchFamily="34" charset="-122"/>
                  <a:ea typeface="微软雅黑" panose="020B0503020204020204" pitchFamily="34" charset="-122"/>
                </a:rPr>
                <a:t>30</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sp>
          <p:nvSpPr>
            <p:cNvPr id="83" name="文本框 82">
              <a:extLst>
                <a:ext uri="{FF2B5EF4-FFF2-40B4-BE49-F238E27FC236}">
                  <a16:creationId xmlns:a16="http://schemas.microsoft.com/office/drawing/2014/main" id="{0BD3CC58-7513-59D3-7174-773EC62A4017}"/>
                </a:ext>
              </a:extLst>
            </p:cNvPr>
            <p:cNvSpPr txBox="1"/>
            <p:nvPr/>
          </p:nvSpPr>
          <p:spPr>
            <a:xfrm>
              <a:off x="7322008" y="5600700"/>
              <a:ext cx="443060" cy="338554"/>
            </a:xfrm>
            <a:prstGeom prst="rect">
              <a:avLst/>
            </a:prstGeom>
            <a:noFill/>
          </p:spPr>
          <p:txBody>
            <a:bodyPr wrap="square" rtlCol="0">
              <a:spAutoFit/>
            </a:bodyPr>
            <a:lstStyle/>
            <a:p>
              <a:r>
                <a:rPr lang="en-US" altLang="zh-CN" sz="1600" b="1" dirty="0">
                  <a:solidFill>
                    <a:srgbClr val="002060"/>
                  </a:solidFill>
                  <a:latin typeface="微软雅黑" panose="020B0503020204020204" pitchFamily="34" charset="-122"/>
                  <a:ea typeface="微软雅黑" panose="020B0503020204020204" pitchFamily="34" charset="-122"/>
                </a:rPr>
                <a:t>40</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pic>
          <p:nvPicPr>
            <p:cNvPr id="84" name="图片 83" descr="图片1">
              <a:extLst>
                <a:ext uri="{FF2B5EF4-FFF2-40B4-BE49-F238E27FC236}">
                  <a16:creationId xmlns:a16="http://schemas.microsoft.com/office/drawing/2014/main" id="{10B78589-7E15-1625-3D51-35646E1E96B4}"/>
                </a:ext>
              </a:extLst>
            </p:cNvPr>
            <p:cNvPicPr>
              <a:picLocks noChangeAspect="1"/>
            </p:cNvPicPr>
            <p:nvPr/>
          </p:nvPicPr>
          <p:blipFill>
            <a:blip r:embed="rId5"/>
            <a:stretch>
              <a:fillRect/>
            </a:stretch>
          </p:blipFill>
          <p:spPr>
            <a:xfrm>
              <a:off x="1892409" y="3924738"/>
              <a:ext cx="1440000" cy="501185"/>
            </a:xfrm>
            <a:prstGeom prst="rect">
              <a:avLst/>
            </a:prstGeom>
            <a:effectLst/>
          </p:spPr>
        </p:pic>
        <p:pic>
          <p:nvPicPr>
            <p:cNvPr id="85" name="图片 84" descr="图片2">
              <a:extLst>
                <a:ext uri="{FF2B5EF4-FFF2-40B4-BE49-F238E27FC236}">
                  <a16:creationId xmlns:a16="http://schemas.microsoft.com/office/drawing/2014/main" id="{8C11C43C-B280-BC30-E6F6-6F1EB52EE427}"/>
                </a:ext>
              </a:extLst>
            </p:cNvPr>
            <p:cNvPicPr>
              <a:picLocks noChangeAspect="1"/>
            </p:cNvPicPr>
            <p:nvPr/>
          </p:nvPicPr>
          <p:blipFill>
            <a:blip r:embed="rId6"/>
            <a:srcRect l="445" t="519"/>
            <a:stretch>
              <a:fillRect/>
            </a:stretch>
          </p:blipFill>
          <p:spPr>
            <a:xfrm>
              <a:off x="6825767" y="3151652"/>
              <a:ext cx="1440000" cy="566056"/>
            </a:xfrm>
            <a:prstGeom prst="snip2SameRect">
              <a:avLst/>
            </a:prstGeom>
            <a:effectLst/>
          </p:spPr>
        </p:pic>
        <p:pic>
          <p:nvPicPr>
            <p:cNvPr id="86" name="图片 85">
              <a:extLst>
                <a:ext uri="{FF2B5EF4-FFF2-40B4-BE49-F238E27FC236}">
                  <a16:creationId xmlns:a16="http://schemas.microsoft.com/office/drawing/2014/main" id="{05BD1B09-F58F-3926-FB46-B8F07AE1C945}"/>
                </a:ext>
              </a:extLst>
            </p:cNvPr>
            <p:cNvPicPr>
              <a:picLocks noChangeAspect="1"/>
            </p:cNvPicPr>
            <p:nvPr/>
          </p:nvPicPr>
          <p:blipFill>
            <a:blip r:embed="rId7">
              <a:clrChange>
                <a:clrFrom>
                  <a:srgbClr val="FFFFFF"/>
                </a:clrFrom>
                <a:clrTo>
                  <a:srgbClr val="FFFFFF">
                    <a:alpha val="0"/>
                  </a:srgbClr>
                </a:clrTo>
              </a:clrChange>
            </a:blip>
            <a:srcRect l="17917" t="18722" r="4849" b="32074"/>
            <a:stretch>
              <a:fillRect/>
            </a:stretch>
          </p:blipFill>
          <p:spPr>
            <a:xfrm>
              <a:off x="4665183" y="3257019"/>
              <a:ext cx="1440000" cy="419696"/>
            </a:xfrm>
            <a:prstGeom prst="rect">
              <a:avLst/>
            </a:prstGeom>
            <a:effectLst/>
          </p:spPr>
        </p:pic>
        <p:pic>
          <p:nvPicPr>
            <p:cNvPr id="87" name="图片 86">
              <a:extLst>
                <a:ext uri="{FF2B5EF4-FFF2-40B4-BE49-F238E27FC236}">
                  <a16:creationId xmlns:a16="http://schemas.microsoft.com/office/drawing/2014/main" id="{85ED7087-B00A-0F39-F253-D3EEA0E5B5FF}"/>
                </a:ext>
              </a:extLst>
            </p:cNvPr>
            <p:cNvPicPr>
              <a:picLocks noChangeAspect="1"/>
            </p:cNvPicPr>
            <p:nvPr/>
          </p:nvPicPr>
          <p:blipFill>
            <a:blip r:embed="rId8">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l="53177" t="653" r="1231" b="62790"/>
            <a:stretch>
              <a:fillRect/>
            </a:stretch>
          </p:blipFill>
          <p:spPr>
            <a:xfrm>
              <a:off x="6105767" y="2432852"/>
              <a:ext cx="1440000" cy="551003"/>
            </a:xfrm>
            <a:prstGeom prst="rect">
              <a:avLst/>
            </a:prstGeom>
            <a:noFill/>
            <a:ln>
              <a:noFill/>
            </a:ln>
            <a:effectLst/>
          </p:spPr>
        </p:pic>
        <p:pic>
          <p:nvPicPr>
            <p:cNvPr id="88" name="图片 87">
              <a:extLst>
                <a:ext uri="{FF2B5EF4-FFF2-40B4-BE49-F238E27FC236}">
                  <a16:creationId xmlns:a16="http://schemas.microsoft.com/office/drawing/2014/main" id="{1C16C7FF-CE88-909E-8787-AE062764768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469482" flipH="1">
              <a:off x="3029486" y="3374840"/>
              <a:ext cx="1440000" cy="348668"/>
            </a:xfrm>
            <a:prstGeom prst="rect">
              <a:avLst/>
            </a:prstGeom>
            <a:effectLst/>
          </p:spPr>
        </p:pic>
        <p:sp>
          <p:nvSpPr>
            <p:cNvPr id="89" name="文本框 88">
              <a:extLst>
                <a:ext uri="{FF2B5EF4-FFF2-40B4-BE49-F238E27FC236}">
                  <a16:creationId xmlns:a16="http://schemas.microsoft.com/office/drawing/2014/main" id="{F5A6FC20-6F64-5EEA-4482-50B87121E97F}"/>
                </a:ext>
              </a:extLst>
            </p:cNvPr>
            <p:cNvSpPr txBox="1"/>
            <p:nvPr/>
          </p:nvSpPr>
          <p:spPr>
            <a:xfrm>
              <a:off x="1887794" y="1385740"/>
              <a:ext cx="2184585" cy="369332"/>
            </a:xfrm>
            <a:prstGeom prst="rect">
              <a:avLst/>
            </a:prstGeom>
            <a:noFill/>
          </p:spPr>
          <p:txBody>
            <a:bodyPr wrap="square" rtlCol="0">
              <a:spAutoFit/>
            </a:bodyPr>
            <a:lstStyle/>
            <a:p>
              <a:r>
                <a:rPr lang="zh-CN" altLang="en-US" b="1" dirty="0">
                  <a:solidFill>
                    <a:srgbClr val="002060"/>
                  </a:solidFill>
                  <a:latin typeface="微软雅黑" panose="020B0503020204020204" pitchFamily="34" charset="-122"/>
                  <a:ea typeface="微软雅黑" panose="020B0503020204020204" pitchFamily="34" charset="-122"/>
                </a:rPr>
                <a:t>声爆强度（</a:t>
              </a:r>
              <a:r>
                <a:rPr lang="en-US" altLang="zh-CN" b="1" dirty="0">
                  <a:solidFill>
                    <a:srgbClr val="002060"/>
                  </a:solidFill>
                  <a:latin typeface="微软雅黑" panose="020B0503020204020204" pitchFamily="34" charset="-122"/>
                  <a:ea typeface="微软雅黑" panose="020B0503020204020204" pitchFamily="34" charset="-122"/>
                </a:rPr>
                <a:t>PLdB</a:t>
              </a:r>
              <a:r>
                <a:rPr lang="zh-CN" altLang="en-US" b="1" dirty="0">
                  <a:solidFill>
                    <a:srgbClr val="002060"/>
                  </a:solidFill>
                  <a:latin typeface="微软雅黑" panose="020B0503020204020204" pitchFamily="34" charset="-122"/>
                  <a:ea typeface="微软雅黑" panose="020B0503020204020204" pitchFamily="34" charset="-122"/>
                </a:rPr>
                <a:t>）</a:t>
              </a:r>
            </a:p>
          </p:txBody>
        </p:sp>
        <p:sp>
          <p:nvSpPr>
            <p:cNvPr id="90" name="文本框 89">
              <a:extLst>
                <a:ext uri="{FF2B5EF4-FFF2-40B4-BE49-F238E27FC236}">
                  <a16:creationId xmlns:a16="http://schemas.microsoft.com/office/drawing/2014/main" id="{4ACEC6A4-5FFD-6406-23D3-7EC45E43400C}"/>
                </a:ext>
              </a:extLst>
            </p:cNvPr>
            <p:cNvSpPr txBox="1"/>
            <p:nvPr/>
          </p:nvSpPr>
          <p:spPr>
            <a:xfrm>
              <a:off x="8544044" y="5390090"/>
              <a:ext cx="669893" cy="369332"/>
            </a:xfrm>
            <a:prstGeom prst="rect">
              <a:avLst/>
            </a:prstGeom>
            <a:noFill/>
          </p:spPr>
          <p:txBody>
            <a:bodyPr wrap="square" rtlCol="0">
              <a:spAutoFit/>
            </a:bodyPr>
            <a:lstStyle/>
            <a:p>
              <a:r>
                <a:rPr lang="zh-CN" altLang="en-US" b="1" dirty="0">
                  <a:solidFill>
                    <a:srgbClr val="002060"/>
                  </a:solidFill>
                  <a:latin typeface="微软雅黑" panose="020B0503020204020204" pitchFamily="34" charset="-122"/>
                  <a:ea typeface="微软雅黑" panose="020B0503020204020204" pitchFamily="34" charset="-122"/>
                </a:rPr>
                <a:t>座级</a:t>
              </a:r>
            </a:p>
          </p:txBody>
        </p:sp>
        <p:cxnSp>
          <p:nvCxnSpPr>
            <p:cNvPr id="91" name="直接连接符 90">
              <a:extLst>
                <a:ext uri="{FF2B5EF4-FFF2-40B4-BE49-F238E27FC236}">
                  <a16:creationId xmlns:a16="http://schemas.microsoft.com/office/drawing/2014/main" id="{32050F5D-D647-6CC7-D9DB-AE1F60628D3F}"/>
                </a:ext>
              </a:extLst>
            </p:cNvPr>
            <p:cNvCxnSpPr>
              <a:cxnSpLocks/>
            </p:cNvCxnSpPr>
            <p:nvPr/>
          </p:nvCxnSpPr>
          <p:spPr>
            <a:xfrm>
              <a:off x="1833716" y="4872038"/>
              <a:ext cx="6647790" cy="0"/>
            </a:xfrm>
            <a:prstGeom prst="line">
              <a:avLst/>
            </a:prstGeom>
            <a:ln>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92" name="文本框 91">
              <a:extLst>
                <a:ext uri="{FF2B5EF4-FFF2-40B4-BE49-F238E27FC236}">
                  <a16:creationId xmlns:a16="http://schemas.microsoft.com/office/drawing/2014/main" id="{9D8CAA87-967B-8111-D168-15DE7AE6CDE8}"/>
                </a:ext>
              </a:extLst>
            </p:cNvPr>
            <p:cNvSpPr txBox="1"/>
            <p:nvPr/>
          </p:nvSpPr>
          <p:spPr>
            <a:xfrm>
              <a:off x="2203361" y="5047086"/>
              <a:ext cx="5849185" cy="369332"/>
            </a:xfrm>
            <a:prstGeom prst="rect">
              <a:avLst/>
            </a:prstGeom>
            <a:noFill/>
          </p:spPr>
          <p:txBody>
            <a:bodyPr wrap="square" rtlCol="0">
              <a:spAutoFit/>
            </a:bodyPr>
            <a:lstStyle/>
            <a:p>
              <a:pPr algn="ctr"/>
              <a:r>
                <a:rPr lang="en-US" altLang="zh-CN" b="1" spc="300" dirty="0">
                  <a:solidFill>
                    <a:srgbClr val="002060"/>
                  </a:solidFill>
                  <a:latin typeface="微软雅黑" panose="020B0503020204020204" pitchFamily="34" charset="-122"/>
                  <a:ea typeface="微软雅黑" panose="020B0503020204020204" pitchFamily="34" charset="-122"/>
                </a:rPr>
                <a:t>NASA”N+3”</a:t>
              </a:r>
              <a:r>
                <a:rPr lang="zh-CN" altLang="en-US" b="1" spc="300" dirty="0">
                  <a:solidFill>
                    <a:srgbClr val="002060"/>
                  </a:solidFill>
                  <a:latin typeface="微软雅黑" panose="020B0503020204020204" pitchFamily="34" charset="-122"/>
                  <a:ea typeface="微软雅黑" panose="020B0503020204020204" pitchFamily="34" charset="-122"/>
                </a:rPr>
                <a:t>计划要求声爆强度≤</a:t>
              </a:r>
              <a:r>
                <a:rPr lang="en-US" altLang="zh-CN" b="1" spc="300" dirty="0">
                  <a:solidFill>
                    <a:srgbClr val="002060"/>
                  </a:solidFill>
                  <a:latin typeface="微软雅黑" panose="020B0503020204020204" pitchFamily="34" charset="-122"/>
                  <a:ea typeface="微软雅黑" panose="020B0503020204020204" pitchFamily="34" charset="-122"/>
                </a:rPr>
                <a:t>70PLdB</a:t>
              </a:r>
              <a:endParaRPr lang="zh-CN" altLang="en-US" b="1" spc="300" dirty="0">
                <a:solidFill>
                  <a:srgbClr val="002060"/>
                </a:solidFill>
                <a:latin typeface="微软雅黑" panose="020B0503020204020204" pitchFamily="34" charset="-122"/>
                <a:ea typeface="微软雅黑" panose="020B0503020204020204" pitchFamily="34" charset="-122"/>
              </a:endParaRPr>
            </a:p>
          </p:txBody>
        </p:sp>
        <p:sp>
          <p:nvSpPr>
            <p:cNvPr id="93" name="文本框 92">
              <a:extLst>
                <a:ext uri="{FF2B5EF4-FFF2-40B4-BE49-F238E27FC236}">
                  <a16:creationId xmlns:a16="http://schemas.microsoft.com/office/drawing/2014/main" id="{4007C524-BC8E-C446-1E29-7E9E83829C60}"/>
                </a:ext>
              </a:extLst>
            </p:cNvPr>
            <p:cNvSpPr txBox="1"/>
            <p:nvPr/>
          </p:nvSpPr>
          <p:spPr>
            <a:xfrm>
              <a:off x="1866393" y="3677796"/>
              <a:ext cx="1366903" cy="307777"/>
            </a:xfrm>
            <a:prstGeom prst="rect">
              <a:avLst/>
            </a:prstGeom>
            <a:noFill/>
          </p:spPr>
          <p:txBody>
            <a:bodyPr wrap="square" rtlCol="0">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NASA X-59</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94" name="文本框 93">
              <a:extLst>
                <a:ext uri="{FF2B5EF4-FFF2-40B4-BE49-F238E27FC236}">
                  <a16:creationId xmlns:a16="http://schemas.microsoft.com/office/drawing/2014/main" id="{A48E44B3-1FEE-EDB5-9684-B0A881CE7CB4}"/>
                </a:ext>
              </a:extLst>
            </p:cNvPr>
            <p:cNvSpPr txBox="1"/>
            <p:nvPr/>
          </p:nvSpPr>
          <p:spPr>
            <a:xfrm>
              <a:off x="3096333" y="2948202"/>
              <a:ext cx="1306306" cy="307777"/>
            </a:xfrm>
            <a:prstGeom prst="rect">
              <a:avLst/>
            </a:prstGeom>
            <a:noFill/>
          </p:spPr>
          <p:txBody>
            <a:bodyPr wrap="square" rtlCol="0">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Spike S-512</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95" name="文本框 94">
              <a:extLst>
                <a:ext uri="{FF2B5EF4-FFF2-40B4-BE49-F238E27FC236}">
                  <a16:creationId xmlns:a16="http://schemas.microsoft.com/office/drawing/2014/main" id="{BA64176E-A162-CF5E-1F23-2D3D58479CF6}"/>
                </a:ext>
              </a:extLst>
            </p:cNvPr>
            <p:cNvSpPr txBox="1"/>
            <p:nvPr/>
          </p:nvSpPr>
          <p:spPr>
            <a:xfrm>
              <a:off x="4662146" y="2952651"/>
              <a:ext cx="1443035" cy="307777"/>
            </a:xfrm>
            <a:prstGeom prst="rect">
              <a:avLst/>
            </a:prstGeom>
            <a:noFill/>
          </p:spPr>
          <p:txBody>
            <a:bodyPr wrap="square" rtlCol="0">
              <a:spAutoFit/>
            </a:bodyPr>
            <a:lstStyle/>
            <a:p>
              <a:pPr algn="ctr"/>
              <a:r>
                <a:rPr lang="en-US" altLang="zh-CN" sz="1400" b="1" dirty="0" err="1">
                  <a:solidFill>
                    <a:srgbClr val="C00000"/>
                  </a:solidFill>
                  <a:latin typeface="微软雅黑" panose="020B0503020204020204" pitchFamily="34" charset="-122"/>
                  <a:ea typeface="微软雅黑" panose="020B0503020204020204" pitchFamily="34" charset="-122"/>
                </a:rPr>
                <a:t>TsAGI</a:t>
              </a:r>
              <a:r>
                <a:rPr lang="en-US" altLang="zh-CN" sz="1400" b="1" dirty="0">
                  <a:solidFill>
                    <a:srgbClr val="C00000"/>
                  </a:solidFill>
                  <a:latin typeface="微软雅黑" panose="020B0503020204020204" pitchFamily="34" charset="-122"/>
                  <a:ea typeface="微软雅黑" panose="020B0503020204020204" pitchFamily="34" charset="-122"/>
                </a:rPr>
                <a:t> Strizh</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96" name="文本框 95">
              <a:extLst>
                <a:ext uri="{FF2B5EF4-FFF2-40B4-BE49-F238E27FC236}">
                  <a16:creationId xmlns:a16="http://schemas.microsoft.com/office/drawing/2014/main" id="{14478592-ED07-7DE2-8811-60653D76DC59}"/>
                </a:ext>
              </a:extLst>
            </p:cNvPr>
            <p:cNvSpPr txBox="1"/>
            <p:nvPr/>
          </p:nvSpPr>
          <p:spPr>
            <a:xfrm>
              <a:off x="6332625" y="2102227"/>
              <a:ext cx="1018781" cy="307777"/>
            </a:xfrm>
            <a:prstGeom prst="rect">
              <a:avLst/>
            </a:prstGeom>
            <a:noFill/>
          </p:spPr>
          <p:txBody>
            <a:bodyPr wrap="square" rtlCol="0">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JAXA S4</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97" name="文本框 96">
              <a:extLst>
                <a:ext uri="{FF2B5EF4-FFF2-40B4-BE49-F238E27FC236}">
                  <a16:creationId xmlns:a16="http://schemas.microsoft.com/office/drawing/2014/main" id="{11B7075E-F80D-EB9D-17FB-E38402314BB8}"/>
                </a:ext>
              </a:extLst>
            </p:cNvPr>
            <p:cNvSpPr txBox="1"/>
            <p:nvPr/>
          </p:nvSpPr>
          <p:spPr>
            <a:xfrm>
              <a:off x="6890385" y="3670762"/>
              <a:ext cx="1306306" cy="307777"/>
            </a:xfrm>
            <a:prstGeom prst="rect">
              <a:avLst/>
            </a:prstGeom>
            <a:noFill/>
          </p:spPr>
          <p:txBody>
            <a:bodyPr wrap="square" rtlCol="0">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LM QSTA</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98" name="文本框 97">
              <a:extLst>
                <a:ext uri="{FF2B5EF4-FFF2-40B4-BE49-F238E27FC236}">
                  <a16:creationId xmlns:a16="http://schemas.microsoft.com/office/drawing/2014/main" id="{93D8B2AA-4913-089E-53E4-D9AA42522144}"/>
                </a:ext>
              </a:extLst>
            </p:cNvPr>
            <p:cNvSpPr txBox="1"/>
            <p:nvPr/>
          </p:nvSpPr>
          <p:spPr>
            <a:xfrm>
              <a:off x="2076952" y="4316976"/>
              <a:ext cx="945783" cy="523220"/>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1</a:t>
              </a:r>
              <a:r>
                <a:rPr lang="zh-CN" altLang="en-US" sz="1400" b="1" dirty="0">
                  <a:solidFill>
                    <a:srgbClr val="002060"/>
                  </a:solidFill>
                  <a:latin typeface="微软雅黑" panose="020B0503020204020204" pitchFamily="34" charset="-122"/>
                  <a:ea typeface="微软雅黑" panose="020B0503020204020204" pitchFamily="34" charset="-122"/>
                </a:rPr>
                <a:t>座级</a:t>
              </a:r>
              <a:endParaRPr lang="en-US" altLang="zh-CN" sz="1400" b="1" dirty="0">
                <a:solidFill>
                  <a:srgbClr val="002060"/>
                </a:solidFill>
                <a:latin typeface="微软雅黑" panose="020B0503020204020204" pitchFamily="34" charset="-122"/>
                <a:ea typeface="微软雅黑" panose="020B0503020204020204" pitchFamily="34" charset="-122"/>
              </a:endParaRPr>
            </a:p>
            <a:p>
              <a:pPr algn="ctr"/>
              <a:r>
                <a:rPr lang="en-US" altLang="zh-CN" sz="1400" b="1" dirty="0">
                  <a:solidFill>
                    <a:srgbClr val="002060"/>
                  </a:solidFill>
                  <a:latin typeface="微软雅黑" panose="020B0503020204020204" pitchFamily="34" charset="-122"/>
                  <a:ea typeface="微软雅黑" panose="020B0503020204020204" pitchFamily="34" charset="-122"/>
                </a:rPr>
                <a:t>75PLdB</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99" name="文本框 98">
              <a:extLst>
                <a:ext uri="{FF2B5EF4-FFF2-40B4-BE49-F238E27FC236}">
                  <a16:creationId xmlns:a16="http://schemas.microsoft.com/office/drawing/2014/main" id="{363C3770-73A6-5E75-60E9-AD8E70BA1183}"/>
                </a:ext>
              </a:extLst>
            </p:cNvPr>
            <p:cNvSpPr txBox="1"/>
            <p:nvPr/>
          </p:nvSpPr>
          <p:spPr>
            <a:xfrm>
              <a:off x="3510597" y="3552508"/>
              <a:ext cx="945783" cy="523220"/>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15</a:t>
              </a:r>
              <a:r>
                <a:rPr lang="zh-CN" altLang="en-US" sz="1400" b="1" dirty="0">
                  <a:solidFill>
                    <a:srgbClr val="002060"/>
                  </a:solidFill>
                  <a:latin typeface="微软雅黑" panose="020B0503020204020204" pitchFamily="34" charset="-122"/>
                  <a:ea typeface="微软雅黑" panose="020B0503020204020204" pitchFamily="34" charset="-122"/>
                </a:rPr>
                <a:t>座级</a:t>
              </a:r>
              <a:endParaRPr lang="en-US" altLang="zh-CN" sz="1400" b="1" dirty="0">
                <a:solidFill>
                  <a:srgbClr val="002060"/>
                </a:solidFill>
                <a:latin typeface="微软雅黑" panose="020B0503020204020204" pitchFamily="34" charset="-122"/>
                <a:ea typeface="微软雅黑" panose="020B0503020204020204" pitchFamily="34" charset="-122"/>
              </a:endParaRPr>
            </a:p>
            <a:p>
              <a:pPr algn="ctr"/>
              <a:r>
                <a:rPr lang="en-US" altLang="zh-CN" sz="1400" b="1" dirty="0">
                  <a:solidFill>
                    <a:srgbClr val="002060"/>
                  </a:solidFill>
                  <a:latin typeface="微软雅黑" panose="020B0503020204020204" pitchFamily="34" charset="-122"/>
                  <a:ea typeface="微软雅黑" panose="020B0503020204020204" pitchFamily="34" charset="-122"/>
                </a:rPr>
                <a:t>80PLdB</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100" name="文本框 99">
              <a:extLst>
                <a:ext uri="{FF2B5EF4-FFF2-40B4-BE49-F238E27FC236}">
                  <a16:creationId xmlns:a16="http://schemas.microsoft.com/office/drawing/2014/main" id="{1F7174B5-6222-301E-18D7-77A3531C7882}"/>
                </a:ext>
              </a:extLst>
            </p:cNvPr>
            <p:cNvSpPr txBox="1"/>
            <p:nvPr/>
          </p:nvSpPr>
          <p:spPr>
            <a:xfrm>
              <a:off x="4955212" y="3585719"/>
              <a:ext cx="945783" cy="523220"/>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20</a:t>
              </a:r>
              <a:r>
                <a:rPr lang="zh-CN" altLang="en-US" sz="1400" b="1" dirty="0">
                  <a:solidFill>
                    <a:srgbClr val="002060"/>
                  </a:solidFill>
                  <a:latin typeface="微软雅黑" panose="020B0503020204020204" pitchFamily="34" charset="-122"/>
                  <a:ea typeface="微软雅黑" panose="020B0503020204020204" pitchFamily="34" charset="-122"/>
                </a:rPr>
                <a:t>座级</a:t>
              </a:r>
              <a:endParaRPr lang="en-US" altLang="zh-CN" sz="1400" b="1" dirty="0">
                <a:solidFill>
                  <a:srgbClr val="002060"/>
                </a:solidFill>
                <a:latin typeface="微软雅黑" panose="020B0503020204020204" pitchFamily="34" charset="-122"/>
                <a:ea typeface="微软雅黑" panose="020B0503020204020204" pitchFamily="34" charset="-122"/>
              </a:endParaRPr>
            </a:p>
            <a:p>
              <a:pPr algn="ctr"/>
              <a:r>
                <a:rPr lang="en-US" altLang="zh-CN" sz="1400" b="1" dirty="0">
                  <a:solidFill>
                    <a:srgbClr val="002060"/>
                  </a:solidFill>
                  <a:latin typeface="微软雅黑" panose="020B0503020204020204" pitchFamily="34" charset="-122"/>
                  <a:ea typeface="微软雅黑" panose="020B0503020204020204" pitchFamily="34" charset="-122"/>
                </a:rPr>
                <a:t>78PLdB</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101" name="文本框 100">
              <a:extLst>
                <a:ext uri="{FF2B5EF4-FFF2-40B4-BE49-F238E27FC236}">
                  <a16:creationId xmlns:a16="http://schemas.microsoft.com/office/drawing/2014/main" id="{A0AA1BF3-5601-BB73-6707-982FA64DA92E}"/>
                </a:ext>
              </a:extLst>
            </p:cNvPr>
            <p:cNvSpPr txBox="1"/>
            <p:nvPr/>
          </p:nvSpPr>
          <p:spPr>
            <a:xfrm>
              <a:off x="6280120" y="2822980"/>
              <a:ext cx="945783" cy="523220"/>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36</a:t>
              </a:r>
              <a:r>
                <a:rPr lang="zh-CN" altLang="en-US" sz="1400" b="1" dirty="0">
                  <a:solidFill>
                    <a:srgbClr val="002060"/>
                  </a:solidFill>
                  <a:latin typeface="微软雅黑" panose="020B0503020204020204" pitchFamily="34" charset="-122"/>
                  <a:ea typeface="微软雅黑" panose="020B0503020204020204" pitchFamily="34" charset="-122"/>
                </a:rPr>
                <a:t>座级</a:t>
              </a:r>
              <a:endParaRPr lang="en-US" altLang="zh-CN" sz="1400" b="1" dirty="0">
                <a:solidFill>
                  <a:srgbClr val="002060"/>
                </a:solidFill>
                <a:latin typeface="微软雅黑" panose="020B0503020204020204" pitchFamily="34" charset="-122"/>
                <a:ea typeface="微软雅黑" panose="020B0503020204020204" pitchFamily="34" charset="-122"/>
              </a:endParaRPr>
            </a:p>
            <a:p>
              <a:pPr algn="ctr"/>
              <a:r>
                <a:rPr lang="en-US" altLang="zh-CN" sz="1400" b="1" dirty="0">
                  <a:solidFill>
                    <a:srgbClr val="002060"/>
                  </a:solidFill>
                  <a:latin typeface="微软雅黑" panose="020B0503020204020204" pitchFamily="34" charset="-122"/>
                  <a:ea typeface="微软雅黑" panose="020B0503020204020204" pitchFamily="34" charset="-122"/>
                </a:rPr>
                <a:t>85PLdB</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102" name="文本框 101">
              <a:extLst>
                <a:ext uri="{FF2B5EF4-FFF2-40B4-BE49-F238E27FC236}">
                  <a16:creationId xmlns:a16="http://schemas.microsoft.com/office/drawing/2014/main" id="{FBAD175E-D6D4-1726-4FEE-918BB666F5AD}"/>
                </a:ext>
              </a:extLst>
            </p:cNvPr>
            <p:cNvSpPr txBox="1"/>
            <p:nvPr/>
          </p:nvSpPr>
          <p:spPr>
            <a:xfrm>
              <a:off x="7070646" y="3950663"/>
              <a:ext cx="945783" cy="523220"/>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40</a:t>
              </a:r>
              <a:r>
                <a:rPr lang="zh-CN" altLang="en-US" sz="1400" b="1" dirty="0">
                  <a:solidFill>
                    <a:srgbClr val="002060"/>
                  </a:solidFill>
                  <a:latin typeface="微软雅黑" panose="020B0503020204020204" pitchFamily="34" charset="-122"/>
                  <a:ea typeface="微软雅黑" panose="020B0503020204020204" pitchFamily="34" charset="-122"/>
                </a:rPr>
                <a:t>座级</a:t>
              </a:r>
              <a:endParaRPr lang="en-US" altLang="zh-CN" sz="1400" b="1" dirty="0">
                <a:solidFill>
                  <a:srgbClr val="002060"/>
                </a:solidFill>
                <a:latin typeface="微软雅黑" panose="020B0503020204020204" pitchFamily="34" charset="-122"/>
                <a:ea typeface="微软雅黑" panose="020B0503020204020204" pitchFamily="34" charset="-122"/>
              </a:endParaRPr>
            </a:p>
            <a:p>
              <a:pPr algn="ctr"/>
              <a:r>
                <a:rPr lang="en-US" altLang="zh-CN" sz="1400" b="1" dirty="0">
                  <a:solidFill>
                    <a:srgbClr val="002060"/>
                  </a:solidFill>
                  <a:latin typeface="微软雅黑" panose="020B0503020204020204" pitchFamily="34" charset="-122"/>
                  <a:ea typeface="微软雅黑" panose="020B0503020204020204" pitchFamily="34" charset="-122"/>
                </a:rPr>
                <a:t>80PLdB</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103" name="文本框 102">
              <a:extLst>
                <a:ext uri="{FF2B5EF4-FFF2-40B4-BE49-F238E27FC236}">
                  <a16:creationId xmlns:a16="http://schemas.microsoft.com/office/drawing/2014/main" id="{0122AC40-8859-4219-0CC0-1D3E66D46F97}"/>
                </a:ext>
              </a:extLst>
            </p:cNvPr>
            <p:cNvSpPr txBox="1"/>
            <p:nvPr/>
          </p:nvSpPr>
          <p:spPr>
            <a:xfrm>
              <a:off x="1553710" y="5593557"/>
              <a:ext cx="443060" cy="338554"/>
            </a:xfrm>
            <a:prstGeom prst="rect">
              <a:avLst/>
            </a:prstGeom>
            <a:noFill/>
          </p:spPr>
          <p:txBody>
            <a:bodyPr wrap="square" rtlCol="0">
              <a:spAutoFit/>
            </a:bodyPr>
            <a:lstStyle/>
            <a:p>
              <a:pPr algn="ctr"/>
              <a:r>
                <a:rPr lang="en-US" altLang="zh-CN" sz="1600" b="1" dirty="0">
                  <a:solidFill>
                    <a:srgbClr val="002060"/>
                  </a:solidFill>
                  <a:latin typeface="微软雅黑" panose="020B0503020204020204" pitchFamily="34" charset="-122"/>
                  <a:ea typeface="微软雅黑" panose="020B0503020204020204" pitchFamily="34" charset="-122"/>
                </a:rPr>
                <a:t>0</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cxnSp>
          <p:nvCxnSpPr>
            <p:cNvPr id="104" name="直接连接符 103">
              <a:extLst>
                <a:ext uri="{FF2B5EF4-FFF2-40B4-BE49-F238E27FC236}">
                  <a16:creationId xmlns:a16="http://schemas.microsoft.com/office/drawing/2014/main" id="{36E3DEDB-EB26-3BDF-B2CA-66DDA364618F}"/>
                </a:ext>
              </a:extLst>
            </p:cNvPr>
            <p:cNvCxnSpPr/>
            <p:nvPr/>
          </p:nvCxnSpPr>
          <p:spPr>
            <a:xfrm>
              <a:off x="1887794" y="3426296"/>
              <a:ext cx="651077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105" name="直接连接符 104">
              <a:extLst>
                <a:ext uri="{FF2B5EF4-FFF2-40B4-BE49-F238E27FC236}">
                  <a16:creationId xmlns:a16="http://schemas.microsoft.com/office/drawing/2014/main" id="{FAA3B501-71DC-46B6-48D2-08387EE7AF34}"/>
                </a:ext>
              </a:extLst>
            </p:cNvPr>
            <p:cNvCxnSpPr/>
            <p:nvPr/>
          </p:nvCxnSpPr>
          <p:spPr>
            <a:xfrm>
              <a:off x="1866393" y="4148138"/>
              <a:ext cx="651077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106" name="直接连接符 105">
              <a:extLst>
                <a:ext uri="{FF2B5EF4-FFF2-40B4-BE49-F238E27FC236}">
                  <a16:creationId xmlns:a16="http://schemas.microsoft.com/office/drawing/2014/main" id="{9353A633-3DE7-2798-6121-21BE68F111E5}"/>
                </a:ext>
              </a:extLst>
            </p:cNvPr>
            <p:cNvCxnSpPr/>
            <p:nvPr/>
          </p:nvCxnSpPr>
          <p:spPr>
            <a:xfrm>
              <a:off x="1887794" y="2708353"/>
              <a:ext cx="651077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107" name="直接连接符 106">
              <a:extLst>
                <a:ext uri="{FF2B5EF4-FFF2-40B4-BE49-F238E27FC236}">
                  <a16:creationId xmlns:a16="http://schemas.microsoft.com/office/drawing/2014/main" id="{8D2A96DA-5DFB-1BAF-5A2F-0C0C93F609A6}"/>
                </a:ext>
              </a:extLst>
            </p:cNvPr>
            <p:cNvCxnSpPr/>
            <p:nvPr/>
          </p:nvCxnSpPr>
          <p:spPr>
            <a:xfrm>
              <a:off x="1887794" y="1987526"/>
              <a:ext cx="651077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grpSp>
    </p:spTree>
    <p:custDataLst>
      <p:tags r:id="rId1"/>
    </p:custDataLst>
    <p:extLst>
      <p:ext uri="{BB962C8B-B14F-4D97-AF65-F5344CB8AC3E}">
        <p14:creationId xmlns:p14="http://schemas.microsoft.com/office/powerpoint/2010/main" val="95030176"/>
      </p:ext>
    </p:extLst>
  </p:cSld>
  <p:clrMapOvr>
    <a:masterClrMapping/>
  </p:clrMapOvr>
  <mc:AlternateContent xmlns:mc="http://schemas.openxmlformats.org/markup-compatibility/2006" xmlns:p14="http://schemas.microsoft.com/office/powerpoint/2010/main">
    <mc:Choice Requires="p14">
      <p:transition spd="slow" p14:dur="2000" advTm="20472"/>
    </mc:Choice>
    <mc:Fallback xmlns="">
      <p:transition spd="slow" advTm="2047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81F03-2DB4-A24D-992D-D9CEF6F5581F}"/>
            </a:ext>
          </a:extLst>
        </p:cNvPr>
        <p:cNvGrpSpPr/>
        <p:nvPr/>
      </p:nvGrpSpPr>
      <p:grpSpPr>
        <a:xfrm>
          <a:off x="0" y="0"/>
          <a:ext cx="0" cy="0"/>
          <a:chOff x="0" y="0"/>
          <a:chExt cx="0" cy="0"/>
        </a:xfrm>
      </p:grpSpPr>
      <p:graphicFrame>
        <p:nvGraphicFramePr>
          <p:cNvPr id="15" name="表格 14">
            <a:extLst>
              <a:ext uri="{FF2B5EF4-FFF2-40B4-BE49-F238E27FC236}">
                <a16:creationId xmlns:a16="http://schemas.microsoft.com/office/drawing/2014/main" id="{8D797D71-494F-7776-156C-6FBB38D00939}"/>
              </a:ext>
            </a:extLst>
          </p:cNvPr>
          <p:cNvGraphicFramePr>
            <a:graphicFrameLocks noGrp="1"/>
          </p:cNvGraphicFramePr>
          <p:nvPr>
            <p:extLst>
              <p:ext uri="{D42A27DB-BD31-4B8C-83A1-F6EECF244321}">
                <p14:modId xmlns:p14="http://schemas.microsoft.com/office/powerpoint/2010/main" val="839804465"/>
              </p:ext>
            </p:extLst>
          </p:nvPr>
        </p:nvGraphicFramePr>
        <p:xfrm>
          <a:off x="456290" y="4246836"/>
          <a:ext cx="11279418" cy="1483360"/>
        </p:xfrm>
        <a:graphic>
          <a:graphicData uri="http://schemas.openxmlformats.org/drawingml/2006/table">
            <a:tbl>
              <a:tblPr firstRow="1" bandRow="1">
                <a:tableStyleId>{5C22544A-7EE6-4342-B048-85BDC9FD1C3A}</a:tableStyleId>
              </a:tblPr>
              <a:tblGrid>
                <a:gridCol w="5639709">
                  <a:extLst>
                    <a:ext uri="{9D8B030D-6E8A-4147-A177-3AD203B41FA5}">
                      <a16:colId xmlns:a16="http://schemas.microsoft.com/office/drawing/2014/main" val="3008395550"/>
                    </a:ext>
                  </a:extLst>
                </a:gridCol>
                <a:gridCol w="5639709">
                  <a:extLst>
                    <a:ext uri="{9D8B030D-6E8A-4147-A177-3AD203B41FA5}">
                      <a16:colId xmlns:a16="http://schemas.microsoft.com/office/drawing/2014/main" val="2561029543"/>
                    </a:ext>
                  </a:extLst>
                </a:gridCol>
              </a:tblGrid>
              <a:tr h="370840">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2148049"/>
                  </a:ext>
                </a:extLst>
              </a:tr>
              <a:tr h="370840">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19863811"/>
                  </a:ext>
                </a:extLst>
              </a:tr>
              <a:tr h="370840">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475482"/>
                  </a:ext>
                </a:extLst>
              </a:tr>
              <a:tr h="370840">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3517907"/>
                  </a:ext>
                </a:extLst>
              </a:tr>
            </a:tbl>
          </a:graphicData>
        </a:graphic>
      </p:graphicFrame>
      <p:sp>
        <p:nvSpPr>
          <p:cNvPr id="4" name="标题 1">
            <a:extLst>
              <a:ext uri="{FF2B5EF4-FFF2-40B4-BE49-F238E27FC236}">
                <a16:creationId xmlns:a16="http://schemas.microsoft.com/office/drawing/2014/main" id="{46CF3947-C3F7-DA62-C566-A118626FF35D}"/>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一</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研究背景与意义</a:t>
            </a:r>
            <a:endParaRPr kumimoji="0" lang="zh-CN" altLang="en-US" b="1" i="0" u="none" strike="noStrike" kern="1200" cap="none" spc="10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1" name="文本框 10">
            <a:extLst>
              <a:ext uri="{FF2B5EF4-FFF2-40B4-BE49-F238E27FC236}">
                <a16:creationId xmlns:a16="http://schemas.microsoft.com/office/drawing/2014/main" id="{5CE99680-4888-D5EE-9127-85C28F886AC4}"/>
              </a:ext>
            </a:extLst>
          </p:cNvPr>
          <p:cNvSpPr txBox="1"/>
          <p:nvPr/>
        </p:nvSpPr>
        <p:spPr>
          <a:xfrm>
            <a:off x="1266925" y="4299725"/>
            <a:ext cx="3587949" cy="276999"/>
          </a:xfrm>
          <a:prstGeom prst="rect">
            <a:avLst/>
          </a:prstGeom>
          <a:noFill/>
        </p:spPr>
        <p:txBody>
          <a:bodyPr wrap="square" lIns="0" tIns="0" rIns="0" bIns="0" rtlCol="0">
            <a:spAutoFit/>
          </a:bodyPr>
          <a:lstStyle/>
          <a:p>
            <a:pPr algn="ct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Concorde</a:t>
            </a: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“协和”（</a:t>
            </a: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1976-2003</a:t>
            </a: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a:t>
            </a:r>
            <a:endParaRPr lang="en-US" altLang="zh-CN"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 name="文本框 1">
            <a:extLst>
              <a:ext uri="{FF2B5EF4-FFF2-40B4-BE49-F238E27FC236}">
                <a16:creationId xmlns:a16="http://schemas.microsoft.com/office/drawing/2014/main" id="{C01646A4-59AD-559F-6BED-09A06143836B}"/>
              </a:ext>
            </a:extLst>
          </p:cNvPr>
          <p:cNvSpPr txBox="1"/>
          <p:nvPr/>
        </p:nvSpPr>
        <p:spPr>
          <a:xfrm>
            <a:off x="677467" y="4647267"/>
            <a:ext cx="4719980" cy="1076705"/>
          </a:xfrm>
          <a:prstGeom prst="rect">
            <a:avLst/>
          </a:prstGeom>
          <a:noFill/>
        </p:spPr>
        <p:txBody>
          <a:bodyPr wrap="square" lIns="0" tIns="0" rIns="0" bIns="0" rtlCol="0">
            <a:spAutoFit/>
          </a:bodyPr>
          <a:lstStyle/>
          <a:p>
            <a:pPr algn="ctr">
              <a:lnSpc>
                <a:spcPct val="120000"/>
              </a:lnSpc>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核心航线：伦敦</a:t>
            </a: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纽约（航程＜</a:t>
            </a: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5000km</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a:p>
            <a:pPr algn="ctr">
              <a:lnSpc>
                <a:spcPct val="120000"/>
              </a:lnSpc>
            </a:pP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海上</a:t>
            </a:r>
            <a:r>
              <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rPr>
              <a:t>2.02</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马赫，陆地</a:t>
            </a:r>
            <a:r>
              <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rPr>
              <a:t>0.95</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马赫</a:t>
            </a:r>
            <a:endPar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endParaRPr>
          </a:p>
          <a:p>
            <a:pPr algn="ctr">
              <a:lnSpc>
                <a:spcPct val="120000"/>
              </a:lnSpc>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票价换算约</a:t>
            </a:r>
            <a:r>
              <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rPr>
              <a:t>20000</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美元</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3" name="文本框 2">
            <a:extLst>
              <a:ext uri="{FF2B5EF4-FFF2-40B4-BE49-F238E27FC236}">
                <a16:creationId xmlns:a16="http://schemas.microsoft.com/office/drawing/2014/main" id="{C6D90153-D679-1B77-C6A9-5D6D408C48BB}"/>
              </a:ext>
            </a:extLst>
          </p:cNvPr>
          <p:cNvSpPr txBox="1"/>
          <p:nvPr/>
        </p:nvSpPr>
        <p:spPr>
          <a:xfrm>
            <a:off x="996949" y="782990"/>
            <a:ext cx="10198100" cy="461665"/>
          </a:xfrm>
          <a:prstGeom prst="rect">
            <a:avLst/>
          </a:prstGeom>
          <a:noFill/>
        </p:spPr>
        <p:txBody>
          <a:bodyPr wrap="square">
            <a:spAutoFit/>
          </a:bodyPr>
          <a:lstStyle/>
          <a:p>
            <a:pPr algn="ctr">
              <a:spcAft>
                <a:spcPts val="600"/>
              </a:spcAft>
              <a:defRPr/>
            </a:pP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利用飞行策略规避低声爆限制是现阶段超声速民机的主流商业方案</a:t>
            </a:r>
            <a:endParaRPr lang="zh-CN" altLang="en-US" sz="2400" b="1" spc="100" dirty="0">
              <a:solidFill>
                <a:srgbClr val="0C3387"/>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6DEFDA64-E3A3-CDE5-BDD7-690ACFB07A74}"/>
              </a:ext>
            </a:extLst>
          </p:cNvPr>
          <p:cNvPicPr>
            <a:picLocks noChangeAspect="1"/>
          </p:cNvPicPr>
          <p:nvPr/>
        </p:nvPicPr>
        <p:blipFill rotWithShape="1">
          <a:blip r:embed="rId4"/>
          <a:srcRect l="9214" r="3004"/>
          <a:stretch>
            <a:fillRect/>
          </a:stretch>
        </p:blipFill>
        <p:spPr>
          <a:xfrm>
            <a:off x="456292" y="1371619"/>
            <a:ext cx="5209214" cy="2799017"/>
          </a:xfrm>
          <a:prstGeom prst="rect">
            <a:avLst/>
          </a:prstGeom>
          <a:effectLst>
            <a:outerShdw blurRad="50800" dist="38100" dir="2700000" algn="tl" rotWithShape="0">
              <a:prstClr val="black">
                <a:alpha val="40000"/>
              </a:prstClr>
            </a:outerShdw>
            <a:softEdge rad="127000"/>
          </a:effectLst>
        </p:spPr>
      </p:pic>
      <p:pic>
        <p:nvPicPr>
          <p:cNvPr id="9" name="图片 8">
            <a:extLst>
              <a:ext uri="{FF2B5EF4-FFF2-40B4-BE49-F238E27FC236}">
                <a16:creationId xmlns:a16="http://schemas.microsoft.com/office/drawing/2014/main" id="{55B58B4C-2C1D-3B97-C179-FDCE90BCFA0F}"/>
              </a:ext>
            </a:extLst>
          </p:cNvPr>
          <p:cNvPicPr>
            <a:picLocks noChangeAspect="1"/>
          </p:cNvPicPr>
          <p:nvPr/>
        </p:nvPicPr>
        <p:blipFill>
          <a:blip r:embed="rId5">
            <a:extLst>
              <a:ext uri="{28A0092B-C50C-407E-A947-70E740481C1C}">
                <a14:useLocalDpi xmlns:a14="http://schemas.microsoft.com/office/drawing/2010/main" val="0"/>
              </a:ext>
            </a:extLst>
          </a:blip>
          <a:srcRect l="18920" t="12806" r="15698" b="24881"/>
          <a:stretch>
            <a:fillRect/>
          </a:stretch>
        </p:blipFill>
        <p:spPr>
          <a:xfrm>
            <a:off x="6526496" y="1377969"/>
            <a:ext cx="5209214" cy="2792667"/>
          </a:xfrm>
          <a:prstGeom prst="rect">
            <a:avLst/>
          </a:prstGeom>
          <a:effectLst>
            <a:softEdge rad="127000"/>
          </a:effectLst>
        </p:spPr>
      </p:pic>
      <p:sp>
        <p:nvSpPr>
          <p:cNvPr id="10" name="矩形: 圆角 9">
            <a:extLst>
              <a:ext uri="{FF2B5EF4-FFF2-40B4-BE49-F238E27FC236}">
                <a16:creationId xmlns:a16="http://schemas.microsoft.com/office/drawing/2014/main" id="{AAD8F85E-35B4-1B79-8E86-410E98444B79}"/>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defRPr/>
            </a:pP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超声速民机的航程是决定其是否能够形成盈利模式的重要因素</a:t>
            </a:r>
            <a:endParaRPr lang="zh-CN" altLang="en-US" sz="2400" b="1" spc="100" dirty="0">
              <a:solidFill>
                <a:srgbClr val="0C3387"/>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571F47B2-22FF-9E26-250C-B709EF74F035}"/>
              </a:ext>
            </a:extLst>
          </p:cNvPr>
          <p:cNvSpPr txBox="1"/>
          <p:nvPr/>
        </p:nvSpPr>
        <p:spPr>
          <a:xfrm>
            <a:off x="6807003" y="4299725"/>
            <a:ext cx="4648200" cy="276999"/>
          </a:xfrm>
          <a:prstGeom prst="rect">
            <a:avLst/>
          </a:prstGeom>
          <a:noFill/>
        </p:spPr>
        <p:txBody>
          <a:bodyPr wrap="square" lIns="0" tIns="0" rIns="0" bIns="0" rtlCol="0">
            <a:spAutoFit/>
          </a:bodyPr>
          <a:lstStyle/>
          <a:p>
            <a:pPr algn="ct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Overture</a:t>
            </a: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“序曲”（已获</a:t>
            </a: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130</a:t>
            </a: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余架订单）</a:t>
            </a:r>
            <a:endParaRPr lang="en-US" altLang="zh-CN"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3" name="文本框 12">
            <a:extLst>
              <a:ext uri="{FF2B5EF4-FFF2-40B4-BE49-F238E27FC236}">
                <a16:creationId xmlns:a16="http://schemas.microsoft.com/office/drawing/2014/main" id="{83AC65BA-5E08-CCC7-56B8-0A63C01614FE}"/>
              </a:ext>
            </a:extLst>
          </p:cNvPr>
          <p:cNvSpPr txBox="1"/>
          <p:nvPr/>
        </p:nvSpPr>
        <p:spPr>
          <a:xfrm>
            <a:off x="6807003" y="4647267"/>
            <a:ext cx="4648200" cy="1076705"/>
          </a:xfrm>
          <a:prstGeom prst="rect">
            <a:avLst/>
          </a:prstGeom>
          <a:noFill/>
        </p:spPr>
        <p:txBody>
          <a:bodyPr wrap="square" lIns="0" tIns="0" rIns="0" bIns="0" rtlCol="0">
            <a:spAutoFit/>
          </a:bodyPr>
          <a:lstStyle/>
          <a:p>
            <a:pPr algn="ctr">
              <a:lnSpc>
                <a:spcPct val="120000"/>
              </a:lnSpc>
            </a:pP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18</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条典型航线（航程约</a:t>
            </a: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7800km</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a:p>
            <a:pPr algn="ctr">
              <a:lnSpc>
                <a:spcPct val="120000"/>
              </a:lnSpc>
            </a:pP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海上</a:t>
            </a:r>
            <a:r>
              <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rPr>
              <a:t>1.7</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马赫，陆地</a:t>
            </a:r>
            <a:r>
              <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rPr>
              <a:t>0.94</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马赫</a:t>
            </a:r>
            <a:endPar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endParaRPr>
          </a:p>
          <a:p>
            <a:pPr algn="ctr">
              <a:lnSpc>
                <a:spcPct val="120000"/>
              </a:lnSpc>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票价</a:t>
            </a: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4000-5000</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美元（对标现有商务舱）</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custDataLst>
      <p:tags r:id="rId1"/>
    </p:custDataLst>
    <p:extLst>
      <p:ext uri="{BB962C8B-B14F-4D97-AF65-F5344CB8AC3E}">
        <p14:creationId xmlns:p14="http://schemas.microsoft.com/office/powerpoint/2010/main" val="2723788852"/>
      </p:ext>
    </p:extLst>
  </p:cSld>
  <p:clrMapOvr>
    <a:masterClrMapping/>
  </p:clrMapOvr>
  <mc:AlternateContent xmlns:mc="http://schemas.openxmlformats.org/markup-compatibility/2006" xmlns:p14="http://schemas.microsoft.com/office/powerpoint/2010/main">
    <mc:Choice Requires="p14">
      <p:transition spd="slow" p14:dur="2000" advTm="20472"/>
    </mc:Choice>
    <mc:Fallback xmlns="">
      <p:transition spd="slow" advTm="2047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4B03E-F1A3-F255-3D97-94609321DF25}"/>
            </a:ext>
          </a:extLst>
        </p:cNvPr>
        <p:cNvGrpSpPr/>
        <p:nvPr/>
      </p:nvGrpSpPr>
      <p:grpSpPr>
        <a:xfrm>
          <a:off x="0" y="0"/>
          <a:ext cx="0" cy="0"/>
          <a:chOff x="0" y="0"/>
          <a:chExt cx="0" cy="0"/>
        </a:xfrm>
      </p:grpSpPr>
      <p:sp>
        <p:nvSpPr>
          <p:cNvPr id="52" name="矩形: 圆角 51">
            <a:extLst>
              <a:ext uri="{FF2B5EF4-FFF2-40B4-BE49-F238E27FC236}">
                <a16:creationId xmlns:a16="http://schemas.microsoft.com/office/drawing/2014/main" id="{C0BC7741-D1B4-6999-F500-F24E0FBB11A1}"/>
              </a:ext>
            </a:extLst>
          </p:cNvPr>
          <p:cNvSpPr/>
          <p:nvPr/>
        </p:nvSpPr>
        <p:spPr>
          <a:xfrm>
            <a:off x="294861" y="1520576"/>
            <a:ext cx="11602278" cy="4228443"/>
          </a:xfrm>
          <a:prstGeom prst="roundRect">
            <a:avLst/>
          </a:prstGeom>
          <a:solidFill>
            <a:schemeClr val="accent3">
              <a:lumMod val="20000"/>
              <a:lumOff val="80000"/>
              <a:alpha val="20000"/>
            </a:schemeClr>
          </a:solidFill>
          <a:ln w="9525">
            <a:solidFill>
              <a:srgbClr val="002060">
                <a:alpha val="50000"/>
              </a:srgb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4" name="标题 1">
            <a:extLst>
              <a:ext uri="{FF2B5EF4-FFF2-40B4-BE49-F238E27FC236}">
                <a16:creationId xmlns:a16="http://schemas.microsoft.com/office/drawing/2014/main" id="{3F62B20E-A9E6-6632-0744-BA8D4A831C9F}"/>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一</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研究背景与意义</a:t>
            </a:r>
            <a:endParaRPr kumimoji="0" lang="zh-CN" altLang="en-US" b="1" i="0" u="none" strike="noStrike" kern="1200" cap="none" spc="10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 name="矩形: 圆角 1">
            <a:extLst>
              <a:ext uri="{FF2B5EF4-FFF2-40B4-BE49-F238E27FC236}">
                <a16:creationId xmlns:a16="http://schemas.microsoft.com/office/drawing/2014/main" id="{51289324-3A2F-EF91-AD31-66A41CB03786}"/>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latin typeface="微软雅黑" panose="020B0503020204020204" pitchFamily="34" charset="-122"/>
                <a:ea typeface="微软雅黑" panose="020B0503020204020204" pitchFamily="34" charset="-122"/>
              </a:rPr>
              <a:t>在初期设计中应该将航迹规划纳入总体设计框架以保证方案的可用性</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1DFA4E45-ECF1-7E16-ACB1-5BC70212F30B}"/>
              </a:ext>
            </a:extLst>
          </p:cNvPr>
          <p:cNvPicPr>
            <a:picLocks noChangeAspect="1"/>
          </p:cNvPicPr>
          <p:nvPr/>
        </p:nvPicPr>
        <p:blipFill>
          <a:blip r:embed="rId4"/>
          <a:stretch>
            <a:fillRect/>
          </a:stretch>
        </p:blipFill>
        <p:spPr>
          <a:xfrm>
            <a:off x="7252258" y="1710091"/>
            <a:ext cx="3960000" cy="1953061"/>
          </a:xfrm>
          <a:prstGeom prst="rect">
            <a:avLst/>
          </a:prstGeom>
        </p:spPr>
      </p:pic>
      <p:sp>
        <p:nvSpPr>
          <p:cNvPr id="7" name="箭头: 右 6">
            <a:extLst>
              <a:ext uri="{FF2B5EF4-FFF2-40B4-BE49-F238E27FC236}">
                <a16:creationId xmlns:a16="http://schemas.microsoft.com/office/drawing/2014/main" id="{98733557-130B-6836-1E35-83AF5EABA7A2}"/>
              </a:ext>
            </a:extLst>
          </p:cNvPr>
          <p:cNvSpPr/>
          <p:nvPr/>
        </p:nvSpPr>
        <p:spPr>
          <a:xfrm>
            <a:off x="5784138" y="3321647"/>
            <a:ext cx="623724" cy="1111042"/>
          </a:xfrm>
          <a:prstGeom prst="rightArrow">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rgbClr val="002060"/>
              </a:solidFill>
              <a:latin typeface="Arial" pitchFamily="34" charset="0"/>
              <a:cs typeface="Arial" pitchFamily="34" charset="0"/>
            </a:endParaRPr>
          </a:p>
        </p:txBody>
      </p:sp>
      <p:grpSp>
        <p:nvGrpSpPr>
          <p:cNvPr id="39" name="组合 38">
            <a:extLst>
              <a:ext uri="{FF2B5EF4-FFF2-40B4-BE49-F238E27FC236}">
                <a16:creationId xmlns:a16="http://schemas.microsoft.com/office/drawing/2014/main" id="{2A87C8EA-F16F-89D8-525C-3C63EA371DE8}"/>
              </a:ext>
            </a:extLst>
          </p:cNvPr>
          <p:cNvGrpSpPr/>
          <p:nvPr/>
        </p:nvGrpSpPr>
        <p:grpSpPr>
          <a:xfrm>
            <a:off x="808398" y="1730639"/>
            <a:ext cx="4130349" cy="1662141"/>
            <a:chOff x="384465" y="1135373"/>
            <a:chExt cx="4130349" cy="1662141"/>
          </a:xfrm>
        </p:grpSpPr>
        <p:sp>
          <p:nvSpPr>
            <p:cNvPr id="11" name="任意多边形: 形状 10">
              <a:extLst>
                <a:ext uri="{FF2B5EF4-FFF2-40B4-BE49-F238E27FC236}">
                  <a16:creationId xmlns:a16="http://schemas.microsoft.com/office/drawing/2014/main" id="{9C38017E-4461-EA35-35FD-AAB2B562BCF9}"/>
                </a:ext>
              </a:extLst>
            </p:cNvPr>
            <p:cNvSpPr/>
            <p:nvPr/>
          </p:nvSpPr>
          <p:spPr>
            <a:xfrm>
              <a:off x="384465" y="1465768"/>
              <a:ext cx="4130349" cy="1331746"/>
            </a:xfrm>
            <a:custGeom>
              <a:avLst/>
              <a:gdLst>
                <a:gd name="csX0" fmla="*/ 0 w 4891087"/>
                <a:gd name="csY0" fmla="*/ 728663 h 738188"/>
                <a:gd name="csX1" fmla="*/ 414337 w 4891087"/>
                <a:gd name="csY1" fmla="*/ 728663 h 738188"/>
                <a:gd name="csX2" fmla="*/ 914400 w 4891087"/>
                <a:gd name="csY2" fmla="*/ 138113 h 738188"/>
                <a:gd name="csX3" fmla="*/ 3824287 w 4891087"/>
                <a:gd name="csY3" fmla="*/ 0 h 738188"/>
                <a:gd name="csX4" fmla="*/ 4305300 w 4891087"/>
                <a:gd name="csY4" fmla="*/ 733425 h 738188"/>
                <a:gd name="csX5" fmla="*/ 4891087 w 4891087"/>
                <a:gd name="csY5" fmla="*/ 738188 h 738188"/>
              </a:gdLst>
              <a:ahLst/>
              <a:cxnLst>
                <a:cxn ang="0">
                  <a:pos x="csX0" y="csY0"/>
                </a:cxn>
                <a:cxn ang="0">
                  <a:pos x="csX1" y="csY1"/>
                </a:cxn>
                <a:cxn ang="0">
                  <a:pos x="csX2" y="csY2"/>
                </a:cxn>
                <a:cxn ang="0">
                  <a:pos x="csX3" y="csY3"/>
                </a:cxn>
                <a:cxn ang="0">
                  <a:pos x="csX4" y="csY4"/>
                </a:cxn>
                <a:cxn ang="0">
                  <a:pos x="csX5" y="csY5"/>
                </a:cxn>
              </a:cxnLst>
              <a:rect l="l" t="t" r="r" b="b"/>
              <a:pathLst>
                <a:path w="4891087" h="738188">
                  <a:moveTo>
                    <a:pt x="0" y="728663"/>
                  </a:moveTo>
                  <a:lnTo>
                    <a:pt x="414337" y="728663"/>
                  </a:lnTo>
                  <a:lnTo>
                    <a:pt x="914400" y="138113"/>
                  </a:lnTo>
                  <a:lnTo>
                    <a:pt x="3824287" y="0"/>
                  </a:lnTo>
                  <a:lnTo>
                    <a:pt x="4305300" y="733425"/>
                  </a:lnTo>
                  <a:lnTo>
                    <a:pt x="4891087" y="738188"/>
                  </a:lnTo>
                </a:path>
              </a:pathLst>
            </a:cu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w="0"/>
                <a:solidFill>
                  <a:schemeClr val="accent1"/>
                </a:solidFill>
                <a:effectLst>
                  <a:outerShdw blurRad="38100" dist="25400" dir="5400000" algn="ctr" rotWithShape="0">
                    <a:srgbClr val="6E747A">
                      <a:alpha val="43000"/>
                    </a:srgbClr>
                  </a:outerShdw>
                </a:effectLst>
              </a:endParaRPr>
            </a:p>
          </p:txBody>
        </p:sp>
        <p:pic>
          <p:nvPicPr>
            <p:cNvPr id="15" name="图片 14">
              <a:extLst>
                <a:ext uri="{FF2B5EF4-FFF2-40B4-BE49-F238E27FC236}">
                  <a16:creationId xmlns:a16="http://schemas.microsoft.com/office/drawing/2014/main" id="{C25DA3B6-E326-B5E1-DE17-E5ECBE5DE4E9}"/>
                </a:ext>
              </a:extLst>
            </p:cNvPr>
            <p:cNvPicPr>
              <a:picLocks noChangeAspect="1"/>
            </p:cNvPicPr>
            <p:nvPr/>
          </p:nvPicPr>
          <p:blipFill>
            <a:blip r:embed="rId5">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rot="18925458">
              <a:off x="435015" y="1999888"/>
              <a:ext cx="660786" cy="660786"/>
            </a:xfrm>
            <a:prstGeom prst="rect">
              <a:avLst/>
            </a:prstGeom>
          </p:spPr>
        </p:pic>
        <p:pic>
          <p:nvPicPr>
            <p:cNvPr id="16" name="图片 15">
              <a:extLst>
                <a:ext uri="{FF2B5EF4-FFF2-40B4-BE49-F238E27FC236}">
                  <a16:creationId xmlns:a16="http://schemas.microsoft.com/office/drawing/2014/main" id="{DF288FBA-A47E-24B4-343B-7AF6DCAEC09E}"/>
                </a:ext>
              </a:extLst>
            </p:cNvPr>
            <p:cNvPicPr>
              <a:picLocks noChangeAspect="1"/>
            </p:cNvPicPr>
            <p:nvPr/>
          </p:nvPicPr>
          <p:blipFill>
            <a:blip r:embed="rId5">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rot="811608">
              <a:off x="1984136" y="1135373"/>
              <a:ext cx="660786" cy="660786"/>
            </a:xfrm>
            <a:prstGeom prst="rect">
              <a:avLst/>
            </a:prstGeom>
          </p:spPr>
        </p:pic>
        <p:pic>
          <p:nvPicPr>
            <p:cNvPr id="17" name="图片 16">
              <a:extLst>
                <a:ext uri="{FF2B5EF4-FFF2-40B4-BE49-F238E27FC236}">
                  <a16:creationId xmlns:a16="http://schemas.microsoft.com/office/drawing/2014/main" id="{F21702CA-5365-032D-B79C-5D04BC095BD0}"/>
                </a:ext>
              </a:extLst>
            </p:cNvPr>
            <p:cNvPicPr>
              <a:picLocks noChangeAspect="1"/>
            </p:cNvPicPr>
            <p:nvPr/>
          </p:nvPicPr>
          <p:blipFill>
            <a:blip r:embed="rId5">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rot="2144071">
              <a:off x="3676911" y="1711032"/>
              <a:ext cx="660786" cy="660786"/>
            </a:xfrm>
            <a:prstGeom prst="rect">
              <a:avLst/>
            </a:prstGeom>
          </p:spPr>
        </p:pic>
      </p:grpSp>
      <p:sp>
        <p:nvSpPr>
          <p:cNvPr id="22" name="文本框 21">
            <a:extLst>
              <a:ext uri="{FF2B5EF4-FFF2-40B4-BE49-F238E27FC236}">
                <a16:creationId xmlns:a16="http://schemas.microsoft.com/office/drawing/2014/main" id="{BB6FCF72-2FDB-98AA-502B-449DCD08F18E}"/>
              </a:ext>
            </a:extLst>
          </p:cNvPr>
          <p:cNvSpPr txBox="1"/>
          <p:nvPr/>
        </p:nvSpPr>
        <p:spPr>
          <a:xfrm>
            <a:off x="1903034" y="4950537"/>
            <a:ext cx="1751069" cy="246221"/>
          </a:xfrm>
          <a:prstGeom prst="rect">
            <a:avLst/>
          </a:prstGeom>
          <a:noFill/>
        </p:spPr>
        <p:txBody>
          <a:bodyPr wrap="square" lIns="0" tIns="0" rIns="0" bIns="0" rtlCol="0">
            <a:spAutoFit/>
          </a:bodyPr>
          <a:lstStyle/>
          <a:p>
            <a:pPr algn="ctr"/>
            <a:r>
              <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rPr>
              <a:t>存在亚声速巡航段</a:t>
            </a:r>
          </a:p>
        </p:txBody>
      </p:sp>
      <p:grpSp>
        <p:nvGrpSpPr>
          <p:cNvPr id="40" name="组合 39">
            <a:extLst>
              <a:ext uri="{FF2B5EF4-FFF2-40B4-BE49-F238E27FC236}">
                <a16:creationId xmlns:a16="http://schemas.microsoft.com/office/drawing/2014/main" id="{30223CE0-3F8B-ED0D-D49C-6CB15D6BA010}"/>
              </a:ext>
            </a:extLst>
          </p:cNvPr>
          <p:cNvGrpSpPr/>
          <p:nvPr/>
        </p:nvGrpSpPr>
        <p:grpSpPr>
          <a:xfrm>
            <a:off x="808398" y="3623482"/>
            <a:ext cx="4130349" cy="1701598"/>
            <a:chOff x="298175" y="3406314"/>
            <a:chExt cx="4130349" cy="1701598"/>
          </a:xfrm>
        </p:grpSpPr>
        <p:sp>
          <p:nvSpPr>
            <p:cNvPr id="10" name="任意多边形: 形状 9">
              <a:extLst>
                <a:ext uri="{FF2B5EF4-FFF2-40B4-BE49-F238E27FC236}">
                  <a16:creationId xmlns:a16="http://schemas.microsoft.com/office/drawing/2014/main" id="{A1446BC9-2FE1-F9DF-44E7-3E84A851B485}"/>
                </a:ext>
              </a:extLst>
            </p:cNvPr>
            <p:cNvSpPr/>
            <p:nvPr/>
          </p:nvSpPr>
          <p:spPr>
            <a:xfrm>
              <a:off x="298175" y="3776166"/>
              <a:ext cx="4130349" cy="1331746"/>
            </a:xfrm>
            <a:custGeom>
              <a:avLst/>
              <a:gdLst>
                <a:gd name="csX0" fmla="*/ 0 w 4905375"/>
                <a:gd name="csY0" fmla="*/ 781050 h 785812"/>
                <a:gd name="csX1" fmla="*/ 419100 w 4905375"/>
                <a:gd name="csY1" fmla="*/ 781050 h 785812"/>
                <a:gd name="csX2" fmla="*/ 695325 w 4905375"/>
                <a:gd name="csY2" fmla="*/ 452437 h 785812"/>
                <a:gd name="csX3" fmla="*/ 1262062 w 4905375"/>
                <a:gd name="csY3" fmla="*/ 457200 h 785812"/>
                <a:gd name="csX4" fmla="*/ 1666875 w 4905375"/>
                <a:gd name="csY4" fmla="*/ 100012 h 785812"/>
                <a:gd name="csX5" fmla="*/ 3757612 w 4905375"/>
                <a:gd name="csY5" fmla="*/ 0 h 785812"/>
                <a:gd name="csX6" fmla="*/ 4310062 w 4905375"/>
                <a:gd name="csY6" fmla="*/ 785812 h 785812"/>
                <a:gd name="csX7" fmla="*/ 4905375 w 4905375"/>
                <a:gd name="csY7" fmla="*/ 785812 h 785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905375" h="785812">
                  <a:moveTo>
                    <a:pt x="0" y="781050"/>
                  </a:moveTo>
                  <a:lnTo>
                    <a:pt x="419100" y="781050"/>
                  </a:lnTo>
                  <a:lnTo>
                    <a:pt x="695325" y="452437"/>
                  </a:lnTo>
                  <a:lnTo>
                    <a:pt x="1262062" y="457200"/>
                  </a:lnTo>
                  <a:lnTo>
                    <a:pt x="1666875" y="100012"/>
                  </a:lnTo>
                  <a:lnTo>
                    <a:pt x="3757612" y="0"/>
                  </a:lnTo>
                  <a:lnTo>
                    <a:pt x="4310062" y="785812"/>
                  </a:lnTo>
                  <a:lnTo>
                    <a:pt x="4905375" y="785812"/>
                  </a:lnTo>
                </a:path>
              </a:pathLst>
            </a:custGeom>
            <a:ln w="19050">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3C47B465-222E-CF8C-522C-98B279D745FB}"/>
                </a:ext>
              </a:extLst>
            </p:cNvPr>
            <p:cNvPicPr>
              <a:picLocks noChangeAspect="1"/>
            </p:cNvPicPr>
            <p:nvPr/>
          </p:nvPicPr>
          <p:blipFill>
            <a:blip r:embed="rId5">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rot="18925458">
              <a:off x="348727" y="4407026"/>
              <a:ext cx="660786" cy="660786"/>
            </a:xfrm>
            <a:prstGeom prst="rect">
              <a:avLst/>
            </a:prstGeom>
          </p:spPr>
        </p:pic>
        <p:pic>
          <p:nvPicPr>
            <p:cNvPr id="19" name="图片 18">
              <a:extLst>
                <a:ext uri="{FF2B5EF4-FFF2-40B4-BE49-F238E27FC236}">
                  <a16:creationId xmlns:a16="http://schemas.microsoft.com/office/drawing/2014/main" id="{91926EE5-5D9C-80A3-9FCF-8318C09EC9E7}"/>
                </a:ext>
              </a:extLst>
            </p:cNvPr>
            <p:cNvPicPr>
              <a:picLocks noChangeAspect="1"/>
            </p:cNvPicPr>
            <p:nvPr/>
          </p:nvPicPr>
          <p:blipFill>
            <a:blip r:embed="rId5">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rot="826684">
              <a:off x="2110908" y="3406314"/>
              <a:ext cx="660786" cy="660786"/>
            </a:xfrm>
            <a:prstGeom prst="rect">
              <a:avLst/>
            </a:prstGeom>
          </p:spPr>
        </p:pic>
        <p:pic>
          <p:nvPicPr>
            <p:cNvPr id="20" name="图片 19">
              <a:extLst>
                <a:ext uri="{FF2B5EF4-FFF2-40B4-BE49-F238E27FC236}">
                  <a16:creationId xmlns:a16="http://schemas.microsoft.com/office/drawing/2014/main" id="{9FAA86BC-CF58-C6DA-7B68-17C61C6A89B8}"/>
                </a:ext>
              </a:extLst>
            </p:cNvPr>
            <p:cNvPicPr>
              <a:picLocks noChangeAspect="1"/>
            </p:cNvPicPr>
            <p:nvPr/>
          </p:nvPicPr>
          <p:blipFill>
            <a:blip r:embed="rId5">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rot="2144071">
              <a:off x="3590623" y="4118170"/>
              <a:ext cx="660786" cy="660786"/>
            </a:xfrm>
            <a:prstGeom prst="rect">
              <a:avLst/>
            </a:prstGeom>
          </p:spPr>
        </p:pic>
        <p:pic>
          <p:nvPicPr>
            <p:cNvPr id="21" name="图片 20">
              <a:extLst>
                <a:ext uri="{FF2B5EF4-FFF2-40B4-BE49-F238E27FC236}">
                  <a16:creationId xmlns:a16="http://schemas.microsoft.com/office/drawing/2014/main" id="{DA4C539D-443F-43E6-B3A9-E369C139FE38}"/>
                </a:ext>
              </a:extLst>
            </p:cNvPr>
            <p:cNvPicPr>
              <a:picLocks noChangeAspect="1"/>
            </p:cNvPicPr>
            <p:nvPr/>
          </p:nvPicPr>
          <p:blipFill>
            <a:blip r:embed="rId5">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rot="1321294">
              <a:off x="830502" y="4085799"/>
              <a:ext cx="660786" cy="660786"/>
            </a:xfrm>
            <a:prstGeom prst="rect">
              <a:avLst/>
            </a:prstGeom>
          </p:spPr>
        </p:pic>
        <p:cxnSp>
          <p:nvCxnSpPr>
            <p:cNvPr id="24" name="直接箭头连接符 23">
              <a:extLst>
                <a:ext uri="{FF2B5EF4-FFF2-40B4-BE49-F238E27FC236}">
                  <a16:creationId xmlns:a16="http://schemas.microsoft.com/office/drawing/2014/main" id="{FC5F7490-FFC4-4F2D-0CB9-D67F204580F7}"/>
                </a:ext>
              </a:extLst>
            </p:cNvPr>
            <p:cNvCxnSpPr/>
            <p:nvPr/>
          </p:nvCxnSpPr>
          <p:spPr>
            <a:xfrm flipH="1" flipV="1">
              <a:off x="1160895" y="4602967"/>
              <a:ext cx="164471" cy="1884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文本框 24">
            <a:extLst>
              <a:ext uri="{FF2B5EF4-FFF2-40B4-BE49-F238E27FC236}">
                <a16:creationId xmlns:a16="http://schemas.microsoft.com/office/drawing/2014/main" id="{8D79B37F-9E61-6FC5-6A3C-00A25C8911D7}"/>
              </a:ext>
            </a:extLst>
          </p:cNvPr>
          <p:cNvSpPr txBox="1"/>
          <p:nvPr/>
        </p:nvSpPr>
        <p:spPr>
          <a:xfrm>
            <a:off x="556737" y="1869794"/>
            <a:ext cx="1551044"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常规任务剖面</a:t>
            </a:r>
          </a:p>
        </p:txBody>
      </p:sp>
      <p:sp>
        <p:nvSpPr>
          <p:cNvPr id="26" name="文本框 25">
            <a:extLst>
              <a:ext uri="{FF2B5EF4-FFF2-40B4-BE49-F238E27FC236}">
                <a16:creationId xmlns:a16="http://schemas.microsoft.com/office/drawing/2014/main" id="{67211648-98A9-BD63-3AB8-354E4A28D6D6}"/>
              </a:ext>
            </a:extLst>
          </p:cNvPr>
          <p:cNvSpPr txBox="1"/>
          <p:nvPr/>
        </p:nvSpPr>
        <p:spPr>
          <a:xfrm>
            <a:off x="470448" y="3835432"/>
            <a:ext cx="1723623"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商用超民任务剖面</a:t>
            </a:r>
          </a:p>
        </p:txBody>
      </p:sp>
      <p:sp>
        <p:nvSpPr>
          <p:cNvPr id="27" name="文本框 26">
            <a:extLst>
              <a:ext uri="{FF2B5EF4-FFF2-40B4-BE49-F238E27FC236}">
                <a16:creationId xmlns:a16="http://schemas.microsoft.com/office/drawing/2014/main" id="{E0BCA9FD-0D78-BE07-D000-8D3605D58D29}"/>
              </a:ext>
            </a:extLst>
          </p:cNvPr>
          <p:cNvSpPr txBox="1"/>
          <p:nvPr/>
        </p:nvSpPr>
        <p:spPr>
          <a:xfrm>
            <a:off x="2194071" y="2338212"/>
            <a:ext cx="1361590" cy="215444"/>
          </a:xfrm>
          <a:prstGeom prst="rect">
            <a:avLst/>
          </a:prstGeom>
          <a:noFill/>
        </p:spPr>
        <p:txBody>
          <a:bodyPr wrap="square" lIns="0" tIns="0" rIns="0" bIns="0" rtlCol="0">
            <a:spAutoFit/>
          </a:bodyPr>
          <a:lstStyle/>
          <a:p>
            <a:pPr algn="ctr"/>
            <a:r>
              <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rPr>
              <a:t>单一巡航段</a:t>
            </a:r>
          </a:p>
        </p:txBody>
      </p:sp>
      <p:pic>
        <p:nvPicPr>
          <p:cNvPr id="29" name="图片 28">
            <a:extLst>
              <a:ext uri="{FF2B5EF4-FFF2-40B4-BE49-F238E27FC236}">
                <a16:creationId xmlns:a16="http://schemas.microsoft.com/office/drawing/2014/main" id="{46E9482A-E7A8-90CE-CFA5-D3B17BE13B07}"/>
              </a:ext>
            </a:extLst>
          </p:cNvPr>
          <p:cNvPicPr>
            <a:picLocks noChangeAspect="1"/>
          </p:cNvPicPr>
          <p:nvPr/>
        </p:nvPicPr>
        <p:blipFill>
          <a:blip r:embed="rId6"/>
          <a:stretch>
            <a:fillRect/>
          </a:stretch>
        </p:blipFill>
        <p:spPr>
          <a:xfrm>
            <a:off x="7253253" y="3663152"/>
            <a:ext cx="3960000" cy="1930612"/>
          </a:xfrm>
          <a:prstGeom prst="rect">
            <a:avLst/>
          </a:prstGeom>
        </p:spPr>
      </p:pic>
      <p:sp>
        <p:nvSpPr>
          <p:cNvPr id="30" name="文本框 29">
            <a:extLst>
              <a:ext uri="{FF2B5EF4-FFF2-40B4-BE49-F238E27FC236}">
                <a16:creationId xmlns:a16="http://schemas.microsoft.com/office/drawing/2014/main" id="{9077F274-F0B2-9F3E-9AEA-38683740B410}"/>
              </a:ext>
            </a:extLst>
          </p:cNvPr>
          <p:cNvSpPr txBox="1"/>
          <p:nvPr/>
        </p:nvSpPr>
        <p:spPr>
          <a:xfrm>
            <a:off x="8800847" y="2039540"/>
            <a:ext cx="1664413" cy="492443"/>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超声速民机</a:t>
            </a:r>
            <a:endPar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任务剖面示意</a:t>
            </a:r>
          </a:p>
        </p:txBody>
      </p:sp>
      <p:cxnSp>
        <p:nvCxnSpPr>
          <p:cNvPr id="32" name="直接连接符 31">
            <a:extLst>
              <a:ext uri="{FF2B5EF4-FFF2-40B4-BE49-F238E27FC236}">
                <a16:creationId xmlns:a16="http://schemas.microsoft.com/office/drawing/2014/main" id="{4AE8D29A-9645-1820-ABB2-6665241E286B}"/>
              </a:ext>
            </a:extLst>
          </p:cNvPr>
          <p:cNvCxnSpPr>
            <a:cxnSpLocks/>
          </p:cNvCxnSpPr>
          <p:nvPr/>
        </p:nvCxnSpPr>
        <p:spPr>
          <a:xfrm>
            <a:off x="7859735" y="1753886"/>
            <a:ext cx="0" cy="3552825"/>
          </a:xfrm>
          <a:prstGeom prst="line">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973579F-150D-1A5A-5167-BC25023ECD2D}"/>
              </a:ext>
            </a:extLst>
          </p:cNvPr>
          <p:cNvCxnSpPr>
            <a:cxnSpLocks/>
          </p:cNvCxnSpPr>
          <p:nvPr/>
        </p:nvCxnSpPr>
        <p:spPr>
          <a:xfrm>
            <a:off x="8175721" y="1753886"/>
            <a:ext cx="0" cy="3552825"/>
          </a:xfrm>
          <a:prstGeom prst="line">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72ABEEF6-236F-F823-65A5-1AC7660FE4F0}"/>
              </a:ext>
            </a:extLst>
          </p:cNvPr>
          <p:cNvSpPr txBox="1"/>
          <p:nvPr/>
        </p:nvSpPr>
        <p:spPr>
          <a:xfrm>
            <a:off x="8330894" y="3982515"/>
            <a:ext cx="2129948" cy="492443"/>
          </a:xfrm>
          <a:prstGeom prst="rect">
            <a:avLst/>
          </a:prstGeom>
          <a:noFill/>
        </p:spPr>
        <p:txBody>
          <a:bodyPr wrap="square" lIns="0" tIns="0" rIns="0" bIns="0" rtlCol="0">
            <a:spAutoFit/>
          </a:bodyPr>
          <a:lstStyle/>
          <a:p>
            <a:pPr algn="ctr"/>
            <a:r>
              <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rPr>
              <a:t>亚声速巡航耗油率明显高于超声速巡航</a:t>
            </a:r>
          </a:p>
        </p:txBody>
      </p:sp>
      <p:cxnSp>
        <p:nvCxnSpPr>
          <p:cNvPr id="38" name="直接箭头连接符 37">
            <a:extLst>
              <a:ext uri="{FF2B5EF4-FFF2-40B4-BE49-F238E27FC236}">
                <a16:creationId xmlns:a16="http://schemas.microsoft.com/office/drawing/2014/main" id="{4D2764FF-ADC6-2BA0-EA57-CB92586329B9}"/>
              </a:ext>
            </a:extLst>
          </p:cNvPr>
          <p:cNvCxnSpPr>
            <a:cxnSpLocks/>
          </p:cNvCxnSpPr>
          <p:nvPr/>
        </p:nvCxnSpPr>
        <p:spPr>
          <a:xfrm flipH="1">
            <a:off x="8175721" y="4328229"/>
            <a:ext cx="290497" cy="2110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BC28D532-A4A6-39E7-A071-ACC07B0978E5}"/>
              </a:ext>
            </a:extLst>
          </p:cNvPr>
          <p:cNvCxnSpPr/>
          <p:nvPr/>
        </p:nvCxnSpPr>
        <p:spPr>
          <a:xfrm>
            <a:off x="0" y="5424757"/>
            <a:ext cx="12192000" cy="0"/>
          </a:xfrm>
          <a:prstGeom prst="line">
            <a:avLst/>
          </a:prstGeom>
          <a:ln>
            <a:solidFill>
              <a:schemeClr val="tx1">
                <a:alpha val="3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2A054790-D77E-2B4B-60E6-25A9D7C705AE}"/>
              </a:ext>
            </a:extLst>
          </p:cNvPr>
          <p:cNvCxnSpPr/>
          <p:nvPr/>
        </p:nvCxnSpPr>
        <p:spPr>
          <a:xfrm>
            <a:off x="0" y="3493810"/>
            <a:ext cx="12192000" cy="0"/>
          </a:xfrm>
          <a:prstGeom prst="line">
            <a:avLst/>
          </a:prstGeom>
          <a:ln>
            <a:solidFill>
              <a:schemeClr val="tx1">
                <a:alpha val="3000"/>
              </a:schemeClr>
            </a:solidFill>
            <a:tailEnd type="non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06CB47AF-158B-91EC-1290-0A7610448102}"/>
              </a:ext>
            </a:extLst>
          </p:cNvPr>
          <p:cNvSpPr txBox="1"/>
          <p:nvPr/>
        </p:nvSpPr>
        <p:spPr>
          <a:xfrm>
            <a:off x="294861" y="997908"/>
            <a:ext cx="9291266" cy="307777"/>
          </a:xfrm>
          <a:prstGeom prst="rect">
            <a:avLst/>
          </a:prstGeom>
          <a:noFill/>
        </p:spPr>
        <p:txBody>
          <a:bodyPr wrap="square" lIns="0" tIns="0" rIns="0" bIns="0" rtlCol="0">
            <a:spAutoFit/>
          </a:bodyPr>
          <a:lstStyle/>
          <a:p>
            <a:pPr marL="342900" indent="-342900">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现有的超声速民机设计通常使用常规飞行剖面作为起飞总重和航程的估算依据。</a:t>
            </a:r>
          </a:p>
        </p:txBody>
      </p:sp>
    </p:spTree>
    <p:custDataLst>
      <p:tags r:id="rId1"/>
    </p:custDataLst>
    <p:extLst>
      <p:ext uri="{BB962C8B-B14F-4D97-AF65-F5344CB8AC3E}">
        <p14:creationId xmlns:p14="http://schemas.microsoft.com/office/powerpoint/2010/main" val="882270693"/>
      </p:ext>
    </p:extLst>
  </p:cSld>
  <p:clrMapOvr>
    <a:masterClrMapping/>
  </p:clrMapOvr>
  <mc:AlternateContent xmlns:mc="http://schemas.openxmlformats.org/markup-compatibility/2006" xmlns:p14="http://schemas.microsoft.com/office/powerpoint/2010/main">
    <mc:Choice Requires="p14">
      <p:transition spd="slow" p14:dur="2000" advTm="20472"/>
    </mc:Choice>
    <mc:Fallback xmlns="">
      <p:transition spd="slow" advTm="2047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E8653-D80E-749A-2EA4-E6EA2088679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944F126-9C68-F13D-2B4C-C877B9CE8AC6}"/>
              </a:ext>
            </a:extLst>
          </p:cNvPr>
          <p:cNvSpPr txBox="1"/>
          <p:nvPr/>
        </p:nvSpPr>
        <p:spPr>
          <a:xfrm>
            <a:off x="3909856" y="989343"/>
            <a:ext cx="5924808"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研究背景与意义</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4" name="文本框 3">
            <a:extLst>
              <a:ext uri="{FF2B5EF4-FFF2-40B4-BE49-F238E27FC236}">
                <a16:creationId xmlns:a16="http://schemas.microsoft.com/office/drawing/2014/main" id="{48858417-6F34-EEF8-DD35-5A90FDE00E4C}"/>
              </a:ext>
            </a:extLst>
          </p:cNvPr>
          <p:cNvSpPr txBox="1"/>
          <p:nvPr/>
        </p:nvSpPr>
        <p:spPr>
          <a:xfrm>
            <a:off x="873493" y="2624787"/>
            <a:ext cx="861774" cy="1608426"/>
          </a:xfrm>
          <a:prstGeom prst="rect">
            <a:avLst/>
          </a:prstGeom>
          <a:noFill/>
        </p:spPr>
        <p:txBody>
          <a:bodyPr vert="eaVert" wrap="square" rtlCol="0">
            <a:spAutoFit/>
          </a:bodyPr>
          <a:lstStyle/>
          <a:p>
            <a:pPr algn="dist"/>
            <a:r>
              <a:rPr lang="zh-CN" altLang="en-US" sz="4400" b="1" dirty="0">
                <a:solidFill>
                  <a:srgbClr val="002060"/>
                </a:solidFill>
                <a:latin typeface="微软雅黑" panose="020B0503020204020204" pitchFamily="34" charset="-122"/>
                <a:ea typeface="微软雅黑" panose="020B0503020204020204" pitchFamily="34" charset="-122"/>
              </a:rPr>
              <a:t>目</a:t>
            </a:r>
            <a:r>
              <a:rPr lang="en-US" altLang="zh-CN" sz="4400" b="1" dirty="0">
                <a:solidFill>
                  <a:srgbClr val="002060"/>
                </a:solidFill>
                <a:latin typeface="微软雅黑" panose="020B0503020204020204" pitchFamily="34" charset="-122"/>
                <a:ea typeface="微软雅黑" panose="020B0503020204020204" pitchFamily="34" charset="-122"/>
              </a:rPr>
              <a:t>	</a:t>
            </a:r>
            <a:r>
              <a:rPr lang="zh-CN" altLang="en-US" sz="4400" b="1" dirty="0">
                <a:solidFill>
                  <a:srgbClr val="002060"/>
                </a:solidFill>
                <a:latin typeface="微软雅黑" panose="020B0503020204020204" pitchFamily="34" charset="-122"/>
                <a:ea typeface="微软雅黑" panose="020B0503020204020204" pitchFamily="34" charset="-122"/>
              </a:rPr>
              <a:t>录</a:t>
            </a:r>
          </a:p>
        </p:txBody>
      </p:sp>
      <p:sp>
        <p:nvSpPr>
          <p:cNvPr id="6" name="文本框 5">
            <a:extLst>
              <a:ext uri="{FF2B5EF4-FFF2-40B4-BE49-F238E27FC236}">
                <a16:creationId xmlns:a16="http://schemas.microsoft.com/office/drawing/2014/main" id="{55687E0C-3704-94BD-1189-1472310F9AED}"/>
              </a:ext>
            </a:extLst>
          </p:cNvPr>
          <p:cNvSpPr txBox="1"/>
          <p:nvPr/>
        </p:nvSpPr>
        <p:spPr>
          <a:xfrm>
            <a:off x="3909856" y="2397248"/>
            <a:ext cx="5924811" cy="553998"/>
          </a:xfrm>
          <a:prstGeom prst="rect">
            <a:avLst/>
          </a:prstGeom>
          <a:noFill/>
        </p:spPr>
        <p:txBody>
          <a:bodyPr wrap="square" lIns="0" tIns="0" rIns="0" bIns="0" rtlCol="0">
            <a:spAutoFit/>
          </a:bodyPr>
          <a:lstStyle/>
          <a:p>
            <a:pPr algn="dist"/>
            <a:r>
              <a:rPr lang="zh-CN" altLang="en-US" sz="3600" b="1" dirty="0">
                <a:solidFill>
                  <a:srgbClr val="C00000"/>
                </a:solidFill>
                <a:latin typeface="微软雅黑" panose="020B0503020204020204" pitchFamily="34" charset="-122"/>
                <a:ea typeface="微软雅黑" panose="020B0503020204020204" pitchFamily="34" charset="-122"/>
                <a:cs typeface="Arial" pitchFamily="34" charset="0"/>
              </a:rPr>
              <a:t>总体设计框架介绍</a:t>
            </a:r>
            <a:endParaRPr lang="en-US" altLang="zh-CN" sz="36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11" name="文本框 10">
            <a:extLst>
              <a:ext uri="{FF2B5EF4-FFF2-40B4-BE49-F238E27FC236}">
                <a16:creationId xmlns:a16="http://schemas.microsoft.com/office/drawing/2014/main" id="{1833F245-27F1-D50A-A6E0-5D59C1C12C50}"/>
              </a:ext>
            </a:extLst>
          </p:cNvPr>
          <p:cNvSpPr txBox="1"/>
          <p:nvPr/>
        </p:nvSpPr>
        <p:spPr>
          <a:xfrm>
            <a:off x="3909858" y="5213059"/>
            <a:ext cx="5924806"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研究总结与展望</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2" name="椭圆 11">
            <a:extLst>
              <a:ext uri="{FF2B5EF4-FFF2-40B4-BE49-F238E27FC236}">
                <a16:creationId xmlns:a16="http://schemas.microsoft.com/office/drawing/2014/main" id="{8A3A9913-9240-1B52-D8EB-C24CD066381B}"/>
              </a:ext>
            </a:extLst>
          </p:cNvPr>
          <p:cNvSpPr/>
          <p:nvPr/>
        </p:nvSpPr>
        <p:spPr>
          <a:xfrm>
            <a:off x="2979398" y="942342"/>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一</a:t>
            </a:r>
          </a:p>
        </p:txBody>
      </p:sp>
      <p:sp>
        <p:nvSpPr>
          <p:cNvPr id="13" name="椭圆 12">
            <a:extLst>
              <a:ext uri="{FF2B5EF4-FFF2-40B4-BE49-F238E27FC236}">
                <a16:creationId xmlns:a16="http://schemas.microsoft.com/office/drawing/2014/main" id="{A3A1F925-3B90-0183-2523-8450D01D8286}"/>
              </a:ext>
            </a:extLst>
          </p:cNvPr>
          <p:cNvSpPr/>
          <p:nvPr/>
        </p:nvSpPr>
        <p:spPr>
          <a:xfrm>
            <a:off x="2979398" y="2350247"/>
            <a:ext cx="720000" cy="648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二</a:t>
            </a:r>
          </a:p>
        </p:txBody>
      </p:sp>
      <p:sp>
        <p:nvSpPr>
          <p:cNvPr id="16" name="椭圆 15">
            <a:extLst>
              <a:ext uri="{FF2B5EF4-FFF2-40B4-BE49-F238E27FC236}">
                <a16:creationId xmlns:a16="http://schemas.microsoft.com/office/drawing/2014/main" id="{CBFC6860-392B-674B-F286-9383C39A9238}"/>
              </a:ext>
            </a:extLst>
          </p:cNvPr>
          <p:cNvSpPr/>
          <p:nvPr/>
        </p:nvSpPr>
        <p:spPr>
          <a:xfrm>
            <a:off x="2979398" y="5166058"/>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四</a:t>
            </a:r>
          </a:p>
        </p:txBody>
      </p:sp>
      <p:cxnSp>
        <p:nvCxnSpPr>
          <p:cNvPr id="2" name="直接连接符 1">
            <a:extLst>
              <a:ext uri="{FF2B5EF4-FFF2-40B4-BE49-F238E27FC236}">
                <a16:creationId xmlns:a16="http://schemas.microsoft.com/office/drawing/2014/main" id="{FA38693B-3925-4776-E713-BCEE53977F2B}"/>
              </a:ext>
            </a:extLst>
          </p:cNvPr>
          <p:cNvCxnSpPr>
            <a:cxnSpLocks/>
          </p:cNvCxnSpPr>
          <p:nvPr/>
        </p:nvCxnSpPr>
        <p:spPr>
          <a:xfrm>
            <a:off x="2357332" y="1308100"/>
            <a:ext cx="0" cy="419100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98FE853B-6404-E24C-A3AE-9DED7EACA583}"/>
              </a:ext>
            </a:extLst>
          </p:cNvPr>
          <p:cNvSpPr txBox="1"/>
          <p:nvPr/>
        </p:nvSpPr>
        <p:spPr>
          <a:xfrm>
            <a:off x="3909858" y="3805153"/>
            <a:ext cx="5924808"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超声速民机总体设计案例</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8" name="椭圆 7">
            <a:extLst>
              <a:ext uri="{FF2B5EF4-FFF2-40B4-BE49-F238E27FC236}">
                <a16:creationId xmlns:a16="http://schemas.microsoft.com/office/drawing/2014/main" id="{790F0A29-1264-0902-E896-A85C81E4A1D6}"/>
              </a:ext>
            </a:extLst>
          </p:cNvPr>
          <p:cNvSpPr/>
          <p:nvPr/>
        </p:nvSpPr>
        <p:spPr>
          <a:xfrm>
            <a:off x="2979398" y="3758152"/>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三</a:t>
            </a:r>
          </a:p>
        </p:txBody>
      </p:sp>
    </p:spTree>
    <p:extLst>
      <p:ext uri="{BB962C8B-B14F-4D97-AF65-F5344CB8AC3E}">
        <p14:creationId xmlns:p14="http://schemas.microsoft.com/office/powerpoint/2010/main" val="2578363415"/>
      </p:ext>
    </p:extLst>
  </p:cSld>
  <p:clrMapOvr>
    <a:masterClrMapping/>
  </p:clrMapOvr>
  <mc:AlternateContent xmlns:mc="http://schemas.openxmlformats.org/markup-compatibility/2006" xmlns:p14="http://schemas.microsoft.com/office/powerpoint/2010/main">
    <mc:Choice Requires="p14">
      <p:transition spd="slow" p14:dur="2000" advTm="2422"/>
    </mc:Choice>
    <mc:Fallback xmlns="">
      <p:transition spd="slow" advTm="242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5F9B5-1586-E599-32F1-96ECC3D09F38}"/>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FC9CD263-B1A9-7087-0378-0791B2A02899}"/>
              </a:ext>
            </a:extLst>
          </p:cNvPr>
          <p:cNvPicPr>
            <a:picLocks noChangeAspect="1"/>
          </p:cNvPicPr>
          <p:nvPr/>
        </p:nvPicPr>
        <p:blipFill>
          <a:blip r:embed="rId4"/>
          <a:stretch>
            <a:fillRect/>
          </a:stretch>
        </p:blipFill>
        <p:spPr>
          <a:xfrm>
            <a:off x="3302643" y="1567949"/>
            <a:ext cx="8637302" cy="4103181"/>
          </a:xfrm>
          <a:prstGeom prst="rect">
            <a:avLst/>
          </a:prstGeom>
          <a:ln w="19050">
            <a:solidFill>
              <a:srgbClr val="002060"/>
            </a:solidFill>
          </a:ln>
        </p:spPr>
      </p:pic>
      <p:sp>
        <p:nvSpPr>
          <p:cNvPr id="3" name="文本框 2">
            <a:extLst>
              <a:ext uri="{FF2B5EF4-FFF2-40B4-BE49-F238E27FC236}">
                <a16:creationId xmlns:a16="http://schemas.microsoft.com/office/drawing/2014/main" id="{CF0DDB8F-E905-6952-339F-70BA36731847}"/>
              </a:ext>
            </a:extLst>
          </p:cNvPr>
          <p:cNvSpPr txBox="1"/>
          <p:nvPr/>
        </p:nvSpPr>
        <p:spPr>
          <a:xfrm>
            <a:off x="203376" y="847051"/>
            <a:ext cx="3099267" cy="400110"/>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总体设计框架</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ED8CEDC-C422-F9C3-276E-DA169AA31750}"/>
                  </a:ext>
                </a:extLst>
              </p:cNvPr>
              <p:cNvSpPr txBox="1"/>
              <p:nvPr/>
            </p:nvSpPr>
            <p:spPr>
              <a:xfrm>
                <a:off x="10304983" y="1567949"/>
                <a:ext cx="1634962" cy="1651286"/>
              </a:xfrm>
              <a:prstGeom prst="rect">
                <a:avLst/>
              </a:prstGeom>
              <a:noFill/>
            </p:spPr>
            <p:txBody>
              <a:bodyPr wrap="square" lIns="0" tIns="0" rIns="0" bIns="0" rtlCol="0">
                <a:spAutoFit/>
              </a:bodyPr>
              <a:lstStyle/>
              <a:p>
                <a:pPr>
                  <a:lnSpc>
                    <a:spcPct val="150000"/>
                  </a:lnSpc>
                </a:pPr>
                <a14:m>
                  <m:oMath xmlns:m="http://schemas.openxmlformats.org/officeDocument/2006/math">
                    <m:sSub>
                      <m:sSubPr>
                        <m:ctrlP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ctrlPr>
                      </m:sSubPr>
                      <m:e>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𝑝</m:t>
                        </m:r>
                      </m:e>
                      <m:sub>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0</m:t>
                        </m:r>
                      </m:sub>
                    </m:sSub>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m:t>
                    </m:r>
                    <m:sSub>
                      <m:sSubPr>
                        <m:ctrlP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ctrlPr>
                      </m:sSubPr>
                      <m:e>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𝑝</m:t>
                        </m:r>
                      </m:e>
                      <m:sub>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1</m:t>
                        </m:r>
                      </m:sub>
                    </m:sSub>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m:t>
                    </m:r>
                  </m:oMath>
                </a14:m>
                <a:r>
                  <a:rPr lang="zh-CN" altLang="en-US" sz="1200" dirty="0">
                    <a:solidFill>
                      <a:srgbClr val="002060"/>
                    </a:solidFill>
                    <a:latin typeface="微软雅黑" panose="020B0503020204020204" pitchFamily="34" charset="-122"/>
                    <a:ea typeface="微软雅黑" panose="020B0503020204020204" pitchFamily="34" charset="-122"/>
                    <a:cs typeface="Arial" pitchFamily="34" charset="0"/>
                  </a:rPr>
                  <a:t> 航线起止点</a:t>
                </a:r>
                <a:endParaRPr lang="en-US" altLang="zh-CN" sz="1200" dirty="0">
                  <a:solidFill>
                    <a:srgbClr val="002060"/>
                  </a:solidFill>
                  <a:latin typeface="微软雅黑" panose="020B0503020204020204" pitchFamily="34" charset="-122"/>
                  <a:ea typeface="微软雅黑" panose="020B0503020204020204" pitchFamily="34" charset="-122"/>
                  <a:cs typeface="Arial" pitchFamily="34" charset="0"/>
                </a:endParaRPr>
              </a:p>
              <a:p>
                <a:pPr>
                  <a:lnSpc>
                    <a:spcPct val="150000"/>
                  </a:lnSpc>
                </a:pPr>
                <a14:m>
                  <m:oMath xmlns:m="http://schemas.openxmlformats.org/officeDocument/2006/math">
                    <m:sSub>
                      <m:sSubPr>
                        <m:ctrlP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ctrlPr>
                      </m:sSubPr>
                      <m:e>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𝑊</m:t>
                        </m:r>
                      </m:e>
                      <m:sub>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𝑝𝑎𝑦𝑙𝑜𝑎𝑑</m:t>
                        </m:r>
                      </m:sub>
                    </m:sSub>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m:t>
                    </m:r>
                  </m:oMath>
                </a14:m>
                <a:r>
                  <a:rPr lang="zh-CN" altLang="en-US" sz="1200" dirty="0">
                    <a:solidFill>
                      <a:srgbClr val="002060"/>
                    </a:solidFill>
                    <a:latin typeface="微软雅黑" panose="020B0503020204020204" pitchFamily="34" charset="-122"/>
                    <a:ea typeface="微软雅黑" panose="020B0503020204020204" pitchFamily="34" charset="-122"/>
                    <a:cs typeface="Arial" pitchFamily="34" charset="0"/>
                  </a:rPr>
                  <a:t> 目标载荷</a:t>
                </a:r>
                <a:endParaRPr lang="en-US" altLang="zh-CN" sz="1200" dirty="0">
                  <a:solidFill>
                    <a:srgbClr val="002060"/>
                  </a:solidFill>
                  <a:latin typeface="微软雅黑" panose="020B0503020204020204" pitchFamily="34" charset="-122"/>
                  <a:ea typeface="微软雅黑" panose="020B0503020204020204" pitchFamily="34" charset="-122"/>
                  <a:cs typeface="Arial" pitchFamily="34" charset="0"/>
                </a:endParaRPr>
              </a:p>
              <a:p>
                <a:pPr>
                  <a:lnSpc>
                    <a:spcPct val="150000"/>
                  </a:lnSpc>
                </a:pPr>
                <a14:m>
                  <m:oMath xmlns:m="http://schemas.openxmlformats.org/officeDocument/2006/math">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𝑅</m:t>
                    </m:r>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m:t>
                    </m:r>
                  </m:oMath>
                </a14:m>
                <a:r>
                  <a:rPr lang="zh-CN" altLang="en-US" sz="1200" dirty="0">
                    <a:solidFill>
                      <a:srgbClr val="002060"/>
                    </a:solidFill>
                    <a:latin typeface="微软雅黑" panose="020B0503020204020204" pitchFamily="34" charset="-122"/>
                    <a:ea typeface="微软雅黑" panose="020B0503020204020204" pitchFamily="34" charset="-122"/>
                    <a:cs typeface="Arial" pitchFamily="34" charset="0"/>
                  </a:rPr>
                  <a:t> 航线</a:t>
                </a:r>
                <a:endParaRPr lang="en-US" altLang="zh-CN" sz="1200" dirty="0">
                  <a:solidFill>
                    <a:srgbClr val="002060"/>
                  </a:solidFill>
                  <a:latin typeface="微软雅黑" panose="020B0503020204020204" pitchFamily="34" charset="-122"/>
                  <a:ea typeface="微软雅黑" panose="020B0503020204020204" pitchFamily="34" charset="-122"/>
                  <a:cs typeface="Arial" pitchFamily="34" charset="0"/>
                </a:endParaRPr>
              </a:p>
              <a:p>
                <a:pPr>
                  <a:lnSpc>
                    <a:spcPct val="150000"/>
                  </a:lnSpc>
                </a:pPr>
                <a14:m>
                  <m:oMath xmlns:m="http://schemas.openxmlformats.org/officeDocument/2006/math">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𝐹𝑃</m:t>
                    </m:r>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m:t>
                    </m:r>
                  </m:oMath>
                </a14:m>
                <a:r>
                  <a:rPr lang="zh-CN" altLang="en-US" sz="1200" dirty="0">
                    <a:solidFill>
                      <a:srgbClr val="002060"/>
                    </a:solidFill>
                    <a:latin typeface="微软雅黑" panose="020B0503020204020204" pitchFamily="34" charset="-122"/>
                    <a:ea typeface="微软雅黑" panose="020B0503020204020204" pitchFamily="34" charset="-122"/>
                    <a:cs typeface="Arial" pitchFamily="34" charset="0"/>
                  </a:rPr>
                  <a:t> 飞行剖面</a:t>
                </a:r>
                <a:endParaRPr lang="en-US" altLang="zh-CN" sz="1200" dirty="0">
                  <a:solidFill>
                    <a:srgbClr val="002060"/>
                  </a:solidFill>
                  <a:latin typeface="微软雅黑" panose="020B0503020204020204" pitchFamily="34" charset="-122"/>
                  <a:ea typeface="微软雅黑" panose="020B0503020204020204" pitchFamily="34" charset="-122"/>
                  <a:cs typeface="Arial" pitchFamily="34" charset="0"/>
                </a:endParaRPr>
              </a:p>
              <a:p>
                <a:pPr>
                  <a:lnSpc>
                    <a:spcPct val="150000"/>
                  </a:lnSpc>
                </a:pPr>
                <a14:m>
                  <m:oMath xmlns:m="http://schemas.openxmlformats.org/officeDocument/2006/math">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𝑀𝑇𝑂</m:t>
                    </m:r>
                    <m:r>
                      <a:rPr lang="en-US" altLang="zh-CN" sz="1200" i="1">
                        <a:solidFill>
                          <a:srgbClr val="002060"/>
                        </a:solidFill>
                        <a:latin typeface="Cambria Math" panose="02040503050406030204" pitchFamily="18" charset="0"/>
                        <a:ea typeface="微软雅黑" panose="020B0503020204020204" pitchFamily="34" charset="-122"/>
                        <a:cs typeface="Arial" pitchFamily="34" charset="0"/>
                      </a:rPr>
                      <m:t>𝑊</m:t>
                    </m:r>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m:t>
                    </m:r>
                  </m:oMath>
                </a14:m>
                <a:r>
                  <a:rPr lang="zh-CN" altLang="en-US" sz="1200" dirty="0">
                    <a:solidFill>
                      <a:srgbClr val="002060"/>
                    </a:solidFill>
                    <a:latin typeface="微软雅黑" panose="020B0503020204020204" pitchFamily="34" charset="-122"/>
                    <a:ea typeface="微软雅黑" panose="020B0503020204020204" pitchFamily="34" charset="-122"/>
                    <a:cs typeface="Arial" pitchFamily="34" charset="0"/>
                  </a:rPr>
                  <a:t> 起飞总重</a:t>
                </a:r>
                <a:endParaRPr lang="en-US" altLang="zh-CN" sz="1200" dirty="0">
                  <a:solidFill>
                    <a:srgbClr val="002060"/>
                  </a:solidFill>
                  <a:latin typeface="微软雅黑" panose="020B0503020204020204" pitchFamily="34" charset="-122"/>
                  <a:ea typeface="微软雅黑" panose="020B0503020204020204" pitchFamily="34" charset="-122"/>
                  <a:cs typeface="Arial" pitchFamily="34" charset="0"/>
                </a:endParaRPr>
              </a:p>
              <a:p>
                <a:pPr>
                  <a:lnSpc>
                    <a:spcPct val="150000"/>
                  </a:lnSpc>
                </a:pPr>
                <a14:m>
                  <m:oMath xmlns:m="http://schemas.openxmlformats.org/officeDocument/2006/math">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𝑥</m:t>
                    </m:r>
                    <m:r>
                      <a:rPr lang="en-US" altLang="zh-CN" sz="1200" b="0" i="1" smtClean="0">
                        <a:solidFill>
                          <a:srgbClr val="002060"/>
                        </a:solidFill>
                        <a:latin typeface="Cambria Math" panose="02040503050406030204" pitchFamily="18" charset="0"/>
                        <a:ea typeface="微软雅黑" panose="020B0503020204020204" pitchFamily="34" charset="-122"/>
                        <a:cs typeface="Arial" pitchFamily="34" charset="0"/>
                      </a:rPr>
                      <m:t>:</m:t>
                    </m:r>
                  </m:oMath>
                </a14:m>
                <a:r>
                  <a:rPr lang="zh-CN" altLang="en-US" sz="1200" dirty="0">
                    <a:solidFill>
                      <a:srgbClr val="002060"/>
                    </a:solidFill>
                    <a:latin typeface="微软雅黑" panose="020B0503020204020204" pitchFamily="34" charset="-122"/>
                    <a:ea typeface="微软雅黑" panose="020B0503020204020204" pitchFamily="34" charset="-122"/>
                    <a:cs typeface="Arial" pitchFamily="34" charset="0"/>
                  </a:rPr>
                  <a:t> 飞行器外形参数</a:t>
                </a:r>
                <a:endParaRPr lang="en-US" altLang="zh-CN" sz="1200" dirty="0">
                  <a:solidFill>
                    <a:srgbClr val="002060"/>
                  </a:solidFill>
                  <a:latin typeface="微软雅黑" panose="020B0503020204020204" pitchFamily="34" charset="-122"/>
                  <a:ea typeface="微软雅黑" panose="020B0503020204020204" pitchFamily="34" charset="-122"/>
                  <a:cs typeface="Arial" pitchFamily="34" charset="0"/>
                </a:endParaRPr>
              </a:p>
            </p:txBody>
          </p:sp>
        </mc:Choice>
        <mc:Fallback xmlns="">
          <p:sp>
            <p:nvSpPr>
              <p:cNvPr id="5" name="文本框 4">
                <a:extLst>
                  <a:ext uri="{FF2B5EF4-FFF2-40B4-BE49-F238E27FC236}">
                    <a16:creationId xmlns:a16="http://schemas.microsoft.com/office/drawing/2014/main" id="{FED8CEDC-C422-F9C3-276E-DA169AA31750}"/>
                  </a:ext>
                </a:extLst>
              </p:cNvPr>
              <p:cNvSpPr txBox="1">
                <a:spLocks noRot="1" noChangeAspect="1" noMove="1" noResize="1" noEditPoints="1" noAdjustHandles="1" noChangeArrowheads="1" noChangeShapeType="1" noTextEdit="1"/>
              </p:cNvSpPr>
              <p:nvPr/>
            </p:nvSpPr>
            <p:spPr>
              <a:xfrm>
                <a:off x="10304983" y="1567949"/>
                <a:ext cx="1634962" cy="1651286"/>
              </a:xfrm>
              <a:prstGeom prst="rect">
                <a:avLst/>
              </a:prstGeom>
              <a:blipFill>
                <a:blip r:embed="rId5"/>
                <a:stretch>
                  <a:fillRect l="-3346" b="-4797"/>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FFF0EA02-4035-A5C8-6149-84EF961EAE54}"/>
              </a:ext>
            </a:extLst>
          </p:cNvPr>
          <p:cNvSpPr txBox="1"/>
          <p:nvPr/>
        </p:nvSpPr>
        <p:spPr>
          <a:xfrm>
            <a:off x="6306202" y="838986"/>
            <a:ext cx="2630185" cy="276999"/>
          </a:xfrm>
          <a:prstGeom prst="rect">
            <a:avLst/>
          </a:prstGeom>
          <a:noFill/>
        </p:spPr>
        <p:txBody>
          <a:bodyPr wrap="square" lIns="0" tIns="0" rIns="0" bIns="0"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cs typeface="Arial" pitchFamily="34" charset="0"/>
              </a:rPr>
              <a:t>起点、终点、载荷需求</a:t>
            </a:r>
          </a:p>
        </p:txBody>
      </p:sp>
      <p:sp>
        <p:nvSpPr>
          <p:cNvPr id="8" name="矩形 7">
            <a:extLst>
              <a:ext uri="{FF2B5EF4-FFF2-40B4-BE49-F238E27FC236}">
                <a16:creationId xmlns:a16="http://schemas.microsoft.com/office/drawing/2014/main" id="{B45A22BF-0860-9001-5009-BEFD0176C154}"/>
              </a:ext>
            </a:extLst>
          </p:cNvPr>
          <p:cNvSpPr/>
          <p:nvPr/>
        </p:nvSpPr>
        <p:spPr>
          <a:xfrm>
            <a:off x="4094152" y="1853890"/>
            <a:ext cx="2931979" cy="150723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9" name="矩形 8">
            <a:extLst>
              <a:ext uri="{FF2B5EF4-FFF2-40B4-BE49-F238E27FC236}">
                <a16:creationId xmlns:a16="http://schemas.microsoft.com/office/drawing/2014/main" id="{76B4FB4C-7872-DDFA-C786-B2550CA85B6F}"/>
              </a:ext>
            </a:extLst>
          </p:cNvPr>
          <p:cNvSpPr/>
          <p:nvPr/>
        </p:nvSpPr>
        <p:spPr>
          <a:xfrm>
            <a:off x="7026132" y="3370005"/>
            <a:ext cx="2727468" cy="153669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0" name="矩形 9">
            <a:extLst>
              <a:ext uri="{FF2B5EF4-FFF2-40B4-BE49-F238E27FC236}">
                <a16:creationId xmlns:a16="http://schemas.microsoft.com/office/drawing/2014/main" id="{767B0D82-0148-5B45-D76D-E9EC5895A2E3}"/>
              </a:ext>
            </a:extLst>
          </p:cNvPr>
          <p:cNvSpPr/>
          <p:nvPr/>
        </p:nvSpPr>
        <p:spPr>
          <a:xfrm>
            <a:off x="9753600" y="4901363"/>
            <a:ext cx="2143538" cy="74085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1" name="文本框 10">
            <a:extLst>
              <a:ext uri="{FF2B5EF4-FFF2-40B4-BE49-F238E27FC236}">
                <a16:creationId xmlns:a16="http://schemas.microsoft.com/office/drawing/2014/main" id="{49B3EF34-9F4E-C201-AD00-DF11E5B7D3D2}"/>
              </a:ext>
            </a:extLst>
          </p:cNvPr>
          <p:cNvSpPr txBox="1"/>
          <p:nvPr/>
        </p:nvSpPr>
        <p:spPr>
          <a:xfrm>
            <a:off x="1540933" y="2534699"/>
            <a:ext cx="1331424" cy="1895519"/>
          </a:xfrm>
          <a:prstGeom prst="rect">
            <a:avLst/>
          </a:prstGeom>
          <a:noFill/>
        </p:spPr>
        <p:txBody>
          <a:bodyPr wrap="square" lIns="0" tIns="0" rIns="0" bIns="0" rtlCol="0">
            <a:spAutoFit/>
          </a:bodyPr>
          <a:lstStyle/>
          <a:p>
            <a:pPr algn="ctr">
              <a:lnSpc>
                <a:spcPct val="200000"/>
              </a:lnSpc>
            </a:pPr>
            <a:r>
              <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rPr>
              <a:t>设计航线</a:t>
            </a:r>
            <a:endParaRPr lang="en-US" altLang="zh-CN" sz="1600" b="1" dirty="0">
              <a:solidFill>
                <a:srgbClr val="C00000"/>
              </a:solidFill>
              <a:latin typeface="微软雅黑" panose="020B0503020204020204" pitchFamily="34" charset="-122"/>
              <a:ea typeface="微软雅黑" panose="020B0503020204020204" pitchFamily="34" charset="-122"/>
              <a:cs typeface="Arial" pitchFamily="34" charset="0"/>
            </a:endParaRPr>
          </a:p>
          <a:p>
            <a:pPr algn="ctr">
              <a:lnSpc>
                <a:spcPct val="200000"/>
              </a:lnSpc>
            </a:pPr>
            <a:r>
              <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rPr>
              <a:t>优化外形</a:t>
            </a:r>
            <a:endParaRPr lang="en-US" altLang="zh-CN" sz="1600" b="1" dirty="0">
              <a:solidFill>
                <a:srgbClr val="C00000"/>
              </a:solidFill>
              <a:latin typeface="微软雅黑" panose="020B0503020204020204" pitchFamily="34" charset="-122"/>
              <a:ea typeface="微软雅黑" panose="020B0503020204020204" pitchFamily="34" charset="-122"/>
              <a:cs typeface="Arial" pitchFamily="34" charset="0"/>
            </a:endParaRPr>
          </a:p>
          <a:p>
            <a:pPr algn="ctr">
              <a:lnSpc>
                <a:spcPct val="200000"/>
              </a:lnSpc>
            </a:pPr>
            <a:r>
              <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rPr>
              <a:t>起飞总重</a:t>
            </a:r>
            <a:endParaRPr lang="en-US" altLang="zh-CN" sz="1600" b="1" dirty="0">
              <a:solidFill>
                <a:srgbClr val="C00000"/>
              </a:solidFill>
              <a:latin typeface="微软雅黑" panose="020B0503020204020204" pitchFamily="34" charset="-122"/>
              <a:ea typeface="微软雅黑" panose="020B0503020204020204" pitchFamily="34" charset="-122"/>
              <a:cs typeface="Arial" pitchFamily="34" charset="0"/>
            </a:endParaRPr>
          </a:p>
          <a:p>
            <a:pPr algn="ctr">
              <a:lnSpc>
                <a:spcPct val="200000"/>
              </a:lnSpc>
            </a:pPr>
            <a:r>
              <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rPr>
              <a:t>最优剖面</a:t>
            </a:r>
          </a:p>
        </p:txBody>
      </p:sp>
      <p:sp>
        <p:nvSpPr>
          <p:cNvPr id="15" name="文本框 14">
            <a:extLst>
              <a:ext uri="{FF2B5EF4-FFF2-40B4-BE49-F238E27FC236}">
                <a16:creationId xmlns:a16="http://schemas.microsoft.com/office/drawing/2014/main" id="{9F44C49B-3BD5-25F5-7382-2432E9211108}"/>
              </a:ext>
            </a:extLst>
          </p:cNvPr>
          <p:cNvSpPr txBox="1"/>
          <p:nvPr/>
        </p:nvSpPr>
        <p:spPr>
          <a:xfrm>
            <a:off x="8118639" y="2469007"/>
            <a:ext cx="1634961" cy="276999"/>
          </a:xfrm>
          <a:prstGeom prst="rect">
            <a:avLst/>
          </a:prstGeom>
          <a:noFill/>
        </p:spPr>
        <p:txBody>
          <a:bodyPr wrap="square" lIns="0" tIns="0" rIns="0" bIns="0" rtlCol="0">
            <a:spAutoFit/>
          </a:bodyPr>
          <a:lstStyle/>
          <a:p>
            <a:pPr algn="ct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航线规划模块</a:t>
            </a:r>
          </a:p>
        </p:txBody>
      </p:sp>
      <p:cxnSp>
        <p:nvCxnSpPr>
          <p:cNvPr id="16" name="直接箭头连接符 15">
            <a:extLst>
              <a:ext uri="{FF2B5EF4-FFF2-40B4-BE49-F238E27FC236}">
                <a16:creationId xmlns:a16="http://schemas.microsoft.com/office/drawing/2014/main" id="{7FD4595B-14E0-C674-6CDE-08DF2857D6D1}"/>
              </a:ext>
            </a:extLst>
          </p:cNvPr>
          <p:cNvCxnSpPr>
            <a:cxnSpLocks/>
            <a:stCxn id="8" idx="3"/>
            <a:endCxn id="15" idx="1"/>
          </p:cNvCxnSpPr>
          <p:nvPr/>
        </p:nvCxnSpPr>
        <p:spPr>
          <a:xfrm flipV="1">
            <a:off x="7026131" y="2607507"/>
            <a:ext cx="1092508"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6D723755-DCB2-C201-9726-6EBB3D1C78F7}"/>
              </a:ext>
            </a:extLst>
          </p:cNvPr>
          <p:cNvSpPr txBox="1"/>
          <p:nvPr/>
        </p:nvSpPr>
        <p:spPr>
          <a:xfrm>
            <a:off x="4882594" y="4010708"/>
            <a:ext cx="1634961" cy="276999"/>
          </a:xfrm>
          <a:prstGeom prst="rect">
            <a:avLst/>
          </a:prstGeom>
          <a:noFill/>
        </p:spPr>
        <p:txBody>
          <a:bodyPr wrap="square" lIns="0" tIns="0" rIns="0" bIns="0" rtlCol="0">
            <a:spAutoFit/>
          </a:bodyPr>
          <a:lstStyle/>
          <a:p>
            <a:pPr algn="ct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气动优化模块</a:t>
            </a:r>
          </a:p>
        </p:txBody>
      </p:sp>
      <p:cxnSp>
        <p:nvCxnSpPr>
          <p:cNvPr id="18" name="直接箭头连接符 17">
            <a:extLst>
              <a:ext uri="{FF2B5EF4-FFF2-40B4-BE49-F238E27FC236}">
                <a16:creationId xmlns:a16="http://schemas.microsoft.com/office/drawing/2014/main" id="{71121F80-A4E7-914F-3893-7AC7E8596995}"/>
              </a:ext>
            </a:extLst>
          </p:cNvPr>
          <p:cNvCxnSpPr>
            <a:cxnSpLocks/>
            <a:stCxn id="9" idx="1"/>
            <a:endCxn id="17" idx="3"/>
          </p:cNvCxnSpPr>
          <p:nvPr/>
        </p:nvCxnSpPr>
        <p:spPr>
          <a:xfrm flipH="1">
            <a:off x="6517555" y="4138353"/>
            <a:ext cx="508577" cy="108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FE57F278-057B-6DC5-2BE2-A8FE742067EC}"/>
              </a:ext>
            </a:extLst>
          </p:cNvPr>
          <p:cNvSpPr txBox="1"/>
          <p:nvPr/>
        </p:nvSpPr>
        <p:spPr>
          <a:xfrm>
            <a:off x="6284355" y="5044052"/>
            <a:ext cx="1403065" cy="492443"/>
          </a:xfrm>
          <a:prstGeom prst="rect">
            <a:avLst/>
          </a:prstGeom>
          <a:solidFill>
            <a:schemeClr val="bg1"/>
          </a:solid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重量</a:t>
            </a:r>
            <a:r>
              <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剖面联合迭代模块</a:t>
            </a:r>
          </a:p>
        </p:txBody>
      </p:sp>
      <p:cxnSp>
        <p:nvCxnSpPr>
          <p:cNvPr id="20" name="直接箭头连接符 19">
            <a:extLst>
              <a:ext uri="{FF2B5EF4-FFF2-40B4-BE49-F238E27FC236}">
                <a16:creationId xmlns:a16="http://schemas.microsoft.com/office/drawing/2014/main" id="{D86D6E1C-A974-6C9A-4885-AF85E1633810}"/>
              </a:ext>
            </a:extLst>
          </p:cNvPr>
          <p:cNvCxnSpPr>
            <a:cxnSpLocks/>
            <a:stCxn id="10" idx="1"/>
            <a:endCxn id="19" idx="3"/>
          </p:cNvCxnSpPr>
          <p:nvPr/>
        </p:nvCxnSpPr>
        <p:spPr>
          <a:xfrm flipH="1">
            <a:off x="7687420" y="5271791"/>
            <a:ext cx="2066180" cy="184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标题 1">
            <a:extLst>
              <a:ext uri="{FF2B5EF4-FFF2-40B4-BE49-F238E27FC236}">
                <a16:creationId xmlns:a16="http://schemas.microsoft.com/office/drawing/2014/main" id="{FD22EAAD-4E70-B506-494C-6477AA305176}"/>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二、总体设计方法框架</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介绍</a:t>
            </a:r>
            <a:endPar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9" name="箭头: 五边形 28">
            <a:extLst>
              <a:ext uri="{FF2B5EF4-FFF2-40B4-BE49-F238E27FC236}">
                <a16:creationId xmlns:a16="http://schemas.microsoft.com/office/drawing/2014/main" id="{D4CF007C-A0EB-F9DF-EC23-2786AC9421F4}"/>
              </a:ext>
            </a:extLst>
          </p:cNvPr>
          <p:cNvSpPr/>
          <p:nvPr/>
        </p:nvSpPr>
        <p:spPr>
          <a:xfrm>
            <a:off x="0" y="1715698"/>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航线规划</a:t>
            </a:r>
          </a:p>
        </p:txBody>
      </p:sp>
      <p:sp>
        <p:nvSpPr>
          <p:cNvPr id="32" name="箭头: 五边形 31">
            <a:extLst>
              <a:ext uri="{FF2B5EF4-FFF2-40B4-BE49-F238E27FC236}">
                <a16:creationId xmlns:a16="http://schemas.microsoft.com/office/drawing/2014/main" id="{219466FF-6309-20BB-B05B-BFCEDEDC0741}"/>
              </a:ext>
            </a:extLst>
          </p:cNvPr>
          <p:cNvSpPr/>
          <p:nvPr/>
        </p:nvSpPr>
        <p:spPr>
          <a:xfrm>
            <a:off x="0" y="3124995"/>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重量</a:t>
            </a:r>
            <a:r>
              <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剖面</a:t>
            </a:r>
            <a:endPar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联合设计</a:t>
            </a:r>
          </a:p>
        </p:txBody>
      </p:sp>
      <p:sp>
        <p:nvSpPr>
          <p:cNvPr id="33" name="箭头: 五边形 32">
            <a:extLst>
              <a:ext uri="{FF2B5EF4-FFF2-40B4-BE49-F238E27FC236}">
                <a16:creationId xmlns:a16="http://schemas.microsoft.com/office/drawing/2014/main" id="{CFE46D48-E9C8-268C-28C7-A31A9CD26019}"/>
              </a:ext>
            </a:extLst>
          </p:cNvPr>
          <p:cNvSpPr/>
          <p:nvPr/>
        </p:nvSpPr>
        <p:spPr>
          <a:xfrm>
            <a:off x="0" y="4534293"/>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气动优化</a:t>
            </a:r>
          </a:p>
        </p:txBody>
      </p:sp>
      <p:sp>
        <p:nvSpPr>
          <p:cNvPr id="41" name="矩形: 圆角 40">
            <a:extLst>
              <a:ext uri="{FF2B5EF4-FFF2-40B4-BE49-F238E27FC236}">
                <a16:creationId xmlns:a16="http://schemas.microsoft.com/office/drawing/2014/main" id="{30143B13-4DC9-1599-BE49-B2F3C200E707}"/>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defRPr/>
            </a:pP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基础任务需求 </a:t>
            </a:r>
            <a:r>
              <a:rPr lang="en-US" altLang="zh-CN"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—&gt; </a:t>
            </a: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基准气动外形</a:t>
            </a:r>
            <a:endParaRPr lang="zh-CN" altLang="en-US" sz="2400" b="1" spc="100" dirty="0">
              <a:solidFill>
                <a:srgbClr val="0C3387"/>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箭头: 下 41">
            <a:extLst>
              <a:ext uri="{FF2B5EF4-FFF2-40B4-BE49-F238E27FC236}">
                <a16:creationId xmlns:a16="http://schemas.microsoft.com/office/drawing/2014/main" id="{7CF6907C-103A-9B7F-7A93-8C0F97F0F854}"/>
              </a:ext>
            </a:extLst>
          </p:cNvPr>
          <p:cNvSpPr/>
          <p:nvPr/>
        </p:nvSpPr>
        <p:spPr>
          <a:xfrm>
            <a:off x="7092891" y="1186870"/>
            <a:ext cx="1056807" cy="270305"/>
          </a:xfrm>
          <a:prstGeom prst="downArrow">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rgbClr val="C00000"/>
              </a:solidFill>
              <a:latin typeface="Arial" pitchFamily="34" charset="0"/>
              <a:cs typeface="Arial" pitchFamily="34" charset="0"/>
            </a:endParaRPr>
          </a:p>
        </p:txBody>
      </p:sp>
      <p:sp>
        <p:nvSpPr>
          <p:cNvPr id="44" name="箭头: 左 43">
            <a:extLst>
              <a:ext uri="{FF2B5EF4-FFF2-40B4-BE49-F238E27FC236}">
                <a16:creationId xmlns:a16="http://schemas.microsoft.com/office/drawing/2014/main" id="{4C3F92BF-4B19-D881-1DAF-D317EBD6FF76}"/>
              </a:ext>
            </a:extLst>
          </p:cNvPr>
          <p:cNvSpPr/>
          <p:nvPr/>
        </p:nvSpPr>
        <p:spPr>
          <a:xfrm>
            <a:off x="2771972" y="3204784"/>
            <a:ext cx="451453" cy="784424"/>
          </a:xfrm>
          <a:prstGeom prst="leftArrow">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rgbClr val="C00000"/>
              </a:solidFill>
              <a:latin typeface="Arial" pitchFamily="34" charset="0"/>
              <a:cs typeface="Arial" pitchFamily="34" charset="0"/>
            </a:endParaRPr>
          </a:p>
        </p:txBody>
      </p:sp>
    </p:spTree>
    <p:custDataLst>
      <p:tags r:id="rId1"/>
    </p:custDataLst>
    <p:extLst>
      <p:ext uri="{BB962C8B-B14F-4D97-AF65-F5344CB8AC3E}">
        <p14:creationId xmlns:p14="http://schemas.microsoft.com/office/powerpoint/2010/main" val="2755973031"/>
      </p:ext>
    </p:extLst>
  </p:cSld>
  <p:clrMapOvr>
    <a:masterClrMapping/>
  </p:clrMapOvr>
  <mc:AlternateContent xmlns:mc="http://schemas.openxmlformats.org/markup-compatibility/2006" xmlns:p14="http://schemas.microsoft.com/office/powerpoint/2010/main">
    <mc:Choice Requires="p14">
      <p:transition spd="slow" p14:dur="2000" advTm="20472"/>
    </mc:Choice>
    <mc:Fallback xmlns="">
      <p:transition spd="slow" advTm="2047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C78F6-1AA9-5B7A-5DB4-4AE5765AA5D7}"/>
            </a:ext>
          </a:extLst>
        </p:cNvPr>
        <p:cNvGrpSpPr/>
        <p:nvPr/>
      </p:nvGrpSpPr>
      <p:grpSpPr>
        <a:xfrm>
          <a:off x="0" y="0"/>
          <a:ext cx="0" cy="0"/>
          <a:chOff x="0" y="0"/>
          <a:chExt cx="0" cy="0"/>
        </a:xfrm>
      </p:grpSpPr>
      <p:sp>
        <p:nvSpPr>
          <p:cNvPr id="16" name="矩形 15">
            <a:extLst>
              <a:ext uri="{FF2B5EF4-FFF2-40B4-BE49-F238E27FC236}">
                <a16:creationId xmlns:a16="http://schemas.microsoft.com/office/drawing/2014/main" id="{7AE10E1B-52D5-9040-D32D-8110A10D4A6A}"/>
              </a:ext>
            </a:extLst>
          </p:cNvPr>
          <p:cNvSpPr/>
          <p:nvPr/>
        </p:nvSpPr>
        <p:spPr>
          <a:xfrm>
            <a:off x="2520548" y="1333252"/>
            <a:ext cx="9446271" cy="1440000"/>
          </a:xfrm>
          <a:prstGeom prst="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8" name="矩形 17">
            <a:extLst>
              <a:ext uri="{FF2B5EF4-FFF2-40B4-BE49-F238E27FC236}">
                <a16:creationId xmlns:a16="http://schemas.microsoft.com/office/drawing/2014/main" id="{1184523C-633D-5896-2285-EDEE4B58E0BC}"/>
              </a:ext>
            </a:extLst>
          </p:cNvPr>
          <p:cNvSpPr/>
          <p:nvPr/>
        </p:nvSpPr>
        <p:spPr>
          <a:xfrm>
            <a:off x="2520548" y="4382614"/>
            <a:ext cx="9446271" cy="1440000"/>
          </a:xfrm>
          <a:prstGeom prst="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9" name="矩形 18">
            <a:extLst>
              <a:ext uri="{FF2B5EF4-FFF2-40B4-BE49-F238E27FC236}">
                <a16:creationId xmlns:a16="http://schemas.microsoft.com/office/drawing/2014/main" id="{EA0680E3-CEAF-BCBD-3C99-6F0B144C2905}"/>
              </a:ext>
            </a:extLst>
          </p:cNvPr>
          <p:cNvSpPr/>
          <p:nvPr/>
        </p:nvSpPr>
        <p:spPr>
          <a:xfrm>
            <a:off x="2520547" y="2857933"/>
            <a:ext cx="9446271" cy="1440000"/>
          </a:xfrm>
          <a:prstGeom prst="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9" name="箭头: 五边形 8">
            <a:extLst>
              <a:ext uri="{FF2B5EF4-FFF2-40B4-BE49-F238E27FC236}">
                <a16:creationId xmlns:a16="http://schemas.microsoft.com/office/drawing/2014/main" id="{4B62BA49-0AA8-0AE8-2799-832F450451DC}"/>
              </a:ext>
            </a:extLst>
          </p:cNvPr>
          <p:cNvSpPr/>
          <p:nvPr/>
        </p:nvSpPr>
        <p:spPr>
          <a:xfrm>
            <a:off x="-1" y="1717200"/>
            <a:ext cx="2375941" cy="1260000"/>
          </a:xfrm>
          <a:prstGeom prst="homePlate">
            <a:avLst>
              <a:gd name="adj" fmla="val 3037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航线规划</a:t>
            </a:r>
          </a:p>
        </p:txBody>
      </p:sp>
      <p:sp>
        <p:nvSpPr>
          <p:cNvPr id="10" name="箭头: 五边形 9">
            <a:extLst>
              <a:ext uri="{FF2B5EF4-FFF2-40B4-BE49-F238E27FC236}">
                <a16:creationId xmlns:a16="http://schemas.microsoft.com/office/drawing/2014/main" id="{1BA22254-12C6-0EA0-198C-40F285952532}"/>
              </a:ext>
            </a:extLst>
          </p:cNvPr>
          <p:cNvSpPr/>
          <p:nvPr/>
        </p:nvSpPr>
        <p:spPr>
          <a:xfrm>
            <a:off x="0" y="31266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重量</a:t>
            </a:r>
            <a:r>
              <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剖面</a:t>
            </a:r>
            <a:endPar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联合设计</a:t>
            </a:r>
          </a:p>
        </p:txBody>
      </p:sp>
      <p:sp>
        <p:nvSpPr>
          <p:cNvPr id="11" name="箭头: 五边形 10">
            <a:extLst>
              <a:ext uri="{FF2B5EF4-FFF2-40B4-BE49-F238E27FC236}">
                <a16:creationId xmlns:a16="http://schemas.microsoft.com/office/drawing/2014/main" id="{EA0FAC0D-5021-687E-5678-41F3C19F733D}"/>
              </a:ext>
            </a:extLst>
          </p:cNvPr>
          <p:cNvSpPr/>
          <p:nvPr/>
        </p:nvSpPr>
        <p:spPr>
          <a:xfrm>
            <a:off x="0" y="45360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气动优化</a:t>
            </a:r>
          </a:p>
        </p:txBody>
      </p:sp>
      <p:sp>
        <p:nvSpPr>
          <p:cNvPr id="14" name="文本框 13">
            <a:extLst>
              <a:ext uri="{FF2B5EF4-FFF2-40B4-BE49-F238E27FC236}">
                <a16:creationId xmlns:a16="http://schemas.microsoft.com/office/drawing/2014/main" id="{4CCFCB43-6FB1-89A5-9F3C-BFF1808ADEC7}"/>
              </a:ext>
            </a:extLst>
          </p:cNvPr>
          <p:cNvSpPr txBox="1"/>
          <p:nvPr/>
        </p:nvSpPr>
        <p:spPr>
          <a:xfrm>
            <a:off x="203376" y="847051"/>
            <a:ext cx="4227039" cy="400110"/>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超声速航线分类及其飞行策略</a:t>
            </a:r>
          </a:p>
        </p:txBody>
      </p:sp>
      <p:sp>
        <p:nvSpPr>
          <p:cNvPr id="23" name="文本框 22">
            <a:extLst>
              <a:ext uri="{FF2B5EF4-FFF2-40B4-BE49-F238E27FC236}">
                <a16:creationId xmlns:a16="http://schemas.microsoft.com/office/drawing/2014/main" id="{A0B3B6FF-2FCC-4CA9-2E57-19847210E220}"/>
              </a:ext>
            </a:extLst>
          </p:cNvPr>
          <p:cNvSpPr txBox="1"/>
          <p:nvPr/>
        </p:nvSpPr>
        <p:spPr>
          <a:xfrm>
            <a:off x="2644432" y="1350433"/>
            <a:ext cx="2852265" cy="307777"/>
          </a:xfrm>
          <a:prstGeom prst="rect">
            <a:avLst/>
          </a:prstGeom>
          <a:noFill/>
        </p:spPr>
        <p:txBody>
          <a:bodyPr wrap="square" lIns="0" tIns="0" rIns="0" bIns="0" rtlCol="0">
            <a:spAutoFit/>
          </a:bodyPr>
          <a:lstStyle/>
          <a:p>
            <a:pPr marL="342900" indent="-342900">
              <a:buFont typeface="Wingdings" panose="05000000000000000000" pitchFamily="2" charset="2"/>
              <a:buChar char="n"/>
            </a:pPr>
            <a:r>
              <a:rPr lang="zh-CN" altLang="en-US" sz="2000" b="1" dirty="0">
                <a:solidFill>
                  <a:srgbClr val="002060"/>
                </a:solidFill>
                <a:latin typeface="微软雅黑" panose="020B0503020204020204" pitchFamily="34" charset="-122"/>
                <a:ea typeface="微软雅黑" panose="020B0503020204020204" pitchFamily="34" charset="-122"/>
                <a:cs typeface="Arial" pitchFamily="34" charset="0"/>
              </a:rPr>
              <a:t>任务前期处于陆地段</a:t>
            </a:r>
          </a:p>
        </p:txBody>
      </p:sp>
      <p:sp>
        <p:nvSpPr>
          <p:cNvPr id="24" name="文本框 23">
            <a:extLst>
              <a:ext uri="{FF2B5EF4-FFF2-40B4-BE49-F238E27FC236}">
                <a16:creationId xmlns:a16="http://schemas.microsoft.com/office/drawing/2014/main" id="{BAFD9B4A-81F9-332A-56B8-17140313E130}"/>
              </a:ext>
            </a:extLst>
          </p:cNvPr>
          <p:cNvSpPr txBox="1"/>
          <p:nvPr/>
        </p:nvSpPr>
        <p:spPr>
          <a:xfrm>
            <a:off x="2644431" y="2871483"/>
            <a:ext cx="2852265" cy="307777"/>
          </a:xfrm>
          <a:prstGeom prst="rect">
            <a:avLst/>
          </a:prstGeom>
          <a:noFill/>
        </p:spPr>
        <p:txBody>
          <a:bodyPr wrap="square" lIns="0" tIns="0" rIns="0" bIns="0" rtlCol="0">
            <a:spAutoFit/>
          </a:bodyPr>
          <a:lstStyle/>
          <a:p>
            <a:pPr marL="342900" indent="-342900">
              <a:buFont typeface="Wingdings" panose="05000000000000000000" pitchFamily="2" charset="2"/>
              <a:buChar char="n"/>
            </a:pPr>
            <a:r>
              <a:rPr lang="zh-CN" altLang="en-US" sz="2000" b="1" dirty="0">
                <a:solidFill>
                  <a:srgbClr val="002060"/>
                </a:solidFill>
                <a:latin typeface="微软雅黑" panose="020B0503020204020204" pitchFamily="34" charset="-122"/>
                <a:ea typeface="微软雅黑" panose="020B0503020204020204" pitchFamily="34" charset="-122"/>
                <a:cs typeface="Arial" pitchFamily="34" charset="0"/>
              </a:rPr>
              <a:t>任务后期处于陆地段</a:t>
            </a:r>
          </a:p>
        </p:txBody>
      </p:sp>
      <p:sp>
        <p:nvSpPr>
          <p:cNvPr id="25" name="文本框 24">
            <a:extLst>
              <a:ext uri="{FF2B5EF4-FFF2-40B4-BE49-F238E27FC236}">
                <a16:creationId xmlns:a16="http://schemas.microsoft.com/office/drawing/2014/main" id="{E0E41789-FFA0-C930-E80E-46D5E84F9CE6}"/>
              </a:ext>
            </a:extLst>
          </p:cNvPr>
          <p:cNvSpPr txBox="1"/>
          <p:nvPr/>
        </p:nvSpPr>
        <p:spPr>
          <a:xfrm>
            <a:off x="2644431" y="4397935"/>
            <a:ext cx="2852265" cy="307777"/>
          </a:xfrm>
          <a:prstGeom prst="rect">
            <a:avLst/>
          </a:prstGeom>
          <a:noFill/>
        </p:spPr>
        <p:txBody>
          <a:bodyPr wrap="square" lIns="0" tIns="0" rIns="0" bIns="0" rtlCol="0">
            <a:spAutoFit/>
          </a:bodyPr>
          <a:lstStyle/>
          <a:p>
            <a:pPr marL="342900" indent="-342900">
              <a:buFont typeface="Wingdings" panose="05000000000000000000" pitchFamily="2" charset="2"/>
              <a:buChar char="n"/>
            </a:pPr>
            <a:r>
              <a:rPr lang="zh-CN" altLang="en-US" sz="2000" b="1" dirty="0">
                <a:solidFill>
                  <a:srgbClr val="002060"/>
                </a:solidFill>
                <a:latin typeface="微软雅黑" panose="020B0503020204020204" pitchFamily="34" charset="-122"/>
                <a:ea typeface="微软雅黑" panose="020B0503020204020204" pitchFamily="34" charset="-122"/>
                <a:cs typeface="Arial" pitchFamily="34" charset="0"/>
              </a:rPr>
              <a:t>全陆地任务</a:t>
            </a:r>
          </a:p>
        </p:txBody>
      </p:sp>
      <p:sp>
        <p:nvSpPr>
          <p:cNvPr id="30" name="矩形: 圆角 29">
            <a:extLst>
              <a:ext uri="{FF2B5EF4-FFF2-40B4-BE49-F238E27FC236}">
                <a16:creationId xmlns:a16="http://schemas.microsoft.com/office/drawing/2014/main" id="{4C1AD44C-3A08-1DFB-39F4-E2BEF2CCD137}"/>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defRPr/>
            </a:pP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针对一二类航线开展航线优化</a:t>
            </a:r>
          </a:p>
        </p:txBody>
      </p:sp>
      <p:sp>
        <p:nvSpPr>
          <p:cNvPr id="5" name="任意多边形: 形状 4">
            <a:extLst>
              <a:ext uri="{FF2B5EF4-FFF2-40B4-BE49-F238E27FC236}">
                <a16:creationId xmlns:a16="http://schemas.microsoft.com/office/drawing/2014/main" id="{F08E198D-4EFC-D68D-3077-D1ED20D8F9D8}"/>
              </a:ext>
            </a:extLst>
          </p:cNvPr>
          <p:cNvSpPr/>
          <p:nvPr/>
        </p:nvSpPr>
        <p:spPr>
          <a:xfrm>
            <a:off x="2833688" y="1676400"/>
            <a:ext cx="4910137" cy="790575"/>
          </a:xfrm>
          <a:custGeom>
            <a:avLst/>
            <a:gdLst>
              <a:gd name="csX0" fmla="*/ 0 w 4910137"/>
              <a:gd name="csY0" fmla="*/ 790575 h 790575"/>
              <a:gd name="csX1" fmla="*/ 409575 w 4910137"/>
              <a:gd name="csY1" fmla="*/ 790575 h 790575"/>
              <a:gd name="csX2" fmla="*/ 690562 w 4910137"/>
              <a:gd name="csY2" fmla="*/ 452438 h 790575"/>
              <a:gd name="csX3" fmla="*/ 1252537 w 4910137"/>
              <a:gd name="csY3" fmla="*/ 461963 h 790575"/>
              <a:gd name="csX4" fmla="*/ 1643062 w 4910137"/>
              <a:gd name="csY4" fmla="*/ 128588 h 790575"/>
              <a:gd name="csX5" fmla="*/ 3738562 w 4910137"/>
              <a:gd name="csY5" fmla="*/ 0 h 790575"/>
              <a:gd name="csX6" fmla="*/ 4300537 w 4910137"/>
              <a:gd name="csY6" fmla="*/ 790575 h 790575"/>
              <a:gd name="csX7" fmla="*/ 4910137 w 4910137"/>
              <a:gd name="csY7" fmla="*/ 790575 h 7905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910137" h="790575">
                <a:moveTo>
                  <a:pt x="0" y="790575"/>
                </a:moveTo>
                <a:lnTo>
                  <a:pt x="409575" y="790575"/>
                </a:lnTo>
                <a:lnTo>
                  <a:pt x="690562" y="452438"/>
                </a:lnTo>
                <a:lnTo>
                  <a:pt x="1252537" y="461963"/>
                </a:lnTo>
                <a:lnTo>
                  <a:pt x="1643062" y="128588"/>
                </a:lnTo>
                <a:lnTo>
                  <a:pt x="3738562" y="0"/>
                </a:lnTo>
                <a:lnTo>
                  <a:pt x="4300537" y="790575"/>
                </a:lnTo>
                <a:lnTo>
                  <a:pt x="4910137" y="790575"/>
                </a:lnTo>
              </a:path>
            </a:pathLst>
          </a:cu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55460BB5-EAF4-87A4-0797-D4E1D5926C28}"/>
              </a:ext>
            </a:extLst>
          </p:cNvPr>
          <p:cNvSpPr/>
          <p:nvPr/>
        </p:nvSpPr>
        <p:spPr>
          <a:xfrm>
            <a:off x="2993106" y="1788946"/>
            <a:ext cx="4905375" cy="785812"/>
          </a:xfrm>
          <a:custGeom>
            <a:avLst/>
            <a:gdLst>
              <a:gd name="csX0" fmla="*/ 0 w 4905375"/>
              <a:gd name="csY0" fmla="*/ 781050 h 785812"/>
              <a:gd name="csX1" fmla="*/ 419100 w 4905375"/>
              <a:gd name="csY1" fmla="*/ 781050 h 785812"/>
              <a:gd name="csX2" fmla="*/ 695325 w 4905375"/>
              <a:gd name="csY2" fmla="*/ 452437 h 785812"/>
              <a:gd name="csX3" fmla="*/ 1262062 w 4905375"/>
              <a:gd name="csY3" fmla="*/ 457200 h 785812"/>
              <a:gd name="csX4" fmla="*/ 1666875 w 4905375"/>
              <a:gd name="csY4" fmla="*/ 100012 h 785812"/>
              <a:gd name="csX5" fmla="*/ 3757612 w 4905375"/>
              <a:gd name="csY5" fmla="*/ 0 h 785812"/>
              <a:gd name="csX6" fmla="*/ 4310062 w 4905375"/>
              <a:gd name="csY6" fmla="*/ 785812 h 785812"/>
              <a:gd name="csX7" fmla="*/ 4905375 w 4905375"/>
              <a:gd name="csY7" fmla="*/ 785812 h 785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905375" h="785812">
                <a:moveTo>
                  <a:pt x="0" y="781050"/>
                </a:moveTo>
                <a:lnTo>
                  <a:pt x="419100" y="781050"/>
                </a:lnTo>
                <a:lnTo>
                  <a:pt x="695325" y="452437"/>
                </a:lnTo>
                <a:lnTo>
                  <a:pt x="1262062" y="457200"/>
                </a:lnTo>
                <a:lnTo>
                  <a:pt x="1666875" y="100012"/>
                </a:lnTo>
                <a:lnTo>
                  <a:pt x="3757612" y="0"/>
                </a:lnTo>
                <a:lnTo>
                  <a:pt x="4310062" y="785812"/>
                </a:lnTo>
                <a:lnTo>
                  <a:pt x="4905375" y="785812"/>
                </a:ln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5057C5FF-0438-22FC-D1DA-E31BDC593949}"/>
              </a:ext>
            </a:extLst>
          </p:cNvPr>
          <p:cNvSpPr txBox="1"/>
          <p:nvPr/>
        </p:nvSpPr>
        <p:spPr>
          <a:xfrm>
            <a:off x="3524251" y="2066830"/>
            <a:ext cx="766762" cy="161583"/>
          </a:xfrm>
          <a:prstGeom prst="rect">
            <a:avLst/>
          </a:prstGeom>
          <a:noFill/>
        </p:spPr>
        <p:txBody>
          <a:bodyPr wrap="square" lIns="0" tIns="0" rIns="0" bIns="0" rtlCol="0">
            <a:spAutoFit/>
          </a:bodyPr>
          <a:lstStyle/>
          <a:p>
            <a:pPr algn="ctr"/>
            <a:r>
              <a:rPr lang="zh-CN" altLang="en-US" sz="1050" b="1" dirty="0">
                <a:solidFill>
                  <a:srgbClr val="002060"/>
                </a:solidFill>
                <a:latin typeface="微软雅黑" panose="020B0503020204020204" pitchFamily="34" charset="-122"/>
                <a:ea typeface="微软雅黑" panose="020B0503020204020204" pitchFamily="34" charset="-122"/>
                <a:cs typeface="Arial" pitchFamily="34" charset="0"/>
              </a:rPr>
              <a:t>亚声速航段</a:t>
            </a:r>
          </a:p>
        </p:txBody>
      </p:sp>
      <p:sp>
        <p:nvSpPr>
          <p:cNvPr id="8" name="矩形 7">
            <a:extLst>
              <a:ext uri="{FF2B5EF4-FFF2-40B4-BE49-F238E27FC236}">
                <a16:creationId xmlns:a16="http://schemas.microsoft.com/office/drawing/2014/main" id="{1984C8AA-D947-B086-2CF4-418C27CE2050}"/>
              </a:ext>
            </a:extLst>
          </p:cNvPr>
          <p:cNvSpPr/>
          <p:nvPr/>
        </p:nvSpPr>
        <p:spPr>
          <a:xfrm>
            <a:off x="2993106" y="1697104"/>
            <a:ext cx="4905375" cy="1014506"/>
          </a:xfrm>
          <a:prstGeom prst="rect">
            <a:avLst/>
          </a:prstGeom>
          <a:noFill/>
          <a:ln w="15875">
            <a:solidFill>
              <a:schemeClr val="accent2"/>
            </a:solidFill>
            <a:prstDash val="lgDash"/>
            <a:extLst>
              <a:ext uri="{C807C97D-BFC1-408E-A445-0C87EB9F89A2}">
                <ask:lineSketchStyleProps xmlns:ask="http://schemas.microsoft.com/office/drawing/2018/sketchyshapes" sd="1219033472">
                  <a:custGeom>
                    <a:avLst/>
                    <a:gdLst>
                      <a:gd name="csX0" fmla="*/ 0 w 4905375"/>
                      <a:gd name="csY0" fmla="*/ 0 h 1014506"/>
                      <a:gd name="csX1" fmla="*/ 4905375 w 4905375"/>
                      <a:gd name="csY1" fmla="*/ 0 h 1014506"/>
                      <a:gd name="csX2" fmla="*/ 4905375 w 4905375"/>
                      <a:gd name="csY2" fmla="*/ 1014506 h 1014506"/>
                      <a:gd name="csX3" fmla="*/ 0 w 4905375"/>
                      <a:gd name="csY3" fmla="*/ 1014506 h 1014506"/>
                      <a:gd name="csX4" fmla="*/ 0 w 4905375"/>
                      <a:gd name="csY4" fmla="*/ 0 h 1014506"/>
                    </a:gdLst>
                    <a:ahLst/>
                    <a:cxnLst>
                      <a:cxn ang="0">
                        <a:pos x="csX0" y="csY0"/>
                      </a:cxn>
                      <a:cxn ang="0">
                        <a:pos x="csX1" y="csY1"/>
                      </a:cxn>
                      <a:cxn ang="0">
                        <a:pos x="csX2" y="csY2"/>
                      </a:cxn>
                      <a:cxn ang="0">
                        <a:pos x="csX3" y="csY3"/>
                      </a:cxn>
                      <a:cxn ang="0">
                        <a:pos x="csX4" y="csY4"/>
                      </a:cxn>
                    </a:cxnLst>
                    <a:rect l="l" t="t" r="r" b="b"/>
                    <a:pathLst>
                      <a:path w="4905375" h="1014506" extrusionOk="0">
                        <a:moveTo>
                          <a:pt x="0" y="0"/>
                        </a:moveTo>
                        <a:cubicBezTo>
                          <a:pt x="608531" y="118645"/>
                          <a:pt x="3822172" y="116012"/>
                          <a:pt x="4905375" y="0"/>
                        </a:cubicBezTo>
                        <a:cubicBezTo>
                          <a:pt x="4854470" y="440816"/>
                          <a:pt x="4821748" y="799380"/>
                          <a:pt x="4905375" y="1014506"/>
                        </a:cubicBezTo>
                        <a:cubicBezTo>
                          <a:pt x="2980867" y="1149106"/>
                          <a:pt x="2013497" y="857310"/>
                          <a:pt x="0" y="1014506"/>
                        </a:cubicBezTo>
                        <a:cubicBezTo>
                          <a:pt x="7065" y="556680"/>
                          <a:pt x="-57556" y="21470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5" name="文本框 14">
            <a:extLst>
              <a:ext uri="{FF2B5EF4-FFF2-40B4-BE49-F238E27FC236}">
                <a16:creationId xmlns:a16="http://schemas.microsoft.com/office/drawing/2014/main" id="{373C59AB-3D9E-F243-466E-0131DD96DB08}"/>
              </a:ext>
            </a:extLst>
          </p:cNvPr>
          <p:cNvSpPr txBox="1"/>
          <p:nvPr/>
        </p:nvSpPr>
        <p:spPr>
          <a:xfrm>
            <a:off x="3965578" y="2265888"/>
            <a:ext cx="3062235" cy="307777"/>
          </a:xfrm>
          <a:prstGeom prst="rect">
            <a:avLst/>
          </a:prstGeom>
          <a:noFill/>
        </p:spPr>
        <p:txBody>
          <a:bodyPr wrap="square">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cs typeface="Arial" pitchFamily="34" charset="0"/>
              </a:rPr>
              <a:t>需要以亚声速飞出陆地区域</a:t>
            </a:r>
            <a:endParaRPr lang="en-US" altLang="zh-CN" sz="1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21" name="矩形 20">
            <a:extLst>
              <a:ext uri="{FF2B5EF4-FFF2-40B4-BE49-F238E27FC236}">
                <a16:creationId xmlns:a16="http://schemas.microsoft.com/office/drawing/2014/main" id="{C7E46C7C-3AD5-0BC2-8850-7E0B62DBA321}"/>
              </a:ext>
            </a:extLst>
          </p:cNvPr>
          <p:cNvSpPr/>
          <p:nvPr/>
        </p:nvSpPr>
        <p:spPr>
          <a:xfrm>
            <a:off x="2993106" y="3207434"/>
            <a:ext cx="4905375" cy="1014506"/>
          </a:xfrm>
          <a:prstGeom prst="rect">
            <a:avLst/>
          </a:prstGeom>
          <a:noFill/>
          <a:ln w="15875">
            <a:solidFill>
              <a:schemeClr val="accent2"/>
            </a:solidFill>
            <a:prstDash val="lgDash"/>
            <a:extLst>
              <a:ext uri="{C807C97D-BFC1-408E-A445-0C87EB9F89A2}">
                <ask:lineSketchStyleProps xmlns:ask="http://schemas.microsoft.com/office/drawing/2018/sketchyshapes" sd="1219033472">
                  <a:custGeom>
                    <a:avLst/>
                    <a:gdLst>
                      <a:gd name="csX0" fmla="*/ 0 w 4905375"/>
                      <a:gd name="csY0" fmla="*/ 0 h 1014506"/>
                      <a:gd name="csX1" fmla="*/ 4905375 w 4905375"/>
                      <a:gd name="csY1" fmla="*/ 0 h 1014506"/>
                      <a:gd name="csX2" fmla="*/ 4905375 w 4905375"/>
                      <a:gd name="csY2" fmla="*/ 1014506 h 1014506"/>
                      <a:gd name="csX3" fmla="*/ 0 w 4905375"/>
                      <a:gd name="csY3" fmla="*/ 1014506 h 1014506"/>
                      <a:gd name="csX4" fmla="*/ 0 w 4905375"/>
                      <a:gd name="csY4" fmla="*/ 0 h 1014506"/>
                    </a:gdLst>
                    <a:ahLst/>
                    <a:cxnLst>
                      <a:cxn ang="0">
                        <a:pos x="csX0" y="csY0"/>
                      </a:cxn>
                      <a:cxn ang="0">
                        <a:pos x="csX1" y="csY1"/>
                      </a:cxn>
                      <a:cxn ang="0">
                        <a:pos x="csX2" y="csY2"/>
                      </a:cxn>
                      <a:cxn ang="0">
                        <a:pos x="csX3" y="csY3"/>
                      </a:cxn>
                      <a:cxn ang="0">
                        <a:pos x="csX4" y="csY4"/>
                      </a:cxn>
                    </a:cxnLst>
                    <a:rect l="l" t="t" r="r" b="b"/>
                    <a:pathLst>
                      <a:path w="4905375" h="1014506" extrusionOk="0">
                        <a:moveTo>
                          <a:pt x="0" y="0"/>
                        </a:moveTo>
                        <a:cubicBezTo>
                          <a:pt x="608531" y="118645"/>
                          <a:pt x="3822172" y="116012"/>
                          <a:pt x="4905375" y="0"/>
                        </a:cubicBezTo>
                        <a:cubicBezTo>
                          <a:pt x="4854470" y="440816"/>
                          <a:pt x="4821748" y="799380"/>
                          <a:pt x="4905375" y="1014506"/>
                        </a:cubicBezTo>
                        <a:cubicBezTo>
                          <a:pt x="2980867" y="1149106"/>
                          <a:pt x="2013497" y="857310"/>
                          <a:pt x="0" y="1014506"/>
                        </a:cubicBezTo>
                        <a:cubicBezTo>
                          <a:pt x="7065" y="556680"/>
                          <a:pt x="-57556" y="21470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22" name="文本框 21">
            <a:extLst>
              <a:ext uri="{FF2B5EF4-FFF2-40B4-BE49-F238E27FC236}">
                <a16:creationId xmlns:a16="http://schemas.microsoft.com/office/drawing/2014/main" id="{E385A596-D8C4-4F22-B56C-23F3F651AC1C}"/>
              </a:ext>
            </a:extLst>
          </p:cNvPr>
          <p:cNvSpPr txBox="1"/>
          <p:nvPr/>
        </p:nvSpPr>
        <p:spPr>
          <a:xfrm>
            <a:off x="3965578" y="3776218"/>
            <a:ext cx="3062235" cy="307777"/>
          </a:xfrm>
          <a:prstGeom prst="rect">
            <a:avLst/>
          </a:prstGeom>
          <a:noFill/>
        </p:spPr>
        <p:txBody>
          <a:bodyPr wrap="square">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cs typeface="Arial" pitchFamily="34" charset="0"/>
              </a:rPr>
              <a:t>提前结束超声速巡航减速下降</a:t>
            </a:r>
            <a:endParaRPr lang="en-US" altLang="zh-CN" sz="1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27" name="任意多边形: 形状 26">
            <a:extLst>
              <a:ext uri="{FF2B5EF4-FFF2-40B4-BE49-F238E27FC236}">
                <a16:creationId xmlns:a16="http://schemas.microsoft.com/office/drawing/2014/main" id="{5E7FA5B4-4DEE-AAA2-DDA5-5417B8B75A47}"/>
              </a:ext>
            </a:extLst>
          </p:cNvPr>
          <p:cNvSpPr/>
          <p:nvPr/>
        </p:nvSpPr>
        <p:spPr>
          <a:xfrm>
            <a:off x="2990850" y="3319463"/>
            <a:ext cx="4900613" cy="766762"/>
          </a:xfrm>
          <a:custGeom>
            <a:avLst/>
            <a:gdLst>
              <a:gd name="csX0" fmla="*/ 0 w 4900613"/>
              <a:gd name="csY0" fmla="*/ 757237 h 766762"/>
              <a:gd name="csX1" fmla="*/ 414338 w 4900613"/>
              <a:gd name="csY1" fmla="*/ 762000 h 766762"/>
              <a:gd name="csX2" fmla="*/ 914400 w 4900613"/>
              <a:gd name="csY2" fmla="*/ 166687 h 766762"/>
              <a:gd name="csX3" fmla="*/ 3043238 w 4900613"/>
              <a:gd name="csY3" fmla="*/ 0 h 766762"/>
              <a:gd name="csX4" fmla="*/ 4305300 w 4900613"/>
              <a:gd name="csY4" fmla="*/ 762000 h 766762"/>
              <a:gd name="csX5" fmla="*/ 4900613 w 4900613"/>
              <a:gd name="csY5" fmla="*/ 766762 h 766762"/>
            </a:gdLst>
            <a:ahLst/>
            <a:cxnLst>
              <a:cxn ang="0">
                <a:pos x="csX0" y="csY0"/>
              </a:cxn>
              <a:cxn ang="0">
                <a:pos x="csX1" y="csY1"/>
              </a:cxn>
              <a:cxn ang="0">
                <a:pos x="csX2" y="csY2"/>
              </a:cxn>
              <a:cxn ang="0">
                <a:pos x="csX3" y="csY3"/>
              </a:cxn>
              <a:cxn ang="0">
                <a:pos x="csX4" y="csY4"/>
              </a:cxn>
              <a:cxn ang="0">
                <a:pos x="csX5" y="csY5"/>
              </a:cxn>
            </a:cxnLst>
            <a:rect l="l" t="t" r="r" b="b"/>
            <a:pathLst>
              <a:path w="4900613" h="766762">
                <a:moveTo>
                  <a:pt x="0" y="757237"/>
                </a:moveTo>
                <a:lnTo>
                  <a:pt x="414338" y="762000"/>
                </a:lnTo>
                <a:lnTo>
                  <a:pt x="914400" y="166687"/>
                </a:lnTo>
                <a:lnTo>
                  <a:pt x="3043238" y="0"/>
                </a:lnTo>
                <a:lnTo>
                  <a:pt x="4305300" y="762000"/>
                </a:lnTo>
                <a:lnTo>
                  <a:pt x="4900613" y="766762"/>
                </a:ln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92BE9993-5E86-E497-9F4C-5EC5E19EAF18}"/>
              </a:ext>
            </a:extLst>
          </p:cNvPr>
          <p:cNvSpPr/>
          <p:nvPr/>
        </p:nvSpPr>
        <p:spPr>
          <a:xfrm>
            <a:off x="2993106" y="4734329"/>
            <a:ext cx="4905375" cy="1014506"/>
          </a:xfrm>
          <a:prstGeom prst="rect">
            <a:avLst/>
          </a:prstGeom>
          <a:noFill/>
          <a:ln w="15875">
            <a:solidFill>
              <a:schemeClr val="accent2"/>
            </a:solidFill>
            <a:prstDash val="lgDash"/>
            <a:extLst>
              <a:ext uri="{C807C97D-BFC1-408E-A445-0C87EB9F89A2}">
                <ask:lineSketchStyleProps xmlns:ask="http://schemas.microsoft.com/office/drawing/2018/sketchyshapes" sd="1219033472">
                  <a:custGeom>
                    <a:avLst/>
                    <a:gdLst>
                      <a:gd name="csX0" fmla="*/ 0 w 4905375"/>
                      <a:gd name="csY0" fmla="*/ 0 h 1014506"/>
                      <a:gd name="csX1" fmla="*/ 4905375 w 4905375"/>
                      <a:gd name="csY1" fmla="*/ 0 h 1014506"/>
                      <a:gd name="csX2" fmla="*/ 4905375 w 4905375"/>
                      <a:gd name="csY2" fmla="*/ 1014506 h 1014506"/>
                      <a:gd name="csX3" fmla="*/ 0 w 4905375"/>
                      <a:gd name="csY3" fmla="*/ 1014506 h 1014506"/>
                      <a:gd name="csX4" fmla="*/ 0 w 4905375"/>
                      <a:gd name="csY4" fmla="*/ 0 h 1014506"/>
                    </a:gdLst>
                    <a:ahLst/>
                    <a:cxnLst>
                      <a:cxn ang="0">
                        <a:pos x="csX0" y="csY0"/>
                      </a:cxn>
                      <a:cxn ang="0">
                        <a:pos x="csX1" y="csY1"/>
                      </a:cxn>
                      <a:cxn ang="0">
                        <a:pos x="csX2" y="csY2"/>
                      </a:cxn>
                      <a:cxn ang="0">
                        <a:pos x="csX3" y="csY3"/>
                      </a:cxn>
                      <a:cxn ang="0">
                        <a:pos x="csX4" y="csY4"/>
                      </a:cxn>
                    </a:cxnLst>
                    <a:rect l="l" t="t" r="r" b="b"/>
                    <a:pathLst>
                      <a:path w="4905375" h="1014506" extrusionOk="0">
                        <a:moveTo>
                          <a:pt x="0" y="0"/>
                        </a:moveTo>
                        <a:cubicBezTo>
                          <a:pt x="608531" y="118645"/>
                          <a:pt x="3822172" y="116012"/>
                          <a:pt x="4905375" y="0"/>
                        </a:cubicBezTo>
                        <a:cubicBezTo>
                          <a:pt x="4854470" y="440816"/>
                          <a:pt x="4821748" y="799380"/>
                          <a:pt x="4905375" y="1014506"/>
                        </a:cubicBezTo>
                        <a:cubicBezTo>
                          <a:pt x="2980867" y="1149106"/>
                          <a:pt x="2013497" y="857310"/>
                          <a:pt x="0" y="1014506"/>
                        </a:cubicBezTo>
                        <a:cubicBezTo>
                          <a:pt x="7065" y="556680"/>
                          <a:pt x="-57556" y="21470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35" name="文本框 34">
            <a:extLst>
              <a:ext uri="{FF2B5EF4-FFF2-40B4-BE49-F238E27FC236}">
                <a16:creationId xmlns:a16="http://schemas.microsoft.com/office/drawing/2014/main" id="{E9531C87-E503-63C4-258A-477B9C57C8A8}"/>
              </a:ext>
            </a:extLst>
          </p:cNvPr>
          <p:cNvSpPr txBox="1"/>
          <p:nvPr/>
        </p:nvSpPr>
        <p:spPr>
          <a:xfrm>
            <a:off x="3965578" y="5303113"/>
            <a:ext cx="3062235" cy="307777"/>
          </a:xfrm>
          <a:prstGeom prst="rect">
            <a:avLst/>
          </a:prstGeom>
          <a:noFill/>
        </p:spPr>
        <p:txBody>
          <a:bodyPr wrap="square">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cs typeface="Arial" pitchFamily="34" charset="0"/>
              </a:rPr>
              <a:t>全程亚声速</a:t>
            </a:r>
            <a:endParaRPr lang="en-US" altLang="zh-CN" sz="14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37" name="任意多边形: 形状 36">
            <a:extLst>
              <a:ext uri="{FF2B5EF4-FFF2-40B4-BE49-F238E27FC236}">
                <a16:creationId xmlns:a16="http://schemas.microsoft.com/office/drawing/2014/main" id="{2CA14C8F-04D8-170F-6281-AD3FD5D5875E}"/>
              </a:ext>
            </a:extLst>
          </p:cNvPr>
          <p:cNvSpPr/>
          <p:nvPr/>
        </p:nvSpPr>
        <p:spPr>
          <a:xfrm>
            <a:off x="2995613" y="4876800"/>
            <a:ext cx="4891087" cy="738188"/>
          </a:xfrm>
          <a:custGeom>
            <a:avLst/>
            <a:gdLst>
              <a:gd name="csX0" fmla="*/ 0 w 4891087"/>
              <a:gd name="csY0" fmla="*/ 728663 h 738188"/>
              <a:gd name="csX1" fmla="*/ 414337 w 4891087"/>
              <a:gd name="csY1" fmla="*/ 728663 h 738188"/>
              <a:gd name="csX2" fmla="*/ 914400 w 4891087"/>
              <a:gd name="csY2" fmla="*/ 138113 h 738188"/>
              <a:gd name="csX3" fmla="*/ 3824287 w 4891087"/>
              <a:gd name="csY3" fmla="*/ 0 h 738188"/>
              <a:gd name="csX4" fmla="*/ 4305300 w 4891087"/>
              <a:gd name="csY4" fmla="*/ 733425 h 738188"/>
              <a:gd name="csX5" fmla="*/ 4891087 w 4891087"/>
              <a:gd name="csY5" fmla="*/ 738188 h 738188"/>
            </a:gdLst>
            <a:ahLst/>
            <a:cxnLst>
              <a:cxn ang="0">
                <a:pos x="csX0" y="csY0"/>
              </a:cxn>
              <a:cxn ang="0">
                <a:pos x="csX1" y="csY1"/>
              </a:cxn>
              <a:cxn ang="0">
                <a:pos x="csX2" y="csY2"/>
              </a:cxn>
              <a:cxn ang="0">
                <a:pos x="csX3" y="csY3"/>
              </a:cxn>
              <a:cxn ang="0">
                <a:pos x="csX4" y="csY4"/>
              </a:cxn>
              <a:cxn ang="0">
                <a:pos x="csX5" y="csY5"/>
              </a:cxn>
            </a:cxnLst>
            <a:rect l="l" t="t" r="r" b="b"/>
            <a:pathLst>
              <a:path w="4891087" h="738188">
                <a:moveTo>
                  <a:pt x="0" y="728663"/>
                </a:moveTo>
                <a:lnTo>
                  <a:pt x="414337" y="728663"/>
                </a:lnTo>
                <a:lnTo>
                  <a:pt x="914400" y="138113"/>
                </a:lnTo>
                <a:lnTo>
                  <a:pt x="3824287" y="0"/>
                </a:lnTo>
                <a:lnTo>
                  <a:pt x="4305300" y="733425"/>
                </a:lnTo>
                <a:lnTo>
                  <a:pt x="4891087" y="738188"/>
                </a:ln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pic>
        <p:nvPicPr>
          <p:cNvPr id="38" name="图片 37">
            <a:extLst>
              <a:ext uri="{FF2B5EF4-FFF2-40B4-BE49-F238E27FC236}">
                <a16:creationId xmlns:a16="http://schemas.microsoft.com/office/drawing/2014/main" id="{6111D7BF-E435-7293-6B3D-743B9B541228}"/>
              </a:ext>
            </a:extLst>
          </p:cNvPr>
          <p:cNvPicPr>
            <a:picLocks noChangeAspect="1"/>
          </p:cNvPicPr>
          <p:nvPr/>
        </p:nvPicPr>
        <p:blipFill>
          <a:blip r:embed="rId4"/>
          <a:stretch>
            <a:fillRect/>
          </a:stretch>
        </p:blipFill>
        <p:spPr>
          <a:xfrm>
            <a:off x="8624807" y="2949221"/>
            <a:ext cx="2710847" cy="1295551"/>
          </a:xfrm>
          <a:prstGeom prst="rect">
            <a:avLst/>
          </a:prstGeom>
        </p:spPr>
      </p:pic>
      <p:sp>
        <p:nvSpPr>
          <p:cNvPr id="39" name="文本框 38">
            <a:extLst>
              <a:ext uri="{FF2B5EF4-FFF2-40B4-BE49-F238E27FC236}">
                <a16:creationId xmlns:a16="http://schemas.microsoft.com/office/drawing/2014/main" id="{138170EC-EF07-10D1-C43C-382154361A97}"/>
              </a:ext>
            </a:extLst>
          </p:cNvPr>
          <p:cNvSpPr txBox="1"/>
          <p:nvPr/>
        </p:nvSpPr>
        <p:spPr>
          <a:xfrm>
            <a:off x="8978743" y="3859603"/>
            <a:ext cx="2002972" cy="276999"/>
          </a:xfrm>
          <a:prstGeom prst="rect">
            <a:avLst/>
          </a:prstGeom>
          <a:noFill/>
        </p:spPr>
        <p:txBody>
          <a:bodyPr wrap="square" lIns="0" tIns="0" rIns="0" bIns="0" rtlCol="0">
            <a:spAutoFit/>
          </a:bodyPr>
          <a:lstStyle/>
          <a:p>
            <a:pPr algn="ct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例：上海</a:t>
            </a: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悉尼航线</a:t>
            </a:r>
          </a:p>
        </p:txBody>
      </p:sp>
      <p:pic>
        <p:nvPicPr>
          <p:cNvPr id="41" name="图片 40">
            <a:extLst>
              <a:ext uri="{FF2B5EF4-FFF2-40B4-BE49-F238E27FC236}">
                <a16:creationId xmlns:a16="http://schemas.microsoft.com/office/drawing/2014/main" id="{37E36790-F083-A208-897D-2350C76EA6A2}"/>
              </a:ext>
            </a:extLst>
          </p:cNvPr>
          <p:cNvPicPr>
            <a:picLocks noChangeAspect="1"/>
          </p:cNvPicPr>
          <p:nvPr/>
        </p:nvPicPr>
        <p:blipFill>
          <a:blip r:embed="rId5"/>
          <a:stretch>
            <a:fillRect/>
          </a:stretch>
        </p:blipFill>
        <p:spPr>
          <a:xfrm>
            <a:off x="8624807" y="1392538"/>
            <a:ext cx="2710848" cy="1329638"/>
          </a:xfrm>
          <a:prstGeom prst="rect">
            <a:avLst/>
          </a:prstGeom>
        </p:spPr>
      </p:pic>
      <p:sp>
        <p:nvSpPr>
          <p:cNvPr id="40" name="文本框 39">
            <a:extLst>
              <a:ext uri="{FF2B5EF4-FFF2-40B4-BE49-F238E27FC236}">
                <a16:creationId xmlns:a16="http://schemas.microsoft.com/office/drawing/2014/main" id="{20490E10-03B9-46FF-E2A2-5E3D8CED8906}"/>
              </a:ext>
            </a:extLst>
          </p:cNvPr>
          <p:cNvSpPr txBox="1"/>
          <p:nvPr/>
        </p:nvSpPr>
        <p:spPr>
          <a:xfrm>
            <a:off x="8893454" y="2419318"/>
            <a:ext cx="2173551" cy="276999"/>
          </a:xfrm>
          <a:prstGeom prst="rect">
            <a:avLst/>
          </a:prstGeom>
          <a:noFill/>
        </p:spPr>
        <p:txBody>
          <a:bodyPr wrap="square" lIns="0" tIns="0" rIns="0" bIns="0" rtlCol="0">
            <a:spAutoFit/>
          </a:bodyPr>
          <a:lstStyle/>
          <a:p>
            <a:pPr algn="ct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例：北京</a:t>
            </a: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洛杉矶航线</a:t>
            </a:r>
          </a:p>
        </p:txBody>
      </p:sp>
      <p:pic>
        <p:nvPicPr>
          <p:cNvPr id="43" name="图片 42">
            <a:extLst>
              <a:ext uri="{FF2B5EF4-FFF2-40B4-BE49-F238E27FC236}">
                <a16:creationId xmlns:a16="http://schemas.microsoft.com/office/drawing/2014/main" id="{D07A4C8F-B638-CD15-AACC-B9986817C197}"/>
              </a:ext>
            </a:extLst>
          </p:cNvPr>
          <p:cNvPicPr>
            <a:picLocks noChangeAspect="1"/>
          </p:cNvPicPr>
          <p:nvPr/>
        </p:nvPicPr>
        <p:blipFill>
          <a:blip r:embed="rId6"/>
          <a:stretch>
            <a:fillRect/>
          </a:stretch>
        </p:blipFill>
        <p:spPr>
          <a:xfrm>
            <a:off x="8624807" y="4441482"/>
            <a:ext cx="2710847" cy="1355424"/>
          </a:xfrm>
          <a:prstGeom prst="rect">
            <a:avLst/>
          </a:prstGeom>
        </p:spPr>
      </p:pic>
      <p:sp>
        <p:nvSpPr>
          <p:cNvPr id="44" name="文本框 43">
            <a:extLst>
              <a:ext uri="{FF2B5EF4-FFF2-40B4-BE49-F238E27FC236}">
                <a16:creationId xmlns:a16="http://schemas.microsoft.com/office/drawing/2014/main" id="{0EFAE277-A36C-68F7-40EE-69F2AEF02454}"/>
              </a:ext>
            </a:extLst>
          </p:cNvPr>
          <p:cNvSpPr txBox="1"/>
          <p:nvPr/>
        </p:nvSpPr>
        <p:spPr>
          <a:xfrm>
            <a:off x="8823248" y="5465462"/>
            <a:ext cx="2396295" cy="276999"/>
          </a:xfrm>
          <a:prstGeom prst="rect">
            <a:avLst/>
          </a:prstGeom>
          <a:noFill/>
        </p:spPr>
        <p:txBody>
          <a:bodyPr wrap="square" lIns="0" tIns="0" rIns="0" bIns="0" rtlCol="0">
            <a:spAutoFit/>
          </a:bodyPr>
          <a:lstStyle/>
          <a:p>
            <a:pPr algn="ct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例：广州</a:t>
            </a: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乌鲁木齐航线</a:t>
            </a:r>
          </a:p>
        </p:txBody>
      </p:sp>
      <p:sp>
        <p:nvSpPr>
          <p:cNvPr id="45" name="标题 1">
            <a:extLst>
              <a:ext uri="{FF2B5EF4-FFF2-40B4-BE49-F238E27FC236}">
                <a16:creationId xmlns:a16="http://schemas.microsoft.com/office/drawing/2014/main" id="{B2967EC0-1068-D304-A5D2-4DB258C60EEC}"/>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二、总体设计方法框架</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介绍</a:t>
            </a:r>
            <a:endPar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Tree>
    <p:custDataLst>
      <p:tags r:id="rId1"/>
    </p:custDataLst>
    <p:extLst>
      <p:ext uri="{BB962C8B-B14F-4D97-AF65-F5344CB8AC3E}">
        <p14:creationId xmlns:p14="http://schemas.microsoft.com/office/powerpoint/2010/main" val="167893814"/>
      </p:ext>
    </p:extLst>
  </p:cSld>
  <p:clrMapOvr>
    <a:masterClrMapping/>
  </p:clrMapOvr>
  <mc:AlternateContent xmlns:mc="http://schemas.openxmlformats.org/markup-compatibility/2006" xmlns:p159="http://schemas.microsoft.com/office/powerpoint/2015/09/main">
    <mc:Choice Requires="p159">
      <p:transition advTm="20472">
        <p159:morph option="byObject"/>
      </p:transition>
    </mc:Choice>
    <mc:Fallback xmlns="">
      <p:transition advTm="20472">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689F7-05AF-628F-D28F-E43048994BB8}"/>
            </a:ext>
          </a:extLst>
        </p:cNvPr>
        <p:cNvGrpSpPr/>
        <p:nvPr/>
      </p:nvGrpSpPr>
      <p:grpSpPr>
        <a:xfrm>
          <a:off x="0" y="0"/>
          <a:ext cx="0" cy="0"/>
          <a:chOff x="0" y="0"/>
          <a:chExt cx="0" cy="0"/>
        </a:xfrm>
      </p:grpSpPr>
      <p:pic>
        <p:nvPicPr>
          <p:cNvPr id="361" name="图片 360">
            <a:extLst>
              <a:ext uri="{FF2B5EF4-FFF2-40B4-BE49-F238E27FC236}">
                <a16:creationId xmlns:a16="http://schemas.microsoft.com/office/drawing/2014/main" id="{1FEC15FA-ADA7-FE52-EB61-A2799E536ECC}"/>
              </a:ext>
            </a:extLst>
          </p:cNvPr>
          <p:cNvPicPr>
            <a:picLocks noChangeAspect="1"/>
          </p:cNvPicPr>
          <p:nvPr/>
        </p:nvPicPr>
        <p:blipFill>
          <a:blip r:embed="rId4"/>
          <a:stretch>
            <a:fillRect/>
          </a:stretch>
        </p:blipFill>
        <p:spPr>
          <a:xfrm>
            <a:off x="6281586" y="1159056"/>
            <a:ext cx="5707038" cy="4045986"/>
          </a:xfrm>
          <a:prstGeom prst="rect">
            <a:avLst/>
          </a:prstGeom>
        </p:spPr>
      </p:pic>
      <p:sp>
        <p:nvSpPr>
          <p:cNvPr id="9" name="箭头: 五边形 8">
            <a:extLst>
              <a:ext uri="{FF2B5EF4-FFF2-40B4-BE49-F238E27FC236}">
                <a16:creationId xmlns:a16="http://schemas.microsoft.com/office/drawing/2014/main" id="{CD5C59BA-5960-995A-8CD3-B3CDB4065CA3}"/>
              </a:ext>
            </a:extLst>
          </p:cNvPr>
          <p:cNvSpPr/>
          <p:nvPr/>
        </p:nvSpPr>
        <p:spPr>
          <a:xfrm>
            <a:off x="-1" y="1717200"/>
            <a:ext cx="2375941" cy="1260000"/>
          </a:xfrm>
          <a:prstGeom prst="homePlate">
            <a:avLst>
              <a:gd name="adj" fmla="val 3037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航线规划</a:t>
            </a:r>
          </a:p>
        </p:txBody>
      </p:sp>
      <p:sp>
        <p:nvSpPr>
          <p:cNvPr id="10" name="箭头: 五边形 9">
            <a:extLst>
              <a:ext uri="{FF2B5EF4-FFF2-40B4-BE49-F238E27FC236}">
                <a16:creationId xmlns:a16="http://schemas.microsoft.com/office/drawing/2014/main" id="{BD611126-43EC-95F3-3A61-C8E1B16C6D00}"/>
              </a:ext>
            </a:extLst>
          </p:cNvPr>
          <p:cNvSpPr/>
          <p:nvPr/>
        </p:nvSpPr>
        <p:spPr>
          <a:xfrm>
            <a:off x="0" y="31266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重量</a:t>
            </a:r>
            <a:r>
              <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剖面</a:t>
            </a:r>
            <a:endPar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联合设计</a:t>
            </a:r>
          </a:p>
        </p:txBody>
      </p:sp>
      <p:sp>
        <p:nvSpPr>
          <p:cNvPr id="11" name="箭头: 五边形 10">
            <a:extLst>
              <a:ext uri="{FF2B5EF4-FFF2-40B4-BE49-F238E27FC236}">
                <a16:creationId xmlns:a16="http://schemas.microsoft.com/office/drawing/2014/main" id="{62700CA3-5ECF-D410-C6BF-8BDB2AA4B231}"/>
              </a:ext>
            </a:extLst>
          </p:cNvPr>
          <p:cNvSpPr/>
          <p:nvPr/>
        </p:nvSpPr>
        <p:spPr>
          <a:xfrm>
            <a:off x="0" y="45360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气动优化</a:t>
            </a:r>
          </a:p>
        </p:txBody>
      </p:sp>
      <p:sp>
        <p:nvSpPr>
          <p:cNvPr id="14" name="文本框 13">
            <a:extLst>
              <a:ext uri="{FF2B5EF4-FFF2-40B4-BE49-F238E27FC236}">
                <a16:creationId xmlns:a16="http://schemas.microsoft.com/office/drawing/2014/main" id="{7DAC9CFE-4EBE-0FB4-BD37-EBA3B5EBC2A9}"/>
              </a:ext>
            </a:extLst>
          </p:cNvPr>
          <p:cNvSpPr txBox="1"/>
          <p:nvPr/>
        </p:nvSpPr>
        <p:spPr>
          <a:xfrm>
            <a:off x="203376" y="847051"/>
            <a:ext cx="4227039" cy="400110"/>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考虑声爆毯宽度的海陆标记准则</a:t>
            </a:r>
          </a:p>
        </p:txBody>
      </p:sp>
      <p:sp>
        <p:nvSpPr>
          <p:cNvPr id="3" name="文本框 2">
            <a:extLst>
              <a:ext uri="{FF2B5EF4-FFF2-40B4-BE49-F238E27FC236}">
                <a16:creationId xmlns:a16="http://schemas.microsoft.com/office/drawing/2014/main" id="{18746B28-CEA2-47A7-680A-EF70DB16A97D}"/>
              </a:ext>
            </a:extLst>
          </p:cNvPr>
          <p:cNvSpPr txBox="1"/>
          <p:nvPr/>
        </p:nvSpPr>
        <p:spPr>
          <a:xfrm>
            <a:off x="7713327" y="5286576"/>
            <a:ext cx="3454575"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声爆毯宽度随飞行高度与马赫数变化</a:t>
            </a:r>
          </a:p>
        </p:txBody>
      </p:sp>
      <p:sp>
        <p:nvSpPr>
          <p:cNvPr id="25" name="标题 1">
            <a:extLst>
              <a:ext uri="{FF2B5EF4-FFF2-40B4-BE49-F238E27FC236}">
                <a16:creationId xmlns:a16="http://schemas.microsoft.com/office/drawing/2014/main" id="{E6345DB3-0AFF-734A-3410-7D99BAD625BC}"/>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二、总体设计方法框架</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介绍</a:t>
            </a:r>
            <a:endPar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pic>
        <p:nvPicPr>
          <p:cNvPr id="342" name="图片 341">
            <a:extLst>
              <a:ext uri="{FF2B5EF4-FFF2-40B4-BE49-F238E27FC236}">
                <a16:creationId xmlns:a16="http://schemas.microsoft.com/office/drawing/2014/main" id="{27E83EB7-D60E-0F79-F8FD-F25AF185ECF2}"/>
              </a:ext>
            </a:extLst>
          </p:cNvPr>
          <p:cNvPicPr>
            <a:picLocks noChangeAspect="1"/>
          </p:cNvPicPr>
          <p:nvPr/>
        </p:nvPicPr>
        <p:blipFill>
          <a:blip r:embed="rId5"/>
          <a:stretch>
            <a:fillRect/>
          </a:stretch>
        </p:blipFill>
        <p:spPr>
          <a:xfrm>
            <a:off x="2444634" y="1317791"/>
            <a:ext cx="3651366" cy="2712120"/>
          </a:xfrm>
          <a:prstGeom prst="rect">
            <a:avLst/>
          </a:prstGeom>
        </p:spPr>
      </p:pic>
      <p:pic>
        <p:nvPicPr>
          <p:cNvPr id="357" name="图片 356">
            <a:extLst>
              <a:ext uri="{FF2B5EF4-FFF2-40B4-BE49-F238E27FC236}">
                <a16:creationId xmlns:a16="http://schemas.microsoft.com/office/drawing/2014/main" id="{593B7E9C-BA79-D1D0-F4DD-D6016FCD1883}"/>
              </a:ext>
            </a:extLst>
          </p:cNvPr>
          <p:cNvPicPr>
            <a:picLocks noChangeAspect="1"/>
          </p:cNvPicPr>
          <p:nvPr/>
        </p:nvPicPr>
        <p:blipFill>
          <a:blip r:embed="rId6"/>
          <a:srcRect r="15237" b="19031"/>
          <a:stretch>
            <a:fillRect/>
          </a:stretch>
        </p:blipFill>
        <p:spPr>
          <a:xfrm>
            <a:off x="2197322" y="4100542"/>
            <a:ext cx="4281297" cy="1714325"/>
          </a:xfrm>
          <a:prstGeom prst="rect">
            <a:avLst/>
          </a:prstGeom>
        </p:spPr>
      </p:pic>
      <p:sp>
        <p:nvSpPr>
          <p:cNvPr id="360" name="文本框 359">
            <a:extLst>
              <a:ext uri="{FF2B5EF4-FFF2-40B4-BE49-F238E27FC236}">
                <a16:creationId xmlns:a16="http://schemas.microsoft.com/office/drawing/2014/main" id="{0833108D-1DAA-AFEB-B82D-3BDC1670CD0B}"/>
              </a:ext>
            </a:extLst>
          </p:cNvPr>
          <p:cNvSpPr txBox="1"/>
          <p:nvPr/>
        </p:nvSpPr>
        <p:spPr>
          <a:xfrm>
            <a:off x="8227439" y="2949177"/>
            <a:ext cx="3069581" cy="553998"/>
          </a:xfrm>
          <a:prstGeom prst="rect">
            <a:avLst/>
          </a:prstGeom>
          <a:noFill/>
        </p:spPr>
        <p:txBody>
          <a:bodyPr wrap="square" lIns="0" tIns="0" rIns="0" bIns="0" rtlCol="0">
            <a:spAutoFit/>
          </a:bodyPr>
          <a:lstStyle/>
          <a:p>
            <a:r>
              <a:rPr lang="zh-CN" altLang="en-US" dirty="0">
                <a:solidFill>
                  <a:srgbClr val="C00000"/>
                </a:solidFill>
                <a:latin typeface="微软雅黑" panose="020B0503020204020204" pitchFamily="34" charset="-122"/>
                <a:ea typeface="微软雅黑" panose="020B0503020204020204" pitchFamily="34" charset="-122"/>
                <a:cs typeface="Arial" pitchFamily="34" charset="0"/>
              </a:rPr>
              <a:t>声爆毯宽度与飞行高度成正比，与马赫数成反比</a:t>
            </a:r>
          </a:p>
        </p:txBody>
      </p:sp>
      <p:cxnSp>
        <p:nvCxnSpPr>
          <p:cNvPr id="363" name="直接连接符 362">
            <a:extLst>
              <a:ext uri="{FF2B5EF4-FFF2-40B4-BE49-F238E27FC236}">
                <a16:creationId xmlns:a16="http://schemas.microsoft.com/office/drawing/2014/main" id="{3A53D5D8-67C7-F22A-5953-A960EF2FA329}"/>
              </a:ext>
            </a:extLst>
          </p:cNvPr>
          <p:cNvCxnSpPr/>
          <p:nvPr/>
        </p:nvCxnSpPr>
        <p:spPr>
          <a:xfrm>
            <a:off x="6958673" y="1837776"/>
            <a:ext cx="4963885" cy="0"/>
          </a:xfrm>
          <a:prstGeom prst="line">
            <a:avLst/>
          </a:prstGeom>
          <a:ln w="15875">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364" name="矩形 363">
            <a:extLst>
              <a:ext uri="{FF2B5EF4-FFF2-40B4-BE49-F238E27FC236}">
                <a16:creationId xmlns:a16="http://schemas.microsoft.com/office/drawing/2014/main" id="{855F354A-27FC-0C37-5F8B-96735FAD104A}"/>
              </a:ext>
            </a:extLst>
          </p:cNvPr>
          <p:cNvSpPr/>
          <p:nvPr/>
        </p:nvSpPr>
        <p:spPr>
          <a:xfrm>
            <a:off x="6892606" y="1265956"/>
            <a:ext cx="5046982" cy="571819"/>
          </a:xfrm>
          <a:prstGeom prst="rect">
            <a:avLst/>
          </a:prstGeom>
          <a:solidFill>
            <a:schemeClr val="accent6">
              <a:lumMod val="20000"/>
              <a:lumOff val="80000"/>
              <a:alpha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000" b="1" dirty="0">
                <a:solidFill>
                  <a:srgbClr val="002060"/>
                </a:solidFill>
                <a:latin typeface="Arial" pitchFamily="34" charset="0"/>
                <a:cs typeface="Arial" pitchFamily="34" charset="0"/>
              </a:rPr>
              <a:t>通常声爆毯宽度不超过</a:t>
            </a:r>
            <a:r>
              <a:rPr lang="en-US" altLang="zh-CN" sz="2000" b="1" dirty="0">
                <a:solidFill>
                  <a:srgbClr val="002060"/>
                </a:solidFill>
                <a:latin typeface="Arial" pitchFamily="34" charset="0"/>
                <a:cs typeface="Arial" pitchFamily="34" charset="0"/>
              </a:rPr>
              <a:t>70km</a:t>
            </a:r>
            <a:endParaRPr lang="zh-CN" altLang="en-US" sz="2000" b="1" dirty="0">
              <a:solidFill>
                <a:srgbClr val="002060"/>
              </a:solidFill>
              <a:latin typeface="Arial" pitchFamily="34" charset="0"/>
              <a:cs typeface="Arial" pitchFamily="34" charset="0"/>
            </a:endParaRPr>
          </a:p>
        </p:txBody>
      </p:sp>
      <p:sp>
        <p:nvSpPr>
          <p:cNvPr id="365" name="矩形: 圆角 364">
            <a:extLst>
              <a:ext uri="{FF2B5EF4-FFF2-40B4-BE49-F238E27FC236}">
                <a16:creationId xmlns:a16="http://schemas.microsoft.com/office/drawing/2014/main" id="{497A3B4C-3500-C32B-BB51-786D34D1099F}"/>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defRPr/>
            </a:pP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为减小计算复杂度，航线规划中固定声爆毯宽度为</a:t>
            </a:r>
            <a:r>
              <a:rPr lang="en-US" altLang="zh-CN"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70km</a:t>
            </a:r>
            <a:endPar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542417295"/>
      </p:ext>
    </p:extLst>
  </p:cSld>
  <p:clrMapOvr>
    <a:masterClrMapping/>
  </p:clrMapOvr>
  <mc:AlternateContent xmlns:mc="http://schemas.openxmlformats.org/markup-compatibility/2006" xmlns:p159="http://schemas.microsoft.com/office/powerpoint/2015/09/main">
    <mc:Choice Requires="p159">
      <p:transition advTm="20472">
        <p159:morph option="byObject"/>
      </p:transition>
    </mc:Choice>
    <mc:Fallback xmlns="">
      <p:transition advTm="20472">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D5D8B-6513-BE5E-657F-F868C179019A}"/>
            </a:ext>
          </a:extLst>
        </p:cNvPr>
        <p:cNvGrpSpPr/>
        <p:nvPr/>
      </p:nvGrpSpPr>
      <p:grpSpPr>
        <a:xfrm>
          <a:off x="0" y="0"/>
          <a:ext cx="0" cy="0"/>
          <a:chOff x="0" y="0"/>
          <a:chExt cx="0" cy="0"/>
        </a:xfrm>
      </p:grpSpPr>
      <p:grpSp>
        <p:nvGrpSpPr>
          <p:cNvPr id="49" name="组合 48">
            <a:extLst>
              <a:ext uri="{FF2B5EF4-FFF2-40B4-BE49-F238E27FC236}">
                <a16:creationId xmlns:a16="http://schemas.microsoft.com/office/drawing/2014/main" id="{420A5988-CA42-7A5C-D953-A3DE1882D59A}"/>
              </a:ext>
            </a:extLst>
          </p:cNvPr>
          <p:cNvGrpSpPr/>
          <p:nvPr/>
        </p:nvGrpSpPr>
        <p:grpSpPr>
          <a:xfrm>
            <a:off x="2414040" y="1506822"/>
            <a:ext cx="6826739" cy="3826205"/>
            <a:chOff x="3878964" y="1218692"/>
            <a:chExt cx="7589178" cy="3620756"/>
          </a:xfrm>
        </p:grpSpPr>
        <p:pic>
          <p:nvPicPr>
            <p:cNvPr id="25" name="图片 24">
              <a:extLst>
                <a:ext uri="{FF2B5EF4-FFF2-40B4-BE49-F238E27FC236}">
                  <a16:creationId xmlns:a16="http://schemas.microsoft.com/office/drawing/2014/main" id="{9180D6A4-068F-B5BB-D384-D21C9315C6A0}"/>
                </a:ext>
              </a:extLst>
            </p:cNvPr>
            <p:cNvPicPr>
              <a:picLocks noChangeAspect="1"/>
            </p:cNvPicPr>
            <p:nvPr/>
          </p:nvPicPr>
          <p:blipFill>
            <a:blip r:embed="rId4"/>
            <a:srcRect b="4581"/>
            <a:stretch>
              <a:fillRect/>
            </a:stretch>
          </p:blipFill>
          <p:spPr>
            <a:xfrm>
              <a:off x="4553239" y="1667931"/>
              <a:ext cx="6544638" cy="3122411"/>
            </a:xfrm>
            <a:prstGeom prst="rect">
              <a:avLst/>
            </a:prstGeom>
          </p:spPr>
        </p:pic>
        <p:sp>
          <p:nvSpPr>
            <p:cNvPr id="27" name="文本框 26">
              <a:extLst>
                <a:ext uri="{FF2B5EF4-FFF2-40B4-BE49-F238E27FC236}">
                  <a16:creationId xmlns:a16="http://schemas.microsoft.com/office/drawing/2014/main" id="{8520C4EA-6616-1AAF-B88E-3610EEFA1676}"/>
                </a:ext>
              </a:extLst>
            </p:cNvPr>
            <p:cNvSpPr txBox="1"/>
            <p:nvPr/>
          </p:nvSpPr>
          <p:spPr>
            <a:xfrm>
              <a:off x="4733992" y="1749387"/>
              <a:ext cx="2551814"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声爆毯宽度固定为</a:t>
              </a:r>
              <a:r>
                <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rPr>
                <a:t>60km</a:t>
              </a:r>
              <a:endPar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8" name="文本框 27">
              <a:extLst>
                <a:ext uri="{FF2B5EF4-FFF2-40B4-BE49-F238E27FC236}">
                  <a16:creationId xmlns:a16="http://schemas.microsoft.com/office/drawing/2014/main" id="{324A1DF8-3C95-E173-7A62-2A2504DF2B58}"/>
                </a:ext>
              </a:extLst>
            </p:cNvPr>
            <p:cNvSpPr txBox="1"/>
            <p:nvPr/>
          </p:nvSpPr>
          <p:spPr>
            <a:xfrm>
              <a:off x="7207297" y="1902307"/>
              <a:ext cx="2568898" cy="307777"/>
            </a:xfrm>
            <a:prstGeom prst="rect">
              <a:avLst/>
            </a:prstGeom>
            <a:solidFill>
              <a:schemeClr val="bg1">
                <a:alpha val="70000"/>
              </a:schemeClr>
            </a:solidFill>
          </p:spPr>
          <p:txBody>
            <a:bodyPr wrap="square">
              <a:spAutoFit/>
            </a:bodyPr>
            <a:lstStyle/>
            <a:p>
              <a:pPr algn="ctr"/>
              <a:r>
                <a:rPr lang="zh-CN" altLang="en-US" sz="14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大圆航线航程：</a:t>
              </a:r>
              <a:r>
                <a:rPr lang="en-US" altLang="zh-CN" sz="14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10163km</a:t>
              </a:r>
            </a:p>
          </p:txBody>
        </p:sp>
        <p:sp>
          <p:nvSpPr>
            <p:cNvPr id="29" name="文本框 28">
              <a:extLst>
                <a:ext uri="{FF2B5EF4-FFF2-40B4-BE49-F238E27FC236}">
                  <a16:creationId xmlns:a16="http://schemas.microsoft.com/office/drawing/2014/main" id="{A5D4E29C-D138-5C62-A09B-FDDEF440BBA3}"/>
                </a:ext>
              </a:extLst>
            </p:cNvPr>
            <p:cNvSpPr txBox="1"/>
            <p:nvPr/>
          </p:nvSpPr>
          <p:spPr>
            <a:xfrm>
              <a:off x="6830135" y="3140463"/>
              <a:ext cx="2568899" cy="307777"/>
            </a:xfrm>
            <a:prstGeom prst="rect">
              <a:avLst/>
            </a:prstGeom>
            <a:solidFill>
              <a:schemeClr val="bg1">
                <a:alpha val="70000"/>
              </a:schemeClr>
            </a:solidFill>
          </p:spPr>
          <p:txBody>
            <a:bodyPr wrap="square">
              <a:spAutoFit/>
            </a:bodyPr>
            <a:lstStyle/>
            <a:p>
              <a:pPr algn="ctr"/>
              <a:r>
                <a:rPr lang="zh-CN" altLang="en-US" sz="14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超客航线航程：</a:t>
              </a:r>
              <a:r>
                <a:rPr lang="en-US" altLang="zh-CN" sz="14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10388km</a:t>
              </a:r>
            </a:p>
          </p:txBody>
        </p:sp>
        <p:sp>
          <p:nvSpPr>
            <p:cNvPr id="30" name="文本框 29">
              <a:extLst>
                <a:ext uri="{FF2B5EF4-FFF2-40B4-BE49-F238E27FC236}">
                  <a16:creationId xmlns:a16="http://schemas.microsoft.com/office/drawing/2014/main" id="{BAF1473A-D6B9-E6D4-DBB4-CFB68999800D}"/>
                </a:ext>
              </a:extLst>
            </p:cNvPr>
            <p:cNvSpPr txBox="1"/>
            <p:nvPr/>
          </p:nvSpPr>
          <p:spPr>
            <a:xfrm>
              <a:off x="4828204" y="3164732"/>
              <a:ext cx="606175"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北京</a:t>
              </a:r>
            </a:p>
          </p:txBody>
        </p:sp>
        <p:sp>
          <p:nvSpPr>
            <p:cNvPr id="31" name="文本框 30">
              <a:extLst>
                <a:ext uri="{FF2B5EF4-FFF2-40B4-BE49-F238E27FC236}">
                  <a16:creationId xmlns:a16="http://schemas.microsoft.com/office/drawing/2014/main" id="{6D340BC5-6A8E-0BFF-C383-4579AE82126A}"/>
                </a:ext>
              </a:extLst>
            </p:cNvPr>
            <p:cNvSpPr txBox="1"/>
            <p:nvPr/>
          </p:nvSpPr>
          <p:spPr>
            <a:xfrm>
              <a:off x="10067475" y="3883746"/>
              <a:ext cx="764256"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洛杉矶</a:t>
              </a:r>
            </a:p>
          </p:txBody>
        </p:sp>
        <p:pic>
          <p:nvPicPr>
            <p:cNvPr id="37" name="图片 36">
              <a:extLst>
                <a:ext uri="{FF2B5EF4-FFF2-40B4-BE49-F238E27FC236}">
                  <a16:creationId xmlns:a16="http://schemas.microsoft.com/office/drawing/2014/main" id="{4AD86CA4-D456-DEA1-CBE0-1BFBAB4D859F}"/>
                </a:ext>
              </a:extLst>
            </p:cNvPr>
            <p:cNvPicPr>
              <a:picLocks noChangeAspect="1"/>
            </p:cNvPicPr>
            <p:nvPr/>
          </p:nvPicPr>
          <p:blipFill>
            <a:blip r:embed="rId4"/>
            <a:srcRect b="4581"/>
            <a:stretch>
              <a:fillRect/>
            </a:stretch>
          </p:blipFill>
          <p:spPr>
            <a:xfrm>
              <a:off x="3878964" y="1218692"/>
              <a:ext cx="7589178" cy="3620756"/>
            </a:xfrm>
            <a:prstGeom prst="rect">
              <a:avLst/>
            </a:prstGeom>
          </p:spPr>
        </p:pic>
        <p:sp>
          <p:nvSpPr>
            <p:cNvPr id="38" name="文本框 37">
              <a:extLst>
                <a:ext uri="{FF2B5EF4-FFF2-40B4-BE49-F238E27FC236}">
                  <a16:creationId xmlns:a16="http://schemas.microsoft.com/office/drawing/2014/main" id="{27D56B7F-995B-B381-32D7-5362461640C6}"/>
                </a:ext>
              </a:extLst>
            </p:cNvPr>
            <p:cNvSpPr txBox="1"/>
            <p:nvPr/>
          </p:nvSpPr>
          <p:spPr>
            <a:xfrm>
              <a:off x="7196664" y="1612837"/>
              <a:ext cx="2870811" cy="362371"/>
            </a:xfrm>
            <a:prstGeom prst="rect">
              <a:avLst/>
            </a:prstGeom>
            <a:solidFill>
              <a:schemeClr val="bg1">
                <a:alpha val="70000"/>
              </a:schemeClr>
            </a:solidFill>
          </p:spPr>
          <p:txBody>
            <a:bodyPr wrap="square">
              <a:spAutoFit/>
            </a:bodyPr>
            <a:lstStyle/>
            <a:p>
              <a:pPr algn="ctr"/>
              <a:r>
                <a:rPr lang="zh-CN" altLang="en-US" sz="16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大圆航线航程：</a:t>
              </a:r>
              <a:r>
                <a:rPr lang="en-US" altLang="zh-CN" sz="16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10163km</a:t>
              </a:r>
            </a:p>
          </p:txBody>
        </p:sp>
        <p:sp>
          <p:nvSpPr>
            <p:cNvPr id="39" name="文本框 38">
              <a:extLst>
                <a:ext uri="{FF2B5EF4-FFF2-40B4-BE49-F238E27FC236}">
                  <a16:creationId xmlns:a16="http://schemas.microsoft.com/office/drawing/2014/main" id="{323D346E-322E-0A6A-20B2-B7287F60690D}"/>
                </a:ext>
              </a:extLst>
            </p:cNvPr>
            <p:cNvSpPr txBox="1"/>
            <p:nvPr/>
          </p:nvSpPr>
          <p:spPr>
            <a:xfrm>
              <a:off x="6393351" y="3070970"/>
              <a:ext cx="3005683" cy="362371"/>
            </a:xfrm>
            <a:prstGeom prst="rect">
              <a:avLst/>
            </a:prstGeom>
            <a:solidFill>
              <a:schemeClr val="bg1">
                <a:alpha val="70000"/>
              </a:schemeClr>
            </a:solidFill>
          </p:spPr>
          <p:txBody>
            <a:bodyPr wrap="square">
              <a:spAutoFit/>
            </a:bodyPr>
            <a:lstStyle/>
            <a:p>
              <a:pPr algn="ctr"/>
              <a:r>
                <a:rPr lang="zh-CN" altLang="en-US" sz="16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超客航线航程：</a:t>
              </a:r>
              <a:r>
                <a:rPr lang="en-US" altLang="zh-CN" sz="16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10388km</a:t>
              </a:r>
            </a:p>
          </p:txBody>
        </p:sp>
        <p:sp>
          <p:nvSpPr>
            <p:cNvPr id="40" name="文本框 39">
              <a:extLst>
                <a:ext uri="{FF2B5EF4-FFF2-40B4-BE49-F238E27FC236}">
                  <a16:creationId xmlns:a16="http://schemas.microsoft.com/office/drawing/2014/main" id="{939CD670-5A93-23E6-E7AA-99C6790B8927}"/>
                </a:ext>
              </a:extLst>
            </p:cNvPr>
            <p:cNvSpPr txBox="1"/>
            <p:nvPr/>
          </p:nvSpPr>
          <p:spPr>
            <a:xfrm>
              <a:off x="4409943" y="2932471"/>
              <a:ext cx="606175" cy="276999"/>
            </a:xfrm>
            <a:prstGeom prst="rect">
              <a:avLst/>
            </a:prstGeom>
            <a:noFill/>
          </p:spPr>
          <p:txBody>
            <a:bodyPr wrap="square" lIns="0" tIns="0" rIns="0" bIns="0"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cs typeface="Arial" pitchFamily="34" charset="0"/>
                </a:rPr>
                <a:t>北京</a:t>
              </a:r>
            </a:p>
          </p:txBody>
        </p:sp>
        <p:sp>
          <p:nvSpPr>
            <p:cNvPr id="41" name="文本框 40">
              <a:extLst>
                <a:ext uri="{FF2B5EF4-FFF2-40B4-BE49-F238E27FC236}">
                  <a16:creationId xmlns:a16="http://schemas.microsoft.com/office/drawing/2014/main" id="{D5F0F316-70E5-B3B3-7A74-7C467E3C0659}"/>
                </a:ext>
              </a:extLst>
            </p:cNvPr>
            <p:cNvSpPr txBox="1"/>
            <p:nvPr/>
          </p:nvSpPr>
          <p:spPr>
            <a:xfrm>
              <a:off x="10509960" y="3216946"/>
              <a:ext cx="862882" cy="307777"/>
            </a:xfrm>
            <a:prstGeom prst="rect">
              <a:avLst/>
            </a:prstGeom>
            <a:noFill/>
          </p:spPr>
          <p:txBody>
            <a:bodyPr wrap="square" lIns="0" tIns="0" rIns="0" bIns="0"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cs typeface="Arial" pitchFamily="34" charset="0"/>
                </a:rPr>
                <a:t>洛杉矶</a:t>
              </a:r>
            </a:p>
          </p:txBody>
        </p:sp>
      </p:grpSp>
      <p:sp>
        <p:nvSpPr>
          <p:cNvPr id="9" name="箭头: 五边形 8">
            <a:extLst>
              <a:ext uri="{FF2B5EF4-FFF2-40B4-BE49-F238E27FC236}">
                <a16:creationId xmlns:a16="http://schemas.microsoft.com/office/drawing/2014/main" id="{78E83CFC-3324-FD99-4950-09146000ED95}"/>
              </a:ext>
            </a:extLst>
          </p:cNvPr>
          <p:cNvSpPr/>
          <p:nvPr/>
        </p:nvSpPr>
        <p:spPr>
          <a:xfrm>
            <a:off x="-1" y="1717200"/>
            <a:ext cx="2375941" cy="1260000"/>
          </a:xfrm>
          <a:prstGeom prst="homePlate">
            <a:avLst>
              <a:gd name="adj" fmla="val 3037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航线规划</a:t>
            </a:r>
          </a:p>
        </p:txBody>
      </p:sp>
      <p:sp>
        <p:nvSpPr>
          <p:cNvPr id="10" name="箭头: 五边形 9">
            <a:extLst>
              <a:ext uri="{FF2B5EF4-FFF2-40B4-BE49-F238E27FC236}">
                <a16:creationId xmlns:a16="http://schemas.microsoft.com/office/drawing/2014/main" id="{8500961A-949F-3BA7-D5B1-0E60C16683F2}"/>
              </a:ext>
            </a:extLst>
          </p:cNvPr>
          <p:cNvSpPr/>
          <p:nvPr/>
        </p:nvSpPr>
        <p:spPr>
          <a:xfrm>
            <a:off x="0" y="31266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重量</a:t>
            </a:r>
            <a:r>
              <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剖面</a:t>
            </a:r>
            <a:endPar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联合设计</a:t>
            </a:r>
          </a:p>
        </p:txBody>
      </p:sp>
      <p:sp>
        <p:nvSpPr>
          <p:cNvPr id="11" name="箭头: 五边形 10">
            <a:extLst>
              <a:ext uri="{FF2B5EF4-FFF2-40B4-BE49-F238E27FC236}">
                <a16:creationId xmlns:a16="http://schemas.microsoft.com/office/drawing/2014/main" id="{483A27A5-6112-8E16-B84C-F9A73ACF5D79}"/>
              </a:ext>
            </a:extLst>
          </p:cNvPr>
          <p:cNvSpPr/>
          <p:nvPr/>
        </p:nvSpPr>
        <p:spPr>
          <a:xfrm>
            <a:off x="0" y="45360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气动优化</a:t>
            </a:r>
          </a:p>
        </p:txBody>
      </p:sp>
      <p:sp>
        <p:nvSpPr>
          <p:cNvPr id="14" name="文本框 13">
            <a:extLst>
              <a:ext uri="{FF2B5EF4-FFF2-40B4-BE49-F238E27FC236}">
                <a16:creationId xmlns:a16="http://schemas.microsoft.com/office/drawing/2014/main" id="{4E6F4115-3FEB-47B9-598F-55D445751785}"/>
              </a:ext>
            </a:extLst>
          </p:cNvPr>
          <p:cNvSpPr txBox="1"/>
          <p:nvPr/>
        </p:nvSpPr>
        <p:spPr>
          <a:xfrm>
            <a:off x="203376" y="847051"/>
            <a:ext cx="5507199" cy="400110"/>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兼顾水面航段占比与总航程的航线优化方法</a:t>
            </a:r>
          </a:p>
        </p:txBody>
      </p:sp>
      <p:pic>
        <p:nvPicPr>
          <p:cNvPr id="26" name="图片 25">
            <a:extLst>
              <a:ext uri="{FF2B5EF4-FFF2-40B4-BE49-F238E27FC236}">
                <a16:creationId xmlns:a16="http://schemas.microsoft.com/office/drawing/2014/main" id="{250DE76D-3C36-54FA-9A38-E1B8ABEA3A14}"/>
              </a:ext>
            </a:extLst>
          </p:cNvPr>
          <p:cNvPicPr>
            <a:picLocks noChangeAspect="1"/>
          </p:cNvPicPr>
          <p:nvPr/>
        </p:nvPicPr>
        <p:blipFill>
          <a:blip r:embed="rId5"/>
          <a:stretch>
            <a:fillRect/>
          </a:stretch>
        </p:blipFill>
        <p:spPr>
          <a:xfrm>
            <a:off x="17973711" y="6778965"/>
            <a:ext cx="6544638" cy="1491840"/>
          </a:xfrm>
          <a:prstGeom prst="rect">
            <a:avLst/>
          </a:prstGeom>
        </p:spPr>
      </p:pic>
      <p:sp>
        <p:nvSpPr>
          <p:cNvPr id="35" name="文本框 34">
            <a:extLst>
              <a:ext uri="{FF2B5EF4-FFF2-40B4-BE49-F238E27FC236}">
                <a16:creationId xmlns:a16="http://schemas.microsoft.com/office/drawing/2014/main" id="{2A7900EB-72A4-EE00-BD41-56A4A0FC68AA}"/>
              </a:ext>
            </a:extLst>
          </p:cNvPr>
          <p:cNvSpPr txBox="1"/>
          <p:nvPr/>
        </p:nvSpPr>
        <p:spPr>
          <a:xfrm>
            <a:off x="9391109" y="4046286"/>
            <a:ext cx="2493482" cy="868956"/>
          </a:xfrm>
          <a:prstGeom prst="rect">
            <a:avLst/>
          </a:prstGeom>
          <a:noFill/>
        </p:spPr>
        <p:txBody>
          <a:bodyPr wrap="square" lIns="0" tIns="0" rIns="0" bIns="0" rtlCol="0">
            <a:spAutoFit/>
          </a:bodyPr>
          <a:lstStyle/>
          <a:p>
            <a:pPr algn="just">
              <a:lnSpc>
                <a:spcPct val="150000"/>
              </a:lnSpc>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归一化的航程与水面航程占比的加权目标</a:t>
            </a:r>
          </a:p>
        </p:txBody>
      </p:sp>
      <p:sp>
        <p:nvSpPr>
          <p:cNvPr id="48" name="标题 1">
            <a:extLst>
              <a:ext uri="{FF2B5EF4-FFF2-40B4-BE49-F238E27FC236}">
                <a16:creationId xmlns:a16="http://schemas.microsoft.com/office/drawing/2014/main" id="{C1BBD6F3-9591-76D5-9A0A-926BD1FF18AF}"/>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二、总体设计方法框架</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介绍</a:t>
            </a:r>
            <a:endPar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aphicFrame>
        <p:nvGraphicFramePr>
          <p:cNvPr id="50" name="对象 49">
            <a:extLst>
              <a:ext uri="{FF2B5EF4-FFF2-40B4-BE49-F238E27FC236}">
                <a16:creationId xmlns:a16="http://schemas.microsoft.com/office/drawing/2014/main" id="{94EAD9BA-1E4C-530C-3C61-EA7379A40A72}"/>
              </a:ext>
            </a:extLst>
          </p:cNvPr>
          <p:cNvGraphicFramePr>
            <a:graphicFrameLocks noChangeAspect="1"/>
          </p:cNvGraphicFramePr>
          <p:nvPr>
            <p:extLst>
              <p:ext uri="{D42A27DB-BD31-4B8C-83A1-F6EECF244321}">
                <p14:modId xmlns:p14="http://schemas.microsoft.com/office/powerpoint/2010/main" val="1434666386"/>
              </p:ext>
            </p:extLst>
          </p:nvPr>
        </p:nvGraphicFramePr>
        <p:xfrm>
          <a:off x="9391109" y="1872212"/>
          <a:ext cx="2493482" cy="1059730"/>
        </p:xfrm>
        <a:graphic>
          <a:graphicData uri="http://schemas.openxmlformats.org/presentationml/2006/ole">
            <mc:AlternateContent xmlns:mc="http://schemas.openxmlformats.org/markup-compatibility/2006">
              <mc:Choice xmlns:v="urn:schemas-microsoft-com:vml" Requires="v">
                <p:oleObj name="Equation" r:id="rId6" imgW="1015920" imgH="431640" progId="Equation.DSMT4">
                  <p:embed/>
                </p:oleObj>
              </mc:Choice>
              <mc:Fallback>
                <p:oleObj name="Equation" r:id="rId6" imgW="1015920" imgH="431640" progId="Equation.DSMT4">
                  <p:embed/>
                  <p:pic>
                    <p:nvPicPr>
                      <p:cNvPr id="0" name=""/>
                      <p:cNvPicPr/>
                      <p:nvPr/>
                    </p:nvPicPr>
                    <p:blipFill>
                      <a:blip r:embed="rId7"/>
                      <a:stretch>
                        <a:fillRect/>
                      </a:stretch>
                    </p:blipFill>
                    <p:spPr>
                      <a:xfrm>
                        <a:off x="9391109" y="1872212"/>
                        <a:ext cx="2493482" cy="1059730"/>
                      </a:xfrm>
                      <a:prstGeom prst="rect">
                        <a:avLst/>
                      </a:prstGeom>
                    </p:spPr>
                  </p:pic>
                </p:oleObj>
              </mc:Fallback>
            </mc:AlternateContent>
          </a:graphicData>
        </a:graphic>
      </p:graphicFrame>
      <p:sp>
        <p:nvSpPr>
          <p:cNvPr id="51" name="文本框 50">
            <a:extLst>
              <a:ext uri="{FF2B5EF4-FFF2-40B4-BE49-F238E27FC236}">
                <a16:creationId xmlns:a16="http://schemas.microsoft.com/office/drawing/2014/main" id="{778BFF27-AA9C-FE1F-F049-6FB604B598F5}"/>
              </a:ext>
            </a:extLst>
          </p:cNvPr>
          <p:cNvSpPr txBox="1"/>
          <p:nvPr/>
        </p:nvSpPr>
        <p:spPr>
          <a:xfrm>
            <a:off x="9542334" y="1506822"/>
            <a:ext cx="1028700" cy="307777"/>
          </a:xfrm>
          <a:prstGeom prst="rect">
            <a:avLst/>
          </a:prstGeom>
          <a:noFill/>
        </p:spPr>
        <p:txBody>
          <a:bodyPr wrap="square" lIns="0" tIns="0" rIns="0" bIns="0" rtlCol="0">
            <a:spAutoFit/>
          </a:bodyPr>
          <a:lstStyle/>
          <a:p>
            <a:pPr algn="ctr"/>
            <a:r>
              <a:rPr lang="zh-CN" altLang="en-US" sz="2000" dirty="0">
                <a:latin typeface="微软雅黑" panose="020B0503020204020204" pitchFamily="34" charset="-122"/>
                <a:ea typeface="微软雅黑" panose="020B0503020204020204" pitchFamily="34" charset="-122"/>
                <a:cs typeface="Arial" pitchFamily="34" charset="0"/>
              </a:rPr>
              <a:t>优化目标：</a:t>
            </a:r>
          </a:p>
        </p:txBody>
      </p:sp>
      <p:graphicFrame>
        <p:nvGraphicFramePr>
          <p:cNvPr id="52" name="对象 51">
            <a:extLst>
              <a:ext uri="{FF2B5EF4-FFF2-40B4-BE49-F238E27FC236}">
                <a16:creationId xmlns:a16="http://schemas.microsoft.com/office/drawing/2014/main" id="{CCA7F447-A29B-7434-8315-9A9F1E50DEA9}"/>
              </a:ext>
            </a:extLst>
          </p:cNvPr>
          <p:cNvGraphicFramePr>
            <a:graphicFrameLocks noChangeAspect="1"/>
          </p:cNvGraphicFramePr>
          <p:nvPr>
            <p:extLst>
              <p:ext uri="{D42A27DB-BD31-4B8C-83A1-F6EECF244321}">
                <p14:modId xmlns:p14="http://schemas.microsoft.com/office/powerpoint/2010/main" val="3075292695"/>
              </p:ext>
            </p:extLst>
          </p:nvPr>
        </p:nvGraphicFramePr>
        <p:xfrm>
          <a:off x="9706389" y="2810061"/>
          <a:ext cx="1729289" cy="925535"/>
        </p:xfrm>
        <a:graphic>
          <a:graphicData uri="http://schemas.openxmlformats.org/presentationml/2006/ole">
            <mc:AlternateContent xmlns:mc="http://schemas.openxmlformats.org/markup-compatibility/2006">
              <mc:Choice xmlns:v="urn:schemas-microsoft-com:vml" Requires="v">
                <p:oleObj name="Equation" r:id="rId8" imgW="901440" imgH="482400" progId="Equation.DSMT4">
                  <p:embed/>
                </p:oleObj>
              </mc:Choice>
              <mc:Fallback>
                <p:oleObj name="Equation" r:id="rId8" imgW="901440" imgH="482400" progId="Equation.DSMT4">
                  <p:embed/>
                  <p:pic>
                    <p:nvPicPr>
                      <p:cNvPr id="0" name=""/>
                      <p:cNvPicPr/>
                      <p:nvPr/>
                    </p:nvPicPr>
                    <p:blipFill>
                      <a:blip r:embed="rId9"/>
                      <a:stretch>
                        <a:fillRect/>
                      </a:stretch>
                    </p:blipFill>
                    <p:spPr>
                      <a:xfrm>
                        <a:off x="9706389" y="2810061"/>
                        <a:ext cx="1729289" cy="925535"/>
                      </a:xfrm>
                      <a:prstGeom prst="rect">
                        <a:avLst/>
                      </a:prstGeom>
                    </p:spPr>
                  </p:pic>
                </p:oleObj>
              </mc:Fallback>
            </mc:AlternateContent>
          </a:graphicData>
        </a:graphic>
      </p:graphicFrame>
      <p:sp>
        <p:nvSpPr>
          <p:cNvPr id="53" name="矩形: 圆角 52">
            <a:extLst>
              <a:ext uri="{FF2B5EF4-FFF2-40B4-BE49-F238E27FC236}">
                <a16:creationId xmlns:a16="http://schemas.microsoft.com/office/drawing/2014/main" id="{1D0CEC5A-7074-9755-C878-A930372D1D4C}"/>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defRPr/>
            </a:pP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绕飞路线航程仅增加</a:t>
            </a:r>
            <a:r>
              <a:rPr lang="en-US" altLang="zh-CN"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2.2%</a:t>
            </a: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，可以获得近</a:t>
            </a:r>
            <a:r>
              <a:rPr lang="en-US" altLang="zh-CN"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7000km</a:t>
            </a: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的海上超声速巡航段</a:t>
            </a:r>
          </a:p>
        </p:txBody>
      </p:sp>
    </p:spTree>
    <p:custDataLst>
      <p:tags r:id="rId1"/>
    </p:custDataLst>
    <p:extLst>
      <p:ext uri="{BB962C8B-B14F-4D97-AF65-F5344CB8AC3E}">
        <p14:creationId xmlns:p14="http://schemas.microsoft.com/office/powerpoint/2010/main" val="2119404867"/>
      </p:ext>
    </p:extLst>
  </p:cSld>
  <p:clrMapOvr>
    <a:masterClrMapping/>
  </p:clrMapOvr>
  <mc:AlternateContent xmlns:mc="http://schemas.openxmlformats.org/markup-compatibility/2006" xmlns:p159="http://schemas.microsoft.com/office/powerpoint/2015/09/main">
    <mc:Choice Requires="p159">
      <p:transition advTm="20472">
        <p159:morph option="byObject"/>
      </p:transition>
    </mc:Choice>
    <mc:Fallback xmlns="">
      <p:transition advTm="20472">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40D9F-4FD7-F351-3777-CCC114CE5549}"/>
            </a:ext>
          </a:extLst>
        </p:cNvPr>
        <p:cNvGrpSpPr/>
        <p:nvPr/>
      </p:nvGrpSpPr>
      <p:grpSpPr>
        <a:xfrm>
          <a:off x="0" y="0"/>
          <a:ext cx="0" cy="0"/>
          <a:chOff x="0" y="0"/>
          <a:chExt cx="0" cy="0"/>
        </a:xfrm>
      </p:grpSpPr>
      <p:pic>
        <p:nvPicPr>
          <p:cNvPr id="37" name="图片 36">
            <a:extLst>
              <a:ext uri="{FF2B5EF4-FFF2-40B4-BE49-F238E27FC236}">
                <a16:creationId xmlns:a16="http://schemas.microsoft.com/office/drawing/2014/main" id="{F289E98E-C3F9-318B-3151-54F06D6029C9}"/>
              </a:ext>
            </a:extLst>
          </p:cNvPr>
          <p:cNvPicPr>
            <a:picLocks noChangeAspect="1"/>
          </p:cNvPicPr>
          <p:nvPr/>
        </p:nvPicPr>
        <p:blipFill>
          <a:blip r:embed="rId4"/>
          <a:srcRect b="4581"/>
          <a:stretch>
            <a:fillRect/>
          </a:stretch>
        </p:blipFill>
        <p:spPr>
          <a:xfrm>
            <a:off x="2421011" y="1482180"/>
            <a:ext cx="5653296" cy="2697157"/>
          </a:xfrm>
          <a:prstGeom prst="rect">
            <a:avLst/>
          </a:prstGeom>
        </p:spPr>
      </p:pic>
      <p:sp>
        <p:nvSpPr>
          <p:cNvPr id="4" name="标题 1">
            <a:extLst>
              <a:ext uri="{FF2B5EF4-FFF2-40B4-BE49-F238E27FC236}">
                <a16:creationId xmlns:a16="http://schemas.microsoft.com/office/drawing/2014/main" id="{AC4D6009-10E6-897C-3D33-895250992C47}"/>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二、考虑声爆影响域的航线规划</a:t>
            </a:r>
          </a:p>
        </p:txBody>
      </p:sp>
      <p:sp>
        <p:nvSpPr>
          <p:cNvPr id="9" name="箭头: 五边形 8">
            <a:extLst>
              <a:ext uri="{FF2B5EF4-FFF2-40B4-BE49-F238E27FC236}">
                <a16:creationId xmlns:a16="http://schemas.microsoft.com/office/drawing/2014/main" id="{5B305FA4-0547-AA56-B115-AE3EC8BEE792}"/>
              </a:ext>
            </a:extLst>
          </p:cNvPr>
          <p:cNvSpPr/>
          <p:nvPr/>
        </p:nvSpPr>
        <p:spPr>
          <a:xfrm>
            <a:off x="-1" y="1717200"/>
            <a:ext cx="2375941" cy="1260000"/>
          </a:xfrm>
          <a:prstGeom prst="homePlate">
            <a:avLst>
              <a:gd name="adj" fmla="val 3037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航线规划</a:t>
            </a:r>
          </a:p>
        </p:txBody>
      </p:sp>
      <p:sp>
        <p:nvSpPr>
          <p:cNvPr id="10" name="箭头: 五边形 9">
            <a:extLst>
              <a:ext uri="{FF2B5EF4-FFF2-40B4-BE49-F238E27FC236}">
                <a16:creationId xmlns:a16="http://schemas.microsoft.com/office/drawing/2014/main" id="{0828DDD2-FECA-772C-2BD6-B41ABC8A93E8}"/>
              </a:ext>
            </a:extLst>
          </p:cNvPr>
          <p:cNvSpPr/>
          <p:nvPr/>
        </p:nvSpPr>
        <p:spPr>
          <a:xfrm>
            <a:off x="0" y="31266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重量</a:t>
            </a:r>
            <a:r>
              <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剖面</a:t>
            </a:r>
            <a:endPar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联合设计</a:t>
            </a:r>
          </a:p>
        </p:txBody>
      </p:sp>
      <p:sp>
        <p:nvSpPr>
          <p:cNvPr id="11" name="箭头: 五边形 10">
            <a:extLst>
              <a:ext uri="{FF2B5EF4-FFF2-40B4-BE49-F238E27FC236}">
                <a16:creationId xmlns:a16="http://schemas.microsoft.com/office/drawing/2014/main" id="{79BE3E62-BC82-5709-C730-53599A06553C}"/>
              </a:ext>
            </a:extLst>
          </p:cNvPr>
          <p:cNvSpPr/>
          <p:nvPr/>
        </p:nvSpPr>
        <p:spPr>
          <a:xfrm>
            <a:off x="0" y="45360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气动优化</a:t>
            </a:r>
          </a:p>
        </p:txBody>
      </p:sp>
      <p:sp>
        <p:nvSpPr>
          <p:cNvPr id="14" name="文本框 13">
            <a:extLst>
              <a:ext uri="{FF2B5EF4-FFF2-40B4-BE49-F238E27FC236}">
                <a16:creationId xmlns:a16="http://schemas.microsoft.com/office/drawing/2014/main" id="{A9F0313E-7A5C-40EC-668B-E6F32E5A3E20}"/>
              </a:ext>
            </a:extLst>
          </p:cNvPr>
          <p:cNvSpPr txBox="1"/>
          <p:nvPr/>
        </p:nvSpPr>
        <p:spPr>
          <a:xfrm>
            <a:off x="203376" y="847051"/>
            <a:ext cx="5507199" cy="400110"/>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兼顾水面航段占比与总航程的航线优化方法</a:t>
            </a:r>
          </a:p>
        </p:txBody>
      </p:sp>
      <p:sp>
        <p:nvSpPr>
          <p:cNvPr id="40" name="文本框 39">
            <a:extLst>
              <a:ext uri="{FF2B5EF4-FFF2-40B4-BE49-F238E27FC236}">
                <a16:creationId xmlns:a16="http://schemas.microsoft.com/office/drawing/2014/main" id="{F1818A3C-FC44-AC30-E317-E5090D79A1DC}"/>
              </a:ext>
            </a:extLst>
          </p:cNvPr>
          <p:cNvSpPr txBox="1"/>
          <p:nvPr/>
        </p:nvSpPr>
        <p:spPr>
          <a:xfrm>
            <a:off x="2606776" y="2692258"/>
            <a:ext cx="606175" cy="276999"/>
          </a:xfrm>
          <a:prstGeom prst="rect">
            <a:avLst/>
          </a:prstGeom>
          <a:noFill/>
        </p:spPr>
        <p:txBody>
          <a:bodyPr wrap="square" lIns="0" tIns="0" rIns="0" bIns="0"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cs typeface="Arial" pitchFamily="34" charset="0"/>
              </a:rPr>
              <a:t>北京</a:t>
            </a:r>
          </a:p>
        </p:txBody>
      </p:sp>
      <p:sp>
        <p:nvSpPr>
          <p:cNvPr id="41" name="文本框 40">
            <a:extLst>
              <a:ext uri="{FF2B5EF4-FFF2-40B4-BE49-F238E27FC236}">
                <a16:creationId xmlns:a16="http://schemas.microsoft.com/office/drawing/2014/main" id="{9CB3FE9D-749E-CAFA-2EB2-351499DC48EB}"/>
              </a:ext>
            </a:extLst>
          </p:cNvPr>
          <p:cNvSpPr txBox="1"/>
          <p:nvPr/>
        </p:nvSpPr>
        <p:spPr>
          <a:xfrm>
            <a:off x="7310051" y="2875796"/>
            <a:ext cx="764256" cy="276999"/>
          </a:xfrm>
          <a:prstGeom prst="rect">
            <a:avLst/>
          </a:prstGeom>
          <a:noFill/>
        </p:spPr>
        <p:txBody>
          <a:bodyPr wrap="square" lIns="0" tIns="0" rIns="0" bIns="0"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cs typeface="Arial" pitchFamily="34" charset="0"/>
              </a:rPr>
              <a:t>洛杉矶</a:t>
            </a:r>
          </a:p>
        </p:txBody>
      </p:sp>
      <p:pic>
        <p:nvPicPr>
          <p:cNvPr id="42" name="图片 41">
            <a:extLst>
              <a:ext uri="{FF2B5EF4-FFF2-40B4-BE49-F238E27FC236}">
                <a16:creationId xmlns:a16="http://schemas.microsoft.com/office/drawing/2014/main" id="{B8BF61AC-3EC4-F579-5F68-62083FB3C709}"/>
              </a:ext>
            </a:extLst>
          </p:cNvPr>
          <p:cNvPicPr>
            <a:picLocks noChangeAspect="1"/>
          </p:cNvPicPr>
          <p:nvPr/>
        </p:nvPicPr>
        <p:blipFill>
          <a:blip r:embed="rId5"/>
          <a:srcRect l="56406" b="10912"/>
          <a:stretch>
            <a:fillRect/>
          </a:stretch>
        </p:blipFill>
        <p:spPr>
          <a:xfrm>
            <a:off x="3848437" y="3591344"/>
            <a:ext cx="3724275" cy="2697157"/>
          </a:xfrm>
          <a:prstGeom prst="rect">
            <a:avLst/>
          </a:prstGeom>
          <a:ln w="15875">
            <a:solidFill>
              <a:srgbClr val="0070C0"/>
            </a:solidFill>
          </a:ln>
        </p:spPr>
      </p:pic>
      <p:sp>
        <p:nvSpPr>
          <p:cNvPr id="43" name="矩形 42">
            <a:extLst>
              <a:ext uri="{FF2B5EF4-FFF2-40B4-BE49-F238E27FC236}">
                <a16:creationId xmlns:a16="http://schemas.microsoft.com/office/drawing/2014/main" id="{228FBE73-9EC9-4FE9-4B5F-6781214B879B}"/>
              </a:ext>
            </a:extLst>
          </p:cNvPr>
          <p:cNvSpPr/>
          <p:nvPr/>
        </p:nvSpPr>
        <p:spPr>
          <a:xfrm>
            <a:off x="3428890" y="2875796"/>
            <a:ext cx="390525" cy="276999"/>
          </a:xfrm>
          <a:prstGeom prst="rect">
            <a:avLst/>
          </a:prstGeom>
          <a:noFill/>
          <a:ln w="158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cxnSp>
        <p:nvCxnSpPr>
          <p:cNvPr id="44" name="直接连接符 43">
            <a:extLst>
              <a:ext uri="{FF2B5EF4-FFF2-40B4-BE49-F238E27FC236}">
                <a16:creationId xmlns:a16="http://schemas.microsoft.com/office/drawing/2014/main" id="{89EEBB56-0CCA-7EA1-253E-20832F0F6D93}"/>
              </a:ext>
            </a:extLst>
          </p:cNvPr>
          <p:cNvCxnSpPr>
            <a:cxnSpLocks/>
          </p:cNvCxnSpPr>
          <p:nvPr/>
        </p:nvCxnSpPr>
        <p:spPr>
          <a:xfrm>
            <a:off x="3781491" y="2875796"/>
            <a:ext cx="3791221" cy="715548"/>
          </a:xfrm>
          <a:prstGeom prst="line">
            <a:avLst/>
          </a:prstGeom>
          <a:ln w="12700">
            <a:solidFill>
              <a:srgbClr val="0070C0"/>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DFCFE0A-6EAD-7A2A-C81E-1959CDA48E2C}"/>
              </a:ext>
            </a:extLst>
          </p:cNvPr>
          <p:cNvCxnSpPr>
            <a:cxnSpLocks/>
          </p:cNvCxnSpPr>
          <p:nvPr/>
        </p:nvCxnSpPr>
        <p:spPr>
          <a:xfrm>
            <a:off x="3428890" y="3167240"/>
            <a:ext cx="390525" cy="3121261"/>
          </a:xfrm>
          <a:prstGeom prst="line">
            <a:avLst/>
          </a:prstGeom>
          <a:ln w="12700">
            <a:solidFill>
              <a:srgbClr val="0070C0"/>
            </a:solidFill>
            <a:tailEnd type="non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626C7C73-97E1-52AB-861E-C79411B1C2E3}"/>
              </a:ext>
            </a:extLst>
          </p:cNvPr>
          <p:cNvSpPr txBox="1"/>
          <p:nvPr/>
        </p:nvSpPr>
        <p:spPr>
          <a:xfrm>
            <a:off x="5457857" y="5675654"/>
            <a:ext cx="1861403" cy="492443"/>
          </a:xfrm>
          <a:prstGeom prst="rect">
            <a:avLst/>
          </a:prstGeom>
          <a:solidFill>
            <a:schemeClr val="bg1">
              <a:alpha val="60000"/>
            </a:schemeClr>
          </a:solid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声爆毯掠过地面</a:t>
            </a:r>
            <a:endPar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被判定为约束点</a:t>
            </a:r>
          </a:p>
        </p:txBody>
      </p:sp>
      <p:cxnSp>
        <p:nvCxnSpPr>
          <p:cNvPr id="47" name="直接箭头连接符 46">
            <a:extLst>
              <a:ext uri="{FF2B5EF4-FFF2-40B4-BE49-F238E27FC236}">
                <a16:creationId xmlns:a16="http://schemas.microsoft.com/office/drawing/2014/main" id="{C38A23C9-78AB-EC8C-115D-B5FDBD387824}"/>
              </a:ext>
            </a:extLst>
          </p:cNvPr>
          <p:cNvCxnSpPr/>
          <p:nvPr/>
        </p:nvCxnSpPr>
        <p:spPr>
          <a:xfrm flipH="1" flipV="1">
            <a:off x="6164666" y="5175733"/>
            <a:ext cx="256854" cy="4170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1D46FD26-DD9F-F105-E13E-9D499C8745E2}"/>
              </a:ext>
            </a:extLst>
          </p:cNvPr>
          <p:cNvPicPr>
            <a:picLocks noChangeAspect="1"/>
          </p:cNvPicPr>
          <p:nvPr/>
        </p:nvPicPr>
        <p:blipFill>
          <a:blip r:embed="rId6"/>
          <a:srcRect l="8" t="8" r="8" b="8"/>
          <a:stretch>
            <a:fillRect/>
          </a:stretch>
        </p:blipFill>
        <p:spPr>
          <a:xfrm>
            <a:off x="8290246" y="1728927"/>
            <a:ext cx="3725405" cy="3725405"/>
          </a:xfrm>
          <a:custGeom>
            <a:avLst/>
            <a:gdLst>
              <a:gd name="csX0" fmla="*/ 2296800 w 4593600"/>
              <a:gd name="csY0" fmla="*/ 0 h 4593600"/>
              <a:gd name="csX1" fmla="*/ 4593600 w 4593600"/>
              <a:gd name="csY1" fmla="*/ 2296800 h 4593600"/>
              <a:gd name="csX2" fmla="*/ 2296800 w 4593600"/>
              <a:gd name="csY2" fmla="*/ 4593600 h 4593600"/>
              <a:gd name="csX3" fmla="*/ 0 w 4593600"/>
              <a:gd name="csY3" fmla="*/ 2296800 h 4593600"/>
              <a:gd name="csX4" fmla="*/ 2296800 w 4593600"/>
              <a:gd name="csY4" fmla="*/ 0 h 4593600"/>
            </a:gdLst>
            <a:ahLst/>
            <a:cxnLst>
              <a:cxn ang="0">
                <a:pos x="csX0" y="csY0"/>
              </a:cxn>
              <a:cxn ang="0">
                <a:pos x="csX1" y="csY1"/>
              </a:cxn>
              <a:cxn ang="0">
                <a:pos x="csX2" y="csY2"/>
              </a:cxn>
              <a:cxn ang="0">
                <a:pos x="csX3" y="csY3"/>
              </a:cxn>
              <a:cxn ang="0">
                <a:pos x="csX4" y="csY4"/>
              </a:cxn>
            </a:cxnLst>
            <a:rect l="l" t="t" r="r" b="b"/>
            <a:pathLst>
              <a:path w="4593600" h="4593600">
                <a:moveTo>
                  <a:pt x="2296800" y="0"/>
                </a:moveTo>
                <a:cubicBezTo>
                  <a:pt x="3565288" y="0"/>
                  <a:pt x="4593600" y="1028312"/>
                  <a:pt x="4593600" y="2296800"/>
                </a:cubicBezTo>
                <a:cubicBezTo>
                  <a:pt x="4593600" y="3565288"/>
                  <a:pt x="3565288" y="4593600"/>
                  <a:pt x="2296800" y="4593600"/>
                </a:cubicBezTo>
                <a:cubicBezTo>
                  <a:pt x="1028312" y="4593600"/>
                  <a:pt x="0" y="3565288"/>
                  <a:pt x="0" y="2296800"/>
                </a:cubicBezTo>
                <a:cubicBezTo>
                  <a:pt x="0" y="1028312"/>
                  <a:pt x="1028312" y="0"/>
                  <a:pt x="2296800" y="0"/>
                </a:cubicBezTo>
                <a:close/>
              </a:path>
            </a:pathLst>
          </a:custGeom>
        </p:spPr>
      </p:pic>
      <p:sp>
        <p:nvSpPr>
          <p:cNvPr id="21" name="文本框 20">
            <a:extLst>
              <a:ext uri="{FF2B5EF4-FFF2-40B4-BE49-F238E27FC236}">
                <a16:creationId xmlns:a16="http://schemas.microsoft.com/office/drawing/2014/main" id="{007B8754-634F-B033-869B-EB2ADE0107B4}"/>
              </a:ext>
            </a:extLst>
          </p:cNvPr>
          <p:cNvSpPr txBox="1"/>
          <p:nvPr/>
        </p:nvSpPr>
        <p:spPr>
          <a:xfrm>
            <a:off x="9064771" y="5454332"/>
            <a:ext cx="2160396" cy="276999"/>
          </a:xfrm>
          <a:prstGeom prst="rect">
            <a:avLst/>
          </a:prstGeom>
          <a:noFill/>
        </p:spPr>
        <p:txBody>
          <a:bodyPr wrap="square" lIns="0" tIns="0" rIns="0" bIns="0" rtlCol="0">
            <a:spAutoFit/>
          </a:bodyPr>
          <a:lstStyle/>
          <a:p>
            <a:pPr algn="ct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球面地图航线示意</a:t>
            </a:r>
          </a:p>
        </p:txBody>
      </p:sp>
      <p:sp>
        <p:nvSpPr>
          <p:cNvPr id="22" name="文本框 21">
            <a:extLst>
              <a:ext uri="{FF2B5EF4-FFF2-40B4-BE49-F238E27FC236}">
                <a16:creationId xmlns:a16="http://schemas.microsoft.com/office/drawing/2014/main" id="{DA940A98-25F1-C7B3-E46F-977EF88E54C7}"/>
              </a:ext>
            </a:extLst>
          </p:cNvPr>
          <p:cNvSpPr txBox="1"/>
          <p:nvPr/>
        </p:nvSpPr>
        <p:spPr>
          <a:xfrm>
            <a:off x="10492408" y="1149353"/>
            <a:ext cx="1331843" cy="430887"/>
          </a:xfrm>
          <a:prstGeom prst="rect">
            <a:avLst/>
          </a:prstGeom>
          <a:noFill/>
        </p:spPr>
        <p:txBody>
          <a:bodyPr wrap="square" lIns="0" tIns="0" rIns="0" bIns="0" rtlCol="0">
            <a:spAutoFit/>
          </a:bodyPr>
          <a:lstStyle/>
          <a:p>
            <a:pPr marL="342900" indent="-342900">
              <a:buFont typeface="Wingdings" panose="05000000000000000000" pitchFamily="2" charset="2"/>
              <a:buChar char="n"/>
            </a:pPr>
            <a:r>
              <a:rPr lang="zh-CN" altLang="en-US" sz="1400" b="1" dirty="0">
                <a:solidFill>
                  <a:srgbClr val="C00000"/>
                </a:solidFill>
                <a:latin typeface="微软雅黑" panose="020B0503020204020204" pitchFamily="34" charset="-122"/>
                <a:ea typeface="微软雅黑" panose="020B0503020204020204" pitchFamily="34" charset="-122"/>
                <a:cs typeface="Arial" pitchFamily="34" charset="0"/>
              </a:rPr>
              <a:t>大圆航线</a:t>
            </a:r>
            <a:endParaRPr lang="en-US" altLang="zh-CN" sz="1400" b="1" dirty="0">
              <a:solidFill>
                <a:srgbClr val="C00000"/>
              </a:solidFill>
              <a:latin typeface="微软雅黑" panose="020B0503020204020204" pitchFamily="34" charset="-122"/>
              <a:ea typeface="微软雅黑" panose="020B0503020204020204" pitchFamily="34" charset="-122"/>
              <a:cs typeface="Arial" pitchFamily="34" charset="0"/>
            </a:endParaRPr>
          </a:p>
          <a:p>
            <a:pPr marL="342900" indent="-342900">
              <a:buFont typeface="Wingdings" panose="05000000000000000000" pitchFamily="2" charset="2"/>
              <a:buChar char="n"/>
            </a:pPr>
            <a:r>
              <a:rPr lang="zh-CN" altLang="en-US" sz="1400" b="1" dirty="0">
                <a:solidFill>
                  <a:srgbClr val="00B050"/>
                </a:solidFill>
                <a:latin typeface="微软雅黑" panose="020B0503020204020204" pitchFamily="34" charset="-122"/>
                <a:ea typeface="微软雅黑" panose="020B0503020204020204" pitchFamily="34" charset="-122"/>
                <a:cs typeface="Arial" pitchFamily="34" charset="0"/>
              </a:rPr>
              <a:t>超声速航线</a:t>
            </a:r>
          </a:p>
        </p:txBody>
      </p:sp>
    </p:spTree>
    <p:custDataLst>
      <p:tags r:id="rId1"/>
    </p:custDataLst>
    <p:extLst>
      <p:ext uri="{BB962C8B-B14F-4D97-AF65-F5344CB8AC3E}">
        <p14:creationId xmlns:p14="http://schemas.microsoft.com/office/powerpoint/2010/main" val="3050032912"/>
      </p:ext>
    </p:extLst>
  </p:cSld>
  <p:clrMapOvr>
    <a:masterClrMapping/>
  </p:clrMapOvr>
  <mc:AlternateContent xmlns:mc="http://schemas.openxmlformats.org/markup-compatibility/2006" xmlns:p159="http://schemas.microsoft.com/office/powerpoint/2015/09/main">
    <mc:Choice Requires="p159">
      <p:transition advTm="20472">
        <p159:morph option="byObject"/>
      </p:transition>
    </mc:Choice>
    <mc:Fallback xmlns="">
      <p:transition advTm="20472">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29D5246-8649-B790-6DDA-16114894E43A}"/>
              </a:ext>
            </a:extLst>
          </p:cNvPr>
          <p:cNvPicPr>
            <a:picLocks noChangeAspect="1"/>
          </p:cNvPicPr>
          <p:nvPr/>
        </p:nvPicPr>
        <p:blipFill>
          <a:blip r:embed="rId2"/>
          <a:stretch>
            <a:fillRect/>
          </a:stretch>
        </p:blipFill>
        <p:spPr>
          <a:xfrm>
            <a:off x="2375940" y="1665911"/>
            <a:ext cx="5040000" cy="3075254"/>
          </a:xfrm>
          <a:prstGeom prst="rect">
            <a:avLst/>
          </a:prstGeom>
        </p:spPr>
      </p:pic>
      <p:pic>
        <p:nvPicPr>
          <p:cNvPr id="3" name="图片 2">
            <a:extLst>
              <a:ext uri="{FF2B5EF4-FFF2-40B4-BE49-F238E27FC236}">
                <a16:creationId xmlns:a16="http://schemas.microsoft.com/office/drawing/2014/main" id="{0E8ACE7F-A7A5-957A-6AF1-78214D83DA8B}"/>
              </a:ext>
            </a:extLst>
          </p:cNvPr>
          <p:cNvPicPr>
            <a:picLocks noChangeAspect="1"/>
          </p:cNvPicPr>
          <p:nvPr/>
        </p:nvPicPr>
        <p:blipFill>
          <a:blip r:embed="rId3"/>
          <a:stretch>
            <a:fillRect/>
          </a:stretch>
        </p:blipFill>
        <p:spPr>
          <a:xfrm>
            <a:off x="7527329" y="932772"/>
            <a:ext cx="4320000" cy="2150182"/>
          </a:xfrm>
          <a:prstGeom prst="rect">
            <a:avLst/>
          </a:prstGeom>
        </p:spPr>
      </p:pic>
      <p:pic>
        <p:nvPicPr>
          <p:cNvPr id="4" name="图片 3">
            <a:extLst>
              <a:ext uri="{FF2B5EF4-FFF2-40B4-BE49-F238E27FC236}">
                <a16:creationId xmlns:a16="http://schemas.microsoft.com/office/drawing/2014/main" id="{E6665874-E4B1-0085-DA74-599ED156513D}"/>
              </a:ext>
            </a:extLst>
          </p:cNvPr>
          <p:cNvPicPr>
            <a:picLocks noChangeAspect="1"/>
          </p:cNvPicPr>
          <p:nvPr/>
        </p:nvPicPr>
        <p:blipFill>
          <a:blip r:embed="rId4"/>
          <a:stretch>
            <a:fillRect/>
          </a:stretch>
        </p:blipFill>
        <p:spPr>
          <a:xfrm>
            <a:off x="7577139" y="3435329"/>
            <a:ext cx="4320000" cy="2114450"/>
          </a:xfrm>
          <a:prstGeom prst="rect">
            <a:avLst/>
          </a:prstGeom>
        </p:spPr>
      </p:pic>
      <p:sp>
        <p:nvSpPr>
          <p:cNvPr id="5" name="文本框 4">
            <a:extLst>
              <a:ext uri="{FF2B5EF4-FFF2-40B4-BE49-F238E27FC236}">
                <a16:creationId xmlns:a16="http://schemas.microsoft.com/office/drawing/2014/main" id="{1E6E5C2C-CE39-E662-C335-F5D5BE120AE6}"/>
              </a:ext>
            </a:extLst>
          </p:cNvPr>
          <p:cNvSpPr txBox="1"/>
          <p:nvPr/>
        </p:nvSpPr>
        <p:spPr>
          <a:xfrm>
            <a:off x="3822953" y="4741165"/>
            <a:ext cx="2702104"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不同飞行策略对应飞行剖面</a:t>
            </a:r>
          </a:p>
        </p:txBody>
      </p:sp>
      <p:sp>
        <p:nvSpPr>
          <p:cNvPr id="6" name="文本框 5">
            <a:extLst>
              <a:ext uri="{FF2B5EF4-FFF2-40B4-BE49-F238E27FC236}">
                <a16:creationId xmlns:a16="http://schemas.microsoft.com/office/drawing/2014/main" id="{AB2EE4B5-CC4E-A563-D51C-8964A7F3DEC9}"/>
              </a:ext>
            </a:extLst>
          </p:cNvPr>
          <p:cNvSpPr txBox="1"/>
          <p:nvPr/>
        </p:nvSpPr>
        <p:spPr>
          <a:xfrm>
            <a:off x="8336277" y="3182779"/>
            <a:ext cx="2702104"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不同飞行策略巡航攻角变化</a:t>
            </a:r>
          </a:p>
        </p:txBody>
      </p:sp>
      <p:sp>
        <p:nvSpPr>
          <p:cNvPr id="7" name="文本框 6">
            <a:extLst>
              <a:ext uri="{FF2B5EF4-FFF2-40B4-BE49-F238E27FC236}">
                <a16:creationId xmlns:a16="http://schemas.microsoft.com/office/drawing/2014/main" id="{F4F7CD92-7BC4-ADD7-BC81-98381244A140}"/>
              </a:ext>
            </a:extLst>
          </p:cNvPr>
          <p:cNvSpPr txBox="1"/>
          <p:nvPr/>
        </p:nvSpPr>
        <p:spPr>
          <a:xfrm>
            <a:off x="8336277" y="5549779"/>
            <a:ext cx="2702104"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不同飞行策略巡航升阻比变化</a:t>
            </a:r>
          </a:p>
        </p:txBody>
      </p:sp>
      <p:sp>
        <p:nvSpPr>
          <p:cNvPr id="9" name="箭头: 五边形 8">
            <a:extLst>
              <a:ext uri="{FF2B5EF4-FFF2-40B4-BE49-F238E27FC236}">
                <a16:creationId xmlns:a16="http://schemas.microsoft.com/office/drawing/2014/main" id="{8A902448-1F10-67D2-2A50-BCD719D79344}"/>
              </a:ext>
            </a:extLst>
          </p:cNvPr>
          <p:cNvSpPr/>
          <p:nvPr/>
        </p:nvSpPr>
        <p:spPr>
          <a:xfrm>
            <a:off x="-1" y="1717200"/>
            <a:ext cx="1584001"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航线规划</a:t>
            </a:r>
          </a:p>
        </p:txBody>
      </p:sp>
      <p:sp>
        <p:nvSpPr>
          <p:cNvPr id="10" name="箭头: 五边形 9">
            <a:extLst>
              <a:ext uri="{FF2B5EF4-FFF2-40B4-BE49-F238E27FC236}">
                <a16:creationId xmlns:a16="http://schemas.microsoft.com/office/drawing/2014/main" id="{4A833C65-8BEB-6FED-8D39-2A8FCC621918}"/>
              </a:ext>
            </a:extLst>
          </p:cNvPr>
          <p:cNvSpPr/>
          <p:nvPr/>
        </p:nvSpPr>
        <p:spPr>
          <a:xfrm>
            <a:off x="0" y="3126600"/>
            <a:ext cx="2375940" cy="1260000"/>
          </a:xfrm>
          <a:prstGeom prst="homePlate">
            <a:avLst>
              <a:gd name="adj" fmla="val 3037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重量</a:t>
            </a:r>
            <a:r>
              <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剖面</a:t>
            </a:r>
            <a:endPar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联合设计</a:t>
            </a:r>
          </a:p>
        </p:txBody>
      </p:sp>
      <p:sp>
        <p:nvSpPr>
          <p:cNvPr id="11" name="箭头: 五边形 10">
            <a:extLst>
              <a:ext uri="{FF2B5EF4-FFF2-40B4-BE49-F238E27FC236}">
                <a16:creationId xmlns:a16="http://schemas.microsoft.com/office/drawing/2014/main" id="{CDBDE4CA-70ED-36A7-AF4F-DFD860A78BF4}"/>
              </a:ext>
            </a:extLst>
          </p:cNvPr>
          <p:cNvSpPr/>
          <p:nvPr/>
        </p:nvSpPr>
        <p:spPr>
          <a:xfrm>
            <a:off x="0" y="45360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气动优化</a:t>
            </a:r>
          </a:p>
        </p:txBody>
      </p:sp>
      <p:sp>
        <p:nvSpPr>
          <p:cNvPr id="12" name="文本框 11">
            <a:extLst>
              <a:ext uri="{FF2B5EF4-FFF2-40B4-BE49-F238E27FC236}">
                <a16:creationId xmlns:a16="http://schemas.microsoft.com/office/drawing/2014/main" id="{CF8146A4-0596-02FA-34FA-18EA909AA436}"/>
              </a:ext>
            </a:extLst>
          </p:cNvPr>
          <p:cNvSpPr txBox="1"/>
          <p:nvPr/>
        </p:nvSpPr>
        <p:spPr>
          <a:xfrm>
            <a:off x="203376" y="847051"/>
            <a:ext cx="5507199" cy="400110"/>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重量</a:t>
            </a:r>
            <a:r>
              <a:rPr lang="en-US" altLang="zh-CN" sz="2000" dirty="0">
                <a:solidFill>
                  <a:srgbClr val="002060"/>
                </a:solidFill>
                <a:latin typeface="微软雅黑" panose="020B0503020204020204" pitchFamily="34" charset="-122"/>
                <a:ea typeface="微软雅黑" panose="020B0503020204020204" pitchFamily="34" charset="-122"/>
              </a:rPr>
              <a:t>-</a:t>
            </a:r>
            <a:r>
              <a:rPr lang="zh-CN" altLang="en-US" sz="2000" dirty="0">
                <a:solidFill>
                  <a:srgbClr val="002060"/>
                </a:solidFill>
                <a:latin typeface="微软雅黑" panose="020B0503020204020204" pitchFamily="34" charset="-122"/>
                <a:ea typeface="微软雅黑" panose="020B0503020204020204" pitchFamily="34" charset="-122"/>
              </a:rPr>
              <a:t>飞行剖面联合迭代模块</a:t>
            </a:r>
          </a:p>
        </p:txBody>
      </p:sp>
      <p:sp>
        <p:nvSpPr>
          <p:cNvPr id="13" name="标题 1">
            <a:extLst>
              <a:ext uri="{FF2B5EF4-FFF2-40B4-BE49-F238E27FC236}">
                <a16:creationId xmlns:a16="http://schemas.microsoft.com/office/drawing/2014/main" id="{255705B2-E96E-7CFE-75A8-E16A490B80D8}"/>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二、总体设计方法框架</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介绍</a:t>
            </a:r>
            <a:endPar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4" name="矩形: 圆角 13">
            <a:extLst>
              <a:ext uri="{FF2B5EF4-FFF2-40B4-BE49-F238E27FC236}">
                <a16:creationId xmlns:a16="http://schemas.microsoft.com/office/drawing/2014/main" id="{981292DE-443C-9C9C-58A8-9FF882EA8B29}"/>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defRPr/>
            </a:pP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在重量迭代中使用最优飞行剖面可以有效减小总重</a:t>
            </a:r>
          </a:p>
        </p:txBody>
      </p:sp>
    </p:spTree>
    <p:extLst>
      <p:ext uri="{BB962C8B-B14F-4D97-AF65-F5344CB8AC3E}">
        <p14:creationId xmlns:p14="http://schemas.microsoft.com/office/powerpoint/2010/main" val="2318890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a:extLst>
              <a:ext uri="{FF2B5EF4-FFF2-40B4-BE49-F238E27FC236}">
                <a16:creationId xmlns:a16="http://schemas.microsoft.com/office/drawing/2014/main" id="{933F44DA-5606-38B1-F92B-00D7A81CA0AA}"/>
              </a:ext>
            </a:extLst>
          </p:cNvPr>
          <p:cNvSpPr/>
          <p:nvPr/>
        </p:nvSpPr>
        <p:spPr>
          <a:xfrm>
            <a:off x="-1" y="1717200"/>
            <a:ext cx="1584001"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航线规划</a:t>
            </a:r>
          </a:p>
        </p:txBody>
      </p:sp>
      <p:sp>
        <p:nvSpPr>
          <p:cNvPr id="9" name="箭头: 五边形 8">
            <a:extLst>
              <a:ext uri="{FF2B5EF4-FFF2-40B4-BE49-F238E27FC236}">
                <a16:creationId xmlns:a16="http://schemas.microsoft.com/office/drawing/2014/main" id="{E89D1601-DE2D-B4F8-727E-F2F2C744A488}"/>
              </a:ext>
            </a:extLst>
          </p:cNvPr>
          <p:cNvSpPr/>
          <p:nvPr/>
        </p:nvSpPr>
        <p:spPr>
          <a:xfrm>
            <a:off x="0" y="3126600"/>
            <a:ext cx="2375940" cy="1260000"/>
          </a:xfrm>
          <a:prstGeom prst="homePlate">
            <a:avLst>
              <a:gd name="adj" fmla="val 3037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重量</a:t>
            </a:r>
            <a:r>
              <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剖面</a:t>
            </a:r>
            <a:endPar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联合设计</a:t>
            </a:r>
          </a:p>
        </p:txBody>
      </p:sp>
      <p:sp>
        <p:nvSpPr>
          <p:cNvPr id="10" name="箭头: 五边形 9">
            <a:extLst>
              <a:ext uri="{FF2B5EF4-FFF2-40B4-BE49-F238E27FC236}">
                <a16:creationId xmlns:a16="http://schemas.microsoft.com/office/drawing/2014/main" id="{5AB557EF-01A0-441F-674A-4B94A85FC772}"/>
              </a:ext>
            </a:extLst>
          </p:cNvPr>
          <p:cNvSpPr/>
          <p:nvPr/>
        </p:nvSpPr>
        <p:spPr>
          <a:xfrm>
            <a:off x="0" y="45360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气动优化</a:t>
            </a:r>
          </a:p>
        </p:txBody>
      </p:sp>
      <p:sp>
        <p:nvSpPr>
          <p:cNvPr id="3" name="文本框 2">
            <a:extLst>
              <a:ext uri="{FF2B5EF4-FFF2-40B4-BE49-F238E27FC236}">
                <a16:creationId xmlns:a16="http://schemas.microsoft.com/office/drawing/2014/main" id="{20E4ED11-7988-EB27-E1E5-11DD30047FA2}"/>
              </a:ext>
            </a:extLst>
          </p:cNvPr>
          <p:cNvSpPr txBox="1"/>
          <p:nvPr/>
        </p:nvSpPr>
        <p:spPr>
          <a:xfrm>
            <a:off x="203376" y="847051"/>
            <a:ext cx="5507199" cy="400110"/>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重量</a:t>
            </a:r>
            <a:r>
              <a:rPr lang="en-US" altLang="zh-CN" sz="2000" dirty="0">
                <a:solidFill>
                  <a:srgbClr val="002060"/>
                </a:solidFill>
                <a:latin typeface="微软雅黑" panose="020B0503020204020204" pitchFamily="34" charset="-122"/>
                <a:ea typeface="微软雅黑" panose="020B0503020204020204" pitchFamily="34" charset="-122"/>
              </a:rPr>
              <a:t>-</a:t>
            </a:r>
            <a:r>
              <a:rPr lang="zh-CN" altLang="en-US" sz="2000" dirty="0">
                <a:solidFill>
                  <a:srgbClr val="002060"/>
                </a:solidFill>
                <a:latin typeface="微软雅黑" panose="020B0503020204020204" pitchFamily="34" charset="-122"/>
                <a:ea typeface="微软雅黑" panose="020B0503020204020204" pitchFamily="34" charset="-122"/>
              </a:rPr>
              <a:t>飞行剖面联合迭代模块</a:t>
            </a:r>
          </a:p>
        </p:txBody>
      </p:sp>
      <p:sp>
        <p:nvSpPr>
          <p:cNvPr id="4" name="矩形: 圆角 3">
            <a:extLst>
              <a:ext uri="{FF2B5EF4-FFF2-40B4-BE49-F238E27FC236}">
                <a16:creationId xmlns:a16="http://schemas.microsoft.com/office/drawing/2014/main" id="{4E16B5DC-790C-EC5F-226B-7DC0DC428B56}"/>
              </a:ext>
            </a:extLst>
          </p:cNvPr>
          <p:cNvSpPr/>
          <p:nvPr/>
        </p:nvSpPr>
        <p:spPr>
          <a:xfrm>
            <a:off x="2611168" y="1796498"/>
            <a:ext cx="5007889" cy="4490369"/>
          </a:xfrm>
          <a:prstGeom prst="roundRect">
            <a:avLst/>
          </a:prstGeom>
          <a:solidFill>
            <a:srgbClr val="B6E3E3">
              <a:alpha val="40000"/>
            </a:srgbClr>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5" name="矩形: 圆角 4">
            <a:extLst>
              <a:ext uri="{FF2B5EF4-FFF2-40B4-BE49-F238E27FC236}">
                <a16:creationId xmlns:a16="http://schemas.microsoft.com/office/drawing/2014/main" id="{63D5552A-8B41-66D9-A6E9-29915742CD51}"/>
              </a:ext>
            </a:extLst>
          </p:cNvPr>
          <p:cNvSpPr/>
          <p:nvPr/>
        </p:nvSpPr>
        <p:spPr>
          <a:xfrm>
            <a:off x="2760645" y="2584695"/>
            <a:ext cx="3816659" cy="2002016"/>
          </a:xfrm>
          <a:prstGeom prst="roundRect">
            <a:avLst/>
          </a:prstGeom>
          <a:solidFill>
            <a:srgbClr val="92D050">
              <a:alpha val="1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6" name="文本框 5">
            <a:extLst>
              <a:ext uri="{FF2B5EF4-FFF2-40B4-BE49-F238E27FC236}">
                <a16:creationId xmlns:a16="http://schemas.microsoft.com/office/drawing/2014/main" id="{FA4EAB62-DE59-04DE-32B7-645783AEA75D}"/>
              </a:ext>
            </a:extLst>
          </p:cNvPr>
          <p:cNvSpPr txBox="1"/>
          <p:nvPr/>
        </p:nvSpPr>
        <p:spPr>
          <a:xfrm>
            <a:off x="7768536" y="1241210"/>
            <a:ext cx="4128711" cy="170540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solidFill>
                  <a:srgbClr val="002060"/>
                </a:solidFill>
                <a:latin typeface="微软雅黑" panose="020B0503020204020204" pitchFamily="34" charset="-122"/>
                <a:ea typeface="微软雅黑" panose="020B0503020204020204" pitchFamily="34" charset="-122"/>
              </a:rPr>
              <a:t>内层采用</a:t>
            </a:r>
            <a:r>
              <a:rPr lang="zh-CN" altLang="zh-CN" dirty="0">
                <a:solidFill>
                  <a:srgbClr val="002060"/>
                </a:solidFill>
                <a:latin typeface="微软雅黑" panose="020B0503020204020204" pitchFamily="34" charset="-122"/>
                <a:ea typeface="微软雅黑" panose="020B0503020204020204" pitchFamily="34" charset="-122"/>
              </a:rPr>
              <a:t>二分法匹配最大升阻比</a:t>
            </a:r>
            <a:r>
              <a:rPr lang="zh-CN" altLang="en-US" dirty="0">
                <a:solidFill>
                  <a:srgbClr val="002060"/>
                </a:solidFill>
                <a:latin typeface="微软雅黑" panose="020B0503020204020204" pitchFamily="34" charset="-122"/>
                <a:ea typeface="微软雅黑" panose="020B0503020204020204" pitchFamily="34" charset="-122"/>
              </a:rPr>
              <a:t>剖面。</a:t>
            </a:r>
            <a:endParaRPr lang="en-US" altLang="zh-CN" dirty="0">
              <a:solidFill>
                <a:srgbClr val="00206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zh-CN" dirty="0">
                <a:solidFill>
                  <a:srgbClr val="002060"/>
                </a:solidFill>
                <a:latin typeface="微软雅黑" panose="020B0503020204020204" pitchFamily="34" charset="-122"/>
                <a:ea typeface="微软雅黑" panose="020B0503020204020204" pitchFamily="34" charset="-122"/>
              </a:rPr>
              <a:t>外层迭代</a:t>
            </a:r>
            <a:r>
              <a:rPr lang="zh-CN" altLang="en-US" dirty="0">
                <a:solidFill>
                  <a:srgbClr val="002060"/>
                </a:solidFill>
                <a:latin typeface="微软雅黑" panose="020B0503020204020204" pitchFamily="34" charset="-122"/>
                <a:ea typeface="微软雅黑" panose="020B0503020204020204" pitchFamily="34" charset="-122"/>
              </a:rPr>
              <a:t>采</a:t>
            </a:r>
            <a:r>
              <a:rPr lang="zh-CN" altLang="zh-CN" dirty="0">
                <a:solidFill>
                  <a:srgbClr val="002060"/>
                </a:solidFill>
                <a:latin typeface="微软雅黑" panose="020B0503020204020204" pitchFamily="34" charset="-122"/>
                <a:ea typeface="微软雅黑" panose="020B0503020204020204" pitchFamily="34" charset="-122"/>
              </a:rPr>
              <a:t>用指定空重系数的</a:t>
            </a:r>
            <a:r>
              <a:rPr lang="zh-CN" altLang="en-US" dirty="0">
                <a:solidFill>
                  <a:srgbClr val="002060"/>
                </a:solidFill>
                <a:latin typeface="微软雅黑" panose="020B0503020204020204" pitchFamily="34" charset="-122"/>
                <a:ea typeface="微软雅黑" panose="020B0503020204020204" pitchFamily="34" charset="-122"/>
              </a:rPr>
              <a:t>割线法迭代，即使初值离目标很远也能在</a:t>
            </a:r>
            <a:r>
              <a:rPr lang="en-US" altLang="zh-CN" dirty="0">
                <a:solidFill>
                  <a:srgbClr val="002060"/>
                </a:solidFill>
                <a:latin typeface="微软雅黑" panose="020B0503020204020204" pitchFamily="34" charset="-122"/>
                <a:ea typeface="微软雅黑" panose="020B0503020204020204" pitchFamily="34" charset="-122"/>
              </a:rPr>
              <a:t>3</a:t>
            </a:r>
            <a:r>
              <a:rPr lang="zh-CN" altLang="en-US" dirty="0">
                <a:solidFill>
                  <a:srgbClr val="002060"/>
                </a:solidFill>
                <a:latin typeface="微软雅黑" panose="020B0503020204020204" pitchFamily="34" charset="-122"/>
                <a:ea typeface="微软雅黑" panose="020B0503020204020204" pitchFamily="34" charset="-122"/>
              </a:rPr>
              <a:t>步之内收敛。</a:t>
            </a:r>
            <a:endParaRPr lang="zh-CN" altLang="zh-CN" dirty="0">
              <a:solidFill>
                <a:srgbClr val="002060"/>
              </a:solidFill>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C8F7B9D6-0FAD-9FE2-6305-BB2C50844C89}"/>
              </a:ext>
            </a:extLst>
          </p:cNvPr>
          <p:cNvSpPr/>
          <p:nvPr/>
        </p:nvSpPr>
        <p:spPr>
          <a:xfrm>
            <a:off x="3802969" y="1247161"/>
            <a:ext cx="2160000" cy="288000"/>
          </a:xfrm>
          <a:prstGeom prst="roundRect">
            <a:avLst/>
          </a:prstGeom>
          <a:solidFill>
            <a:schemeClr val="bg1"/>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1700" b="1" dirty="0">
                <a:solidFill>
                  <a:srgbClr val="002060"/>
                </a:solidFill>
                <a:latin typeface="微软雅黑" panose="020B0503020204020204" pitchFamily="34" charset="-122"/>
                <a:ea typeface="微软雅黑" panose="020B0503020204020204" pitchFamily="34" charset="-122"/>
                <a:cs typeface="Arial" pitchFamily="34" charset="0"/>
              </a:rPr>
              <a:t>空重系数，乘员重量</a:t>
            </a:r>
          </a:p>
        </p:txBody>
      </p:sp>
      <p:sp>
        <p:nvSpPr>
          <p:cNvPr id="12" name="矩形: 圆角 11">
            <a:extLst>
              <a:ext uri="{FF2B5EF4-FFF2-40B4-BE49-F238E27FC236}">
                <a16:creationId xmlns:a16="http://schemas.microsoft.com/office/drawing/2014/main" id="{CFBEF45D-B8E5-ABB6-FC3B-4CC497883847}"/>
              </a:ext>
            </a:extLst>
          </p:cNvPr>
          <p:cNvSpPr/>
          <p:nvPr/>
        </p:nvSpPr>
        <p:spPr>
          <a:xfrm>
            <a:off x="3802969" y="1949912"/>
            <a:ext cx="2160000" cy="288000"/>
          </a:xfrm>
          <a:prstGeom prst="roundRect">
            <a:avLst/>
          </a:prstGeom>
          <a:solidFill>
            <a:schemeClr val="bg1"/>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1700" b="1" dirty="0">
                <a:solidFill>
                  <a:srgbClr val="002060"/>
                </a:solidFill>
                <a:latin typeface="微软雅黑" panose="020B0503020204020204" pitchFamily="34" charset="-122"/>
                <a:ea typeface="微软雅黑" panose="020B0503020204020204" pitchFamily="34" charset="-122"/>
                <a:cs typeface="Arial" pitchFamily="34" charset="0"/>
              </a:rPr>
              <a:t>初始总重</a:t>
            </a:r>
          </a:p>
        </p:txBody>
      </p:sp>
      <p:cxnSp>
        <p:nvCxnSpPr>
          <p:cNvPr id="13" name="直接箭头连接符 12">
            <a:extLst>
              <a:ext uri="{FF2B5EF4-FFF2-40B4-BE49-F238E27FC236}">
                <a16:creationId xmlns:a16="http://schemas.microsoft.com/office/drawing/2014/main" id="{C1719E46-85DB-84F4-109A-2CE70EE4F700}"/>
              </a:ext>
            </a:extLst>
          </p:cNvPr>
          <p:cNvCxnSpPr>
            <a:stCxn id="11" idx="2"/>
            <a:endCxn id="12" idx="0"/>
          </p:cNvCxnSpPr>
          <p:nvPr/>
        </p:nvCxnSpPr>
        <p:spPr>
          <a:xfrm>
            <a:off x="4882969" y="1535161"/>
            <a:ext cx="0" cy="4147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0FE86259-BC31-7722-7D93-968C1FB0F588}"/>
              </a:ext>
            </a:extLst>
          </p:cNvPr>
          <p:cNvSpPr txBox="1"/>
          <p:nvPr/>
        </p:nvSpPr>
        <p:spPr>
          <a:xfrm>
            <a:off x="3263581" y="1565667"/>
            <a:ext cx="1510300" cy="230832"/>
          </a:xfrm>
          <a:prstGeom prst="rect">
            <a:avLst/>
          </a:prstGeom>
          <a:noFill/>
        </p:spPr>
        <p:txBody>
          <a:bodyPr wrap="square" lIns="0" tIns="0" rIns="0" bIns="0" rtlCol="0">
            <a:spAutoFit/>
          </a:bodyPr>
          <a:lstStyle/>
          <a:p>
            <a:pPr algn="ctr"/>
            <a:r>
              <a:rPr lang="zh-CN" altLang="en-US" sz="1500" dirty="0">
                <a:solidFill>
                  <a:srgbClr val="002060"/>
                </a:solidFill>
                <a:latin typeface="微软雅黑" panose="020B0503020204020204" pitchFamily="34" charset="-122"/>
                <a:ea typeface="微软雅黑" panose="020B0503020204020204" pitchFamily="34" charset="-122"/>
                <a:cs typeface="Arial" pitchFamily="34" charset="0"/>
              </a:rPr>
              <a:t>布雷盖航程公式</a:t>
            </a:r>
          </a:p>
        </p:txBody>
      </p:sp>
      <p:sp>
        <p:nvSpPr>
          <p:cNvPr id="15" name="文本框 14">
            <a:extLst>
              <a:ext uri="{FF2B5EF4-FFF2-40B4-BE49-F238E27FC236}">
                <a16:creationId xmlns:a16="http://schemas.microsoft.com/office/drawing/2014/main" id="{AB136D53-468A-7265-F785-5CB51E9FDBD9}"/>
              </a:ext>
            </a:extLst>
          </p:cNvPr>
          <p:cNvSpPr txBox="1"/>
          <p:nvPr/>
        </p:nvSpPr>
        <p:spPr>
          <a:xfrm>
            <a:off x="5025600" y="1565667"/>
            <a:ext cx="1253440" cy="230832"/>
          </a:xfrm>
          <a:prstGeom prst="rect">
            <a:avLst/>
          </a:prstGeom>
          <a:noFill/>
        </p:spPr>
        <p:txBody>
          <a:bodyPr wrap="square" lIns="0" tIns="0" rIns="0" bIns="0" rtlCol="0">
            <a:spAutoFit/>
          </a:bodyPr>
          <a:lstStyle/>
          <a:p>
            <a:r>
              <a:rPr lang="zh-CN" altLang="en-US" sz="1500" dirty="0">
                <a:solidFill>
                  <a:srgbClr val="002060"/>
                </a:solidFill>
                <a:latin typeface="微软雅黑" panose="020B0503020204020204" pitchFamily="34" charset="-122"/>
                <a:ea typeface="微软雅黑" panose="020B0503020204020204" pitchFamily="34" charset="-122"/>
                <a:cs typeface="Arial" pitchFamily="34" charset="0"/>
              </a:rPr>
              <a:t>固定点迭代</a:t>
            </a:r>
          </a:p>
        </p:txBody>
      </p:sp>
      <p:sp>
        <p:nvSpPr>
          <p:cNvPr id="16" name="矩形: 圆角 15">
            <a:extLst>
              <a:ext uri="{FF2B5EF4-FFF2-40B4-BE49-F238E27FC236}">
                <a16:creationId xmlns:a16="http://schemas.microsoft.com/office/drawing/2014/main" id="{4A926E5B-C01D-40F6-5D65-2F92CCBE5991}"/>
              </a:ext>
            </a:extLst>
          </p:cNvPr>
          <p:cNvSpPr/>
          <p:nvPr/>
        </p:nvSpPr>
        <p:spPr>
          <a:xfrm>
            <a:off x="3802968" y="4782636"/>
            <a:ext cx="2160000" cy="288000"/>
          </a:xfrm>
          <a:prstGeom prst="roundRect">
            <a:avLst/>
          </a:prstGeom>
          <a:solidFill>
            <a:schemeClr val="bg1"/>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1700" b="1" dirty="0">
                <a:solidFill>
                  <a:srgbClr val="002060"/>
                </a:solidFill>
                <a:latin typeface="微软雅黑" panose="020B0503020204020204" pitchFamily="34" charset="-122"/>
                <a:ea typeface="微软雅黑" panose="020B0503020204020204" pitchFamily="34" charset="-122"/>
                <a:cs typeface="Arial" pitchFamily="34" charset="0"/>
              </a:rPr>
              <a:t>燃油消耗</a:t>
            </a:r>
          </a:p>
        </p:txBody>
      </p:sp>
      <p:cxnSp>
        <p:nvCxnSpPr>
          <p:cNvPr id="17" name="直接箭头连接符 16">
            <a:extLst>
              <a:ext uri="{FF2B5EF4-FFF2-40B4-BE49-F238E27FC236}">
                <a16:creationId xmlns:a16="http://schemas.microsoft.com/office/drawing/2014/main" id="{A3F0CA0D-EFF6-EE9B-16BF-3FBAA5391691}"/>
              </a:ext>
            </a:extLst>
          </p:cNvPr>
          <p:cNvCxnSpPr>
            <a:cxnSpLocks/>
            <a:stCxn id="12" idx="2"/>
            <a:endCxn id="27" idx="0"/>
          </p:cNvCxnSpPr>
          <p:nvPr/>
        </p:nvCxnSpPr>
        <p:spPr>
          <a:xfrm flipH="1">
            <a:off x="4882966" y="2237912"/>
            <a:ext cx="3" cy="7974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FD476C79-DFDB-FD84-C83C-5D5DD171ACFD}"/>
              </a:ext>
            </a:extLst>
          </p:cNvPr>
          <p:cNvSpPr txBox="1"/>
          <p:nvPr/>
        </p:nvSpPr>
        <p:spPr>
          <a:xfrm>
            <a:off x="3326633" y="2304250"/>
            <a:ext cx="1510300" cy="230832"/>
          </a:xfrm>
          <a:prstGeom prst="rect">
            <a:avLst/>
          </a:prstGeom>
          <a:noFill/>
        </p:spPr>
        <p:txBody>
          <a:bodyPr wrap="square" lIns="0" tIns="0" rIns="0" bIns="0" rtlCol="0">
            <a:spAutoFit/>
          </a:bodyPr>
          <a:lstStyle/>
          <a:p>
            <a:pPr algn="ctr"/>
            <a:r>
              <a:rPr lang="en-US" altLang="zh-CN" sz="1500" dirty="0">
                <a:solidFill>
                  <a:srgbClr val="002060"/>
                </a:solidFill>
                <a:latin typeface="微软雅黑" panose="020B0503020204020204" pitchFamily="34" charset="-122"/>
                <a:ea typeface="微软雅黑" panose="020B0503020204020204" pitchFamily="34" charset="-122"/>
                <a:cs typeface="Arial" pitchFamily="34" charset="0"/>
              </a:rPr>
              <a:t>SUAVE</a:t>
            </a:r>
            <a:r>
              <a:rPr lang="zh-CN" altLang="en-US" sz="1500" dirty="0">
                <a:solidFill>
                  <a:srgbClr val="002060"/>
                </a:solidFill>
                <a:latin typeface="微软雅黑" panose="020B0503020204020204" pitchFamily="34" charset="-122"/>
                <a:ea typeface="微软雅黑" panose="020B0503020204020204" pitchFamily="34" charset="-122"/>
                <a:cs typeface="Arial" pitchFamily="34" charset="0"/>
              </a:rPr>
              <a:t>任务分析</a:t>
            </a:r>
          </a:p>
        </p:txBody>
      </p:sp>
      <p:sp>
        <p:nvSpPr>
          <p:cNvPr id="19" name="文本框 18">
            <a:extLst>
              <a:ext uri="{FF2B5EF4-FFF2-40B4-BE49-F238E27FC236}">
                <a16:creationId xmlns:a16="http://schemas.microsoft.com/office/drawing/2014/main" id="{D87CC738-E229-A04A-C0A7-8F03794CAC52}"/>
              </a:ext>
            </a:extLst>
          </p:cNvPr>
          <p:cNvSpPr txBox="1"/>
          <p:nvPr/>
        </p:nvSpPr>
        <p:spPr>
          <a:xfrm>
            <a:off x="5002537" y="2301046"/>
            <a:ext cx="1133001" cy="230832"/>
          </a:xfrm>
          <a:prstGeom prst="rect">
            <a:avLst/>
          </a:prstGeom>
          <a:noFill/>
        </p:spPr>
        <p:txBody>
          <a:bodyPr wrap="square" lIns="0" tIns="0" rIns="0" bIns="0" rtlCol="0">
            <a:spAutoFit/>
          </a:bodyPr>
          <a:lstStyle/>
          <a:p>
            <a:r>
              <a:rPr lang="zh-CN" altLang="en-US" sz="1500" dirty="0">
                <a:solidFill>
                  <a:srgbClr val="002060"/>
                </a:solidFill>
                <a:latin typeface="微软雅黑" panose="020B0503020204020204" pitchFamily="34" charset="-122"/>
                <a:ea typeface="微软雅黑" panose="020B0503020204020204" pitchFamily="34" charset="-122"/>
                <a:cs typeface="Arial" pitchFamily="34" charset="0"/>
              </a:rPr>
              <a:t>二分法迭代</a:t>
            </a:r>
          </a:p>
        </p:txBody>
      </p:sp>
      <p:cxnSp>
        <p:nvCxnSpPr>
          <p:cNvPr id="20" name="连接符: 肘形 19">
            <a:extLst>
              <a:ext uri="{FF2B5EF4-FFF2-40B4-BE49-F238E27FC236}">
                <a16:creationId xmlns:a16="http://schemas.microsoft.com/office/drawing/2014/main" id="{C81270A3-8E3E-D0A1-14AD-1CA8AA64B4FD}"/>
              </a:ext>
            </a:extLst>
          </p:cNvPr>
          <p:cNvCxnSpPr>
            <a:cxnSpLocks/>
            <a:stCxn id="22" idx="3"/>
            <a:endCxn id="12" idx="3"/>
          </p:cNvCxnSpPr>
          <p:nvPr/>
        </p:nvCxnSpPr>
        <p:spPr>
          <a:xfrm flipV="1">
            <a:off x="5520169" y="2093912"/>
            <a:ext cx="442800" cy="3347130"/>
          </a:xfrm>
          <a:prstGeom prst="bentConnector3">
            <a:avLst>
              <a:gd name="adj1" fmla="val 35813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55A1C031-D6B8-EAE1-EEB0-28281AFF9979}"/>
              </a:ext>
            </a:extLst>
          </p:cNvPr>
          <p:cNvSpPr txBox="1"/>
          <p:nvPr/>
        </p:nvSpPr>
        <p:spPr>
          <a:xfrm>
            <a:off x="6604062" y="3727297"/>
            <a:ext cx="1004722" cy="246221"/>
          </a:xfrm>
          <a:prstGeom prst="rect">
            <a:avLst/>
          </a:prstGeom>
          <a:noFill/>
        </p:spPr>
        <p:txBody>
          <a:bodyPr wrap="square" lIns="0" tIns="0" rIns="0" bIns="0" rtlCol="0">
            <a:spAutoFit/>
          </a:bodyPr>
          <a:lstStyle/>
          <a:p>
            <a:pPr algn="ct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更新 总重</a:t>
            </a:r>
          </a:p>
        </p:txBody>
      </p:sp>
      <p:sp>
        <p:nvSpPr>
          <p:cNvPr id="22" name="菱形 21">
            <a:extLst>
              <a:ext uri="{FF2B5EF4-FFF2-40B4-BE49-F238E27FC236}">
                <a16:creationId xmlns:a16="http://schemas.microsoft.com/office/drawing/2014/main" id="{DB3AC5F8-07D1-BE0E-97DB-2D6EA675A007}"/>
              </a:ext>
            </a:extLst>
          </p:cNvPr>
          <p:cNvSpPr/>
          <p:nvPr/>
        </p:nvSpPr>
        <p:spPr>
          <a:xfrm>
            <a:off x="4260169" y="5225042"/>
            <a:ext cx="1260000" cy="432000"/>
          </a:xfrm>
          <a:prstGeom prst="diamond">
            <a:avLst/>
          </a:prstGeom>
          <a:solidFill>
            <a:schemeClr val="bg1"/>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1700" b="1" dirty="0">
                <a:solidFill>
                  <a:srgbClr val="002060"/>
                </a:solidFill>
                <a:latin typeface="微软雅黑" panose="020B0503020204020204" pitchFamily="34" charset="-122"/>
                <a:ea typeface="微软雅黑" panose="020B0503020204020204" pitchFamily="34" charset="-122"/>
                <a:cs typeface="Arial" pitchFamily="34" charset="0"/>
              </a:rPr>
              <a:t>收敛</a:t>
            </a:r>
          </a:p>
        </p:txBody>
      </p:sp>
      <p:cxnSp>
        <p:nvCxnSpPr>
          <p:cNvPr id="23" name="直接箭头连接符 22">
            <a:extLst>
              <a:ext uri="{FF2B5EF4-FFF2-40B4-BE49-F238E27FC236}">
                <a16:creationId xmlns:a16="http://schemas.microsoft.com/office/drawing/2014/main" id="{D96F61FE-5E80-970A-10B8-413E59661F03}"/>
              </a:ext>
            </a:extLst>
          </p:cNvPr>
          <p:cNvCxnSpPr>
            <a:cxnSpLocks/>
            <a:stCxn id="16" idx="2"/>
            <a:endCxn id="22" idx="0"/>
          </p:cNvCxnSpPr>
          <p:nvPr/>
        </p:nvCxnSpPr>
        <p:spPr>
          <a:xfrm>
            <a:off x="4882968" y="5070636"/>
            <a:ext cx="7201" cy="1544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063F445C-B872-A385-2F68-06640C6D9595}"/>
              </a:ext>
            </a:extLst>
          </p:cNvPr>
          <p:cNvSpPr txBox="1"/>
          <p:nvPr/>
        </p:nvSpPr>
        <p:spPr>
          <a:xfrm>
            <a:off x="5520169" y="5142896"/>
            <a:ext cx="523982" cy="246221"/>
          </a:xfrm>
          <a:prstGeom prst="rect">
            <a:avLst/>
          </a:prstGeom>
          <a:noFill/>
        </p:spPr>
        <p:txBody>
          <a:bodyPr wrap="square" lIns="0" tIns="0" rIns="0" bIns="0" rtlCol="0">
            <a:spAutoFit/>
          </a:bodyPr>
          <a:lstStyle/>
          <a:p>
            <a:pPr algn="ct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否</a:t>
            </a:r>
          </a:p>
        </p:txBody>
      </p:sp>
      <p:sp>
        <p:nvSpPr>
          <p:cNvPr id="25" name="矩形: 圆角 24">
            <a:extLst>
              <a:ext uri="{FF2B5EF4-FFF2-40B4-BE49-F238E27FC236}">
                <a16:creationId xmlns:a16="http://schemas.microsoft.com/office/drawing/2014/main" id="{BBCDEDF6-70E7-7B0D-80EE-AE63E2DA6B21}"/>
              </a:ext>
            </a:extLst>
          </p:cNvPr>
          <p:cNvSpPr/>
          <p:nvPr/>
        </p:nvSpPr>
        <p:spPr>
          <a:xfrm>
            <a:off x="3802967" y="5860018"/>
            <a:ext cx="2160000" cy="288000"/>
          </a:xfrm>
          <a:prstGeom prst="roundRect">
            <a:avLst/>
          </a:prstGeom>
          <a:solidFill>
            <a:schemeClr val="bg1"/>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1700" b="1" dirty="0">
                <a:solidFill>
                  <a:srgbClr val="002060"/>
                </a:solidFill>
                <a:latin typeface="微软雅黑" panose="020B0503020204020204" pitchFamily="34" charset="-122"/>
                <a:ea typeface="微软雅黑" panose="020B0503020204020204" pitchFamily="34" charset="-122"/>
                <a:cs typeface="Arial" pitchFamily="34" charset="0"/>
              </a:rPr>
              <a:t>最终总重与飞行任务</a:t>
            </a:r>
          </a:p>
        </p:txBody>
      </p:sp>
      <p:cxnSp>
        <p:nvCxnSpPr>
          <p:cNvPr id="26" name="直接箭头连接符 25">
            <a:extLst>
              <a:ext uri="{FF2B5EF4-FFF2-40B4-BE49-F238E27FC236}">
                <a16:creationId xmlns:a16="http://schemas.microsoft.com/office/drawing/2014/main" id="{84B8A6BF-C9AB-BC45-8B7E-09925B8E5043}"/>
              </a:ext>
            </a:extLst>
          </p:cNvPr>
          <p:cNvCxnSpPr>
            <a:cxnSpLocks/>
            <a:stCxn id="22" idx="2"/>
            <a:endCxn id="25" idx="0"/>
          </p:cNvCxnSpPr>
          <p:nvPr/>
        </p:nvCxnSpPr>
        <p:spPr>
          <a:xfrm flipH="1">
            <a:off x="4882967" y="5657042"/>
            <a:ext cx="7202" cy="2029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圆角 26">
            <a:extLst>
              <a:ext uri="{FF2B5EF4-FFF2-40B4-BE49-F238E27FC236}">
                <a16:creationId xmlns:a16="http://schemas.microsoft.com/office/drawing/2014/main" id="{52CF0F95-650E-6919-95D5-A2158FFA485E}"/>
              </a:ext>
            </a:extLst>
          </p:cNvPr>
          <p:cNvSpPr/>
          <p:nvPr/>
        </p:nvSpPr>
        <p:spPr>
          <a:xfrm>
            <a:off x="3802966" y="3035329"/>
            <a:ext cx="2160000" cy="288000"/>
          </a:xfrm>
          <a:prstGeom prst="roundRect">
            <a:avLst/>
          </a:prstGeom>
          <a:solidFill>
            <a:schemeClr val="bg1"/>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1700" b="1" dirty="0">
                <a:solidFill>
                  <a:srgbClr val="002060"/>
                </a:solidFill>
                <a:latin typeface="微软雅黑" panose="020B0503020204020204" pitchFamily="34" charset="-122"/>
                <a:ea typeface="微软雅黑" panose="020B0503020204020204" pitchFamily="34" charset="-122"/>
                <a:cs typeface="Arial" pitchFamily="34" charset="0"/>
              </a:rPr>
              <a:t>巡航段起止攻角</a:t>
            </a:r>
          </a:p>
        </p:txBody>
      </p:sp>
      <p:sp>
        <p:nvSpPr>
          <p:cNvPr id="28" name="菱形 27">
            <a:extLst>
              <a:ext uri="{FF2B5EF4-FFF2-40B4-BE49-F238E27FC236}">
                <a16:creationId xmlns:a16="http://schemas.microsoft.com/office/drawing/2014/main" id="{66F7349B-CD7C-76BE-AF7C-CE81E995FFDF}"/>
              </a:ext>
            </a:extLst>
          </p:cNvPr>
          <p:cNvSpPr/>
          <p:nvPr/>
        </p:nvSpPr>
        <p:spPr>
          <a:xfrm>
            <a:off x="4249893" y="3568036"/>
            <a:ext cx="1260000" cy="432000"/>
          </a:xfrm>
          <a:prstGeom prst="diamond">
            <a:avLst/>
          </a:prstGeom>
          <a:solidFill>
            <a:schemeClr val="bg1"/>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1700" b="1" dirty="0">
                <a:solidFill>
                  <a:srgbClr val="002060"/>
                </a:solidFill>
                <a:latin typeface="微软雅黑" panose="020B0503020204020204" pitchFamily="34" charset="-122"/>
                <a:ea typeface="微软雅黑" panose="020B0503020204020204" pitchFamily="34" charset="-122"/>
                <a:cs typeface="Arial" pitchFamily="34" charset="0"/>
              </a:rPr>
              <a:t>匹配</a:t>
            </a:r>
          </a:p>
        </p:txBody>
      </p:sp>
      <p:cxnSp>
        <p:nvCxnSpPr>
          <p:cNvPr id="29" name="直接箭头连接符 28">
            <a:extLst>
              <a:ext uri="{FF2B5EF4-FFF2-40B4-BE49-F238E27FC236}">
                <a16:creationId xmlns:a16="http://schemas.microsoft.com/office/drawing/2014/main" id="{450F1E2B-F7D3-EB0E-22D5-1B32567BD42B}"/>
              </a:ext>
            </a:extLst>
          </p:cNvPr>
          <p:cNvCxnSpPr>
            <a:cxnSpLocks/>
            <a:stCxn id="27" idx="2"/>
            <a:endCxn id="28" idx="0"/>
          </p:cNvCxnSpPr>
          <p:nvPr/>
        </p:nvCxnSpPr>
        <p:spPr>
          <a:xfrm flipH="1">
            <a:off x="4879893" y="3323329"/>
            <a:ext cx="3073" cy="2447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7BB31D68-2A00-5A45-A660-1E587E3C2366}"/>
              </a:ext>
            </a:extLst>
          </p:cNvPr>
          <p:cNvSpPr txBox="1"/>
          <p:nvPr/>
        </p:nvSpPr>
        <p:spPr>
          <a:xfrm>
            <a:off x="5025600" y="3367846"/>
            <a:ext cx="1510300" cy="230832"/>
          </a:xfrm>
          <a:prstGeom prst="rect">
            <a:avLst/>
          </a:prstGeom>
          <a:noFill/>
        </p:spPr>
        <p:txBody>
          <a:bodyPr wrap="square" lIns="0" tIns="0" rIns="0" bIns="0" rtlCol="0">
            <a:spAutoFit/>
          </a:bodyPr>
          <a:lstStyle/>
          <a:p>
            <a:pPr algn="ctr"/>
            <a:r>
              <a:rPr lang="zh-CN" altLang="en-US" sz="1500" dirty="0">
                <a:solidFill>
                  <a:srgbClr val="002060"/>
                </a:solidFill>
                <a:latin typeface="微软雅黑" panose="020B0503020204020204" pitchFamily="34" charset="-122"/>
                <a:ea typeface="微软雅黑" panose="020B0503020204020204" pitchFamily="34" charset="-122"/>
                <a:cs typeface="Arial" pitchFamily="34" charset="0"/>
              </a:rPr>
              <a:t>最大升阻比攻角</a:t>
            </a:r>
          </a:p>
        </p:txBody>
      </p:sp>
      <p:sp>
        <p:nvSpPr>
          <p:cNvPr id="31" name="矩形: 圆角 30">
            <a:extLst>
              <a:ext uri="{FF2B5EF4-FFF2-40B4-BE49-F238E27FC236}">
                <a16:creationId xmlns:a16="http://schemas.microsoft.com/office/drawing/2014/main" id="{09F9947F-3730-360E-70CE-D8EB6E1F5903}"/>
              </a:ext>
            </a:extLst>
          </p:cNvPr>
          <p:cNvSpPr/>
          <p:nvPr/>
        </p:nvSpPr>
        <p:spPr>
          <a:xfrm>
            <a:off x="3552268" y="2645148"/>
            <a:ext cx="1211130" cy="288000"/>
          </a:xfrm>
          <a:prstGeom prst="roundRect">
            <a:avLst/>
          </a:prstGeom>
          <a:solidFill>
            <a:schemeClr val="bg1"/>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1700" b="1" dirty="0">
                <a:solidFill>
                  <a:srgbClr val="002060"/>
                </a:solidFill>
                <a:latin typeface="微软雅黑" panose="020B0503020204020204" pitchFamily="34" charset="-122"/>
                <a:ea typeface="微软雅黑" panose="020B0503020204020204" pitchFamily="34" charset="-122"/>
                <a:cs typeface="Arial" pitchFamily="34" charset="0"/>
              </a:rPr>
              <a:t>飞行任务</a:t>
            </a:r>
          </a:p>
        </p:txBody>
      </p:sp>
      <p:cxnSp>
        <p:nvCxnSpPr>
          <p:cNvPr id="32" name="连接符: 肘形 31">
            <a:extLst>
              <a:ext uri="{FF2B5EF4-FFF2-40B4-BE49-F238E27FC236}">
                <a16:creationId xmlns:a16="http://schemas.microsoft.com/office/drawing/2014/main" id="{C27E9179-5147-FF7D-8A6D-34E293B4C1AC}"/>
              </a:ext>
            </a:extLst>
          </p:cNvPr>
          <p:cNvCxnSpPr>
            <a:cxnSpLocks/>
            <a:stCxn id="31" idx="3"/>
            <a:endCxn id="27" idx="0"/>
          </p:cNvCxnSpPr>
          <p:nvPr/>
        </p:nvCxnSpPr>
        <p:spPr>
          <a:xfrm>
            <a:off x="4763398" y="2789148"/>
            <a:ext cx="119568" cy="24618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ABE80893-8E6F-D256-C3B4-750ED86C1F47}"/>
              </a:ext>
            </a:extLst>
          </p:cNvPr>
          <p:cNvCxnSpPr>
            <a:cxnSpLocks/>
            <a:stCxn id="28" idx="1"/>
            <a:endCxn id="31" idx="1"/>
          </p:cNvCxnSpPr>
          <p:nvPr/>
        </p:nvCxnSpPr>
        <p:spPr>
          <a:xfrm rot="10800000">
            <a:off x="3552269" y="2789148"/>
            <a:ext cx="697625" cy="994888"/>
          </a:xfrm>
          <a:prstGeom prst="bentConnector3">
            <a:avLst>
              <a:gd name="adj1" fmla="val 13276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91994B47-4D2F-257D-2C64-C5F2F499751C}"/>
              </a:ext>
            </a:extLst>
          </p:cNvPr>
          <p:cNvSpPr txBox="1"/>
          <p:nvPr/>
        </p:nvSpPr>
        <p:spPr>
          <a:xfrm>
            <a:off x="3777385" y="3493119"/>
            <a:ext cx="523982" cy="246221"/>
          </a:xfrm>
          <a:prstGeom prst="rect">
            <a:avLst/>
          </a:prstGeom>
          <a:noFill/>
        </p:spPr>
        <p:txBody>
          <a:bodyPr wrap="square" lIns="0" tIns="0" rIns="0" bIns="0" rtlCol="0">
            <a:spAutoFit/>
          </a:bodyPr>
          <a:lstStyle/>
          <a:p>
            <a:pPr algn="ct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否</a:t>
            </a:r>
          </a:p>
        </p:txBody>
      </p:sp>
      <p:sp>
        <p:nvSpPr>
          <p:cNvPr id="35" name="文本框 34">
            <a:extLst>
              <a:ext uri="{FF2B5EF4-FFF2-40B4-BE49-F238E27FC236}">
                <a16:creationId xmlns:a16="http://schemas.microsoft.com/office/drawing/2014/main" id="{521B19D5-CC34-FD65-6CC6-6CF97A5AFDFE}"/>
              </a:ext>
            </a:extLst>
          </p:cNvPr>
          <p:cNvSpPr txBox="1"/>
          <p:nvPr/>
        </p:nvSpPr>
        <p:spPr>
          <a:xfrm>
            <a:off x="2832563" y="3235481"/>
            <a:ext cx="1004722" cy="246221"/>
          </a:xfrm>
          <a:prstGeom prst="rect">
            <a:avLst/>
          </a:prstGeom>
          <a:noFill/>
        </p:spPr>
        <p:txBody>
          <a:bodyPr wrap="square" lIns="0" tIns="0" rIns="0" bIns="0" rtlCol="0">
            <a:spAutoFit/>
          </a:bodyPr>
          <a:lstStyle/>
          <a:p>
            <a:pPr algn="ct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更新 任务</a:t>
            </a:r>
          </a:p>
        </p:txBody>
      </p:sp>
      <p:cxnSp>
        <p:nvCxnSpPr>
          <p:cNvPr id="36" name="直接箭头连接符 35">
            <a:extLst>
              <a:ext uri="{FF2B5EF4-FFF2-40B4-BE49-F238E27FC236}">
                <a16:creationId xmlns:a16="http://schemas.microsoft.com/office/drawing/2014/main" id="{8BCEA4A2-0967-5FC2-4057-BABF9091A69A}"/>
              </a:ext>
            </a:extLst>
          </p:cNvPr>
          <p:cNvCxnSpPr>
            <a:cxnSpLocks/>
            <a:stCxn id="28" idx="2"/>
            <a:endCxn id="37" idx="0"/>
          </p:cNvCxnSpPr>
          <p:nvPr/>
        </p:nvCxnSpPr>
        <p:spPr>
          <a:xfrm>
            <a:off x="4879893" y="4000036"/>
            <a:ext cx="3072" cy="2279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圆角 36">
            <a:extLst>
              <a:ext uri="{FF2B5EF4-FFF2-40B4-BE49-F238E27FC236}">
                <a16:creationId xmlns:a16="http://schemas.microsoft.com/office/drawing/2014/main" id="{C39B30AE-E8C9-58EF-396B-736438AB13D6}"/>
              </a:ext>
            </a:extLst>
          </p:cNvPr>
          <p:cNvSpPr/>
          <p:nvPr/>
        </p:nvSpPr>
        <p:spPr>
          <a:xfrm>
            <a:off x="3802965" y="4228008"/>
            <a:ext cx="2160000" cy="288000"/>
          </a:xfrm>
          <a:prstGeom prst="roundRect">
            <a:avLst/>
          </a:prstGeom>
          <a:solidFill>
            <a:schemeClr val="bg1"/>
          </a:solidFill>
          <a:ln w="158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1700" b="1" dirty="0">
                <a:solidFill>
                  <a:srgbClr val="002060"/>
                </a:solidFill>
                <a:latin typeface="微软雅黑" panose="020B0503020204020204" pitchFamily="34" charset="-122"/>
                <a:ea typeface="微软雅黑" panose="020B0503020204020204" pitchFamily="34" charset="-122"/>
                <a:cs typeface="Arial" pitchFamily="34" charset="0"/>
              </a:rPr>
              <a:t>最优任务剖面</a:t>
            </a:r>
          </a:p>
        </p:txBody>
      </p:sp>
      <p:sp>
        <p:nvSpPr>
          <p:cNvPr id="38" name="文本框 37">
            <a:extLst>
              <a:ext uri="{FF2B5EF4-FFF2-40B4-BE49-F238E27FC236}">
                <a16:creationId xmlns:a16="http://schemas.microsoft.com/office/drawing/2014/main" id="{F0B27405-FB1D-C41B-9CDB-DEEDC8F39B19}"/>
              </a:ext>
            </a:extLst>
          </p:cNvPr>
          <p:cNvSpPr txBox="1"/>
          <p:nvPr/>
        </p:nvSpPr>
        <p:spPr>
          <a:xfrm>
            <a:off x="5243916" y="3944022"/>
            <a:ext cx="523982" cy="246221"/>
          </a:xfrm>
          <a:prstGeom prst="rect">
            <a:avLst/>
          </a:prstGeom>
          <a:noFill/>
        </p:spPr>
        <p:txBody>
          <a:bodyPr wrap="square" lIns="0" tIns="0" rIns="0" bIns="0" rtlCol="0">
            <a:spAutoFit/>
          </a:bodyPr>
          <a:lstStyle/>
          <a:p>
            <a:pPr algn="ct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是</a:t>
            </a:r>
          </a:p>
        </p:txBody>
      </p:sp>
      <p:sp>
        <p:nvSpPr>
          <p:cNvPr id="39" name="文本框 38">
            <a:extLst>
              <a:ext uri="{FF2B5EF4-FFF2-40B4-BE49-F238E27FC236}">
                <a16:creationId xmlns:a16="http://schemas.microsoft.com/office/drawing/2014/main" id="{47527BFF-7AF7-BA67-32ED-813B9C957F03}"/>
              </a:ext>
            </a:extLst>
          </p:cNvPr>
          <p:cNvSpPr txBox="1"/>
          <p:nvPr/>
        </p:nvSpPr>
        <p:spPr>
          <a:xfrm>
            <a:off x="4224215" y="5565227"/>
            <a:ext cx="523982" cy="246221"/>
          </a:xfrm>
          <a:prstGeom prst="rect">
            <a:avLst/>
          </a:prstGeom>
          <a:noFill/>
        </p:spPr>
        <p:txBody>
          <a:bodyPr wrap="square" lIns="0" tIns="0" rIns="0" bIns="0" rtlCol="0">
            <a:spAutoFit/>
          </a:bodyPr>
          <a:lstStyle/>
          <a:p>
            <a:pPr algn="ct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是</a:t>
            </a:r>
          </a:p>
        </p:txBody>
      </p:sp>
      <p:cxnSp>
        <p:nvCxnSpPr>
          <p:cNvPr id="40" name="直接箭头连接符 39">
            <a:extLst>
              <a:ext uri="{FF2B5EF4-FFF2-40B4-BE49-F238E27FC236}">
                <a16:creationId xmlns:a16="http://schemas.microsoft.com/office/drawing/2014/main" id="{4B68CF3F-DC6D-BEC9-9AA8-EFCB4214C0A3}"/>
              </a:ext>
            </a:extLst>
          </p:cNvPr>
          <p:cNvCxnSpPr>
            <a:cxnSpLocks/>
            <a:stCxn id="37" idx="2"/>
            <a:endCxn id="16" idx="0"/>
          </p:cNvCxnSpPr>
          <p:nvPr/>
        </p:nvCxnSpPr>
        <p:spPr>
          <a:xfrm>
            <a:off x="4882965" y="4516008"/>
            <a:ext cx="3" cy="2666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928809BB-9135-0EB6-B3A3-0A427980830E}"/>
              </a:ext>
            </a:extLst>
          </p:cNvPr>
          <p:cNvSpPr txBox="1"/>
          <p:nvPr/>
        </p:nvSpPr>
        <p:spPr>
          <a:xfrm>
            <a:off x="3296754" y="5114439"/>
            <a:ext cx="1133001" cy="230832"/>
          </a:xfrm>
          <a:prstGeom prst="rect">
            <a:avLst/>
          </a:prstGeom>
          <a:noFill/>
        </p:spPr>
        <p:txBody>
          <a:bodyPr wrap="square" lIns="0" tIns="0" rIns="0" bIns="0" rtlCol="0">
            <a:spAutoFit/>
          </a:bodyPr>
          <a:lstStyle/>
          <a:p>
            <a:pPr algn="ctr"/>
            <a:r>
              <a:rPr lang="zh-CN" altLang="en-US" sz="1500" dirty="0">
                <a:solidFill>
                  <a:srgbClr val="002060"/>
                </a:solidFill>
                <a:latin typeface="微软雅黑" panose="020B0503020204020204" pitchFamily="34" charset="-122"/>
                <a:ea typeface="微软雅黑" panose="020B0503020204020204" pitchFamily="34" charset="-122"/>
                <a:cs typeface="Arial" pitchFamily="34" charset="0"/>
              </a:rPr>
              <a:t>割线法迭代</a:t>
            </a:r>
          </a:p>
        </p:txBody>
      </p:sp>
      <p:sp>
        <p:nvSpPr>
          <p:cNvPr id="42" name="文本框 41">
            <a:extLst>
              <a:ext uri="{FF2B5EF4-FFF2-40B4-BE49-F238E27FC236}">
                <a16:creationId xmlns:a16="http://schemas.microsoft.com/office/drawing/2014/main" id="{E0C0119A-916C-F2BF-469D-0384CB812825}"/>
              </a:ext>
            </a:extLst>
          </p:cNvPr>
          <p:cNvSpPr txBox="1"/>
          <p:nvPr/>
        </p:nvSpPr>
        <p:spPr>
          <a:xfrm>
            <a:off x="2939938" y="4190243"/>
            <a:ext cx="667956" cy="246221"/>
          </a:xfrm>
          <a:prstGeom prst="rect">
            <a:avLst/>
          </a:prstGeom>
          <a:noFill/>
        </p:spPr>
        <p:txBody>
          <a:bodyPr wrap="square" lIns="0" tIns="0" rIns="0" bIns="0" rtlCol="0">
            <a:spAutoFit/>
          </a:bodyPr>
          <a:lstStyle/>
          <a:p>
            <a:pPr algn="ctr"/>
            <a:r>
              <a:rPr lang="zh-CN" altLang="en-US" sz="1600" b="1" dirty="0">
                <a:solidFill>
                  <a:schemeClr val="accent6">
                    <a:lumMod val="75000"/>
                  </a:schemeClr>
                </a:solidFill>
                <a:latin typeface="微软雅黑" panose="020B0503020204020204" pitchFamily="34" charset="-122"/>
                <a:ea typeface="微软雅黑" panose="020B0503020204020204" pitchFamily="34" charset="-122"/>
                <a:cs typeface="Arial" pitchFamily="34" charset="0"/>
              </a:rPr>
              <a:t>内迭代</a:t>
            </a:r>
          </a:p>
        </p:txBody>
      </p:sp>
      <p:sp>
        <p:nvSpPr>
          <p:cNvPr id="43" name="文本框 42">
            <a:extLst>
              <a:ext uri="{FF2B5EF4-FFF2-40B4-BE49-F238E27FC236}">
                <a16:creationId xmlns:a16="http://schemas.microsoft.com/office/drawing/2014/main" id="{382F3D91-CAB2-1747-96C4-E39B37BAF12E}"/>
              </a:ext>
            </a:extLst>
          </p:cNvPr>
          <p:cNvSpPr txBox="1"/>
          <p:nvPr/>
        </p:nvSpPr>
        <p:spPr>
          <a:xfrm>
            <a:off x="6243326" y="5829196"/>
            <a:ext cx="667956" cy="246221"/>
          </a:xfrm>
          <a:prstGeom prst="rect">
            <a:avLst/>
          </a:prstGeom>
          <a:noFill/>
        </p:spPr>
        <p:txBody>
          <a:bodyPr wrap="square" lIns="0" tIns="0" rIns="0" bIns="0" rtlCol="0">
            <a:spAutoFit/>
          </a:bodyPr>
          <a:lstStyle/>
          <a:p>
            <a:pPr algn="ctr"/>
            <a:r>
              <a:rPr lang="zh-CN" altLang="en-US" sz="1600" b="1" dirty="0">
                <a:solidFill>
                  <a:srgbClr val="3838FF"/>
                </a:solidFill>
                <a:latin typeface="微软雅黑" panose="020B0503020204020204" pitchFamily="34" charset="-122"/>
                <a:ea typeface="微软雅黑" panose="020B0503020204020204" pitchFamily="34" charset="-122"/>
                <a:cs typeface="Arial" pitchFamily="34" charset="0"/>
              </a:rPr>
              <a:t>外迭代</a:t>
            </a:r>
          </a:p>
        </p:txBody>
      </p:sp>
      <p:sp>
        <p:nvSpPr>
          <p:cNvPr id="44" name="文本框 43">
            <a:extLst>
              <a:ext uri="{FF2B5EF4-FFF2-40B4-BE49-F238E27FC236}">
                <a16:creationId xmlns:a16="http://schemas.microsoft.com/office/drawing/2014/main" id="{B46A2197-EEEB-054F-28AF-C398F930AA1E}"/>
              </a:ext>
            </a:extLst>
          </p:cNvPr>
          <p:cNvSpPr txBox="1"/>
          <p:nvPr/>
        </p:nvSpPr>
        <p:spPr>
          <a:xfrm>
            <a:off x="2916882" y="6386443"/>
            <a:ext cx="4171309"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飞行剖面与起飞重量联合更新流程</a:t>
            </a:r>
          </a:p>
        </p:txBody>
      </p:sp>
      <p:pic>
        <p:nvPicPr>
          <p:cNvPr id="47" name="图片 46">
            <a:extLst>
              <a:ext uri="{FF2B5EF4-FFF2-40B4-BE49-F238E27FC236}">
                <a16:creationId xmlns:a16="http://schemas.microsoft.com/office/drawing/2014/main" id="{C2787EED-FBDA-4313-DA63-876D72FF0B72}"/>
              </a:ext>
            </a:extLst>
          </p:cNvPr>
          <p:cNvPicPr>
            <a:picLocks noChangeAspect="1"/>
          </p:cNvPicPr>
          <p:nvPr/>
        </p:nvPicPr>
        <p:blipFill>
          <a:blip r:embed="rId2"/>
          <a:stretch>
            <a:fillRect/>
          </a:stretch>
        </p:blipFill>
        <p:spPr>
          <a:xfrm>
            <a:off x="8338763" y="3241905"/>
            <a:ext cx="3240000" cy="1924095"/>
          </a:xfrm>
          <a:prstGeom prst="rect">
            <a:avLst/>
          </a:prstGeom>
        </p:spPr>
      </p:pic>
      <p:sp>
        <p:nvSpPr>
          <p:cNvPr id="48" name="文本框 47">
            <a:extLst>
              <a:ext uri="{FF2B5EF4-FFF2-40B4-BE49-F238E27FC236}">
                <a16:creationId xmlns:a16="http://schemas.microsoft.com/office/drawing/2014/main" id="{509B7FCC-AE2F-99F7-A24A-CB4E38858CE1}"/>
              </a:ext>
            </a:extLst>
          </p:cNvPr>
          <p:cNvSpPr txBox="1"/>
          <p:nvPr/>
        </p:nvSpPr>
        <p:spPr>
          <a:xfrm>
            <a:off x="8419981" y="5271883"/>
            <a:ext cx="3158782" cy="492443"/>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外迭代仅需</a:t>
            </a:r>
            <a:r>
              <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rPr>
              <a:t>2</a:t>
            </a: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步收敛</a:t>
            </a:r>
            <a:endPar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适合设计前期快速确定基准方案</a:t>
            </a:r>
          </a:p>
        </p:txBody>
      </p:sp>
      <p:sp>
        <p:nvSpPr>
          <p:cNvPr id="50" name="标题 1">
            <a:extLst>
              <a:ext uri="{FF2B5EF4-FFF2-40B4-BE49-F238E27FC236}">
                <a16:creationId xmlns:a16="http://schemas.microsoft.com/office/drawing/2014/main" id="{32F891CE-0A27-A945-1A5F-8E151D625124}"/>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二、总体设计方法框架</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介绍</a:t>
            </a:r>
            <a:endPar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37340526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9A2CA-A0E6-1622-D1A8-D74BCA4D51C8}"/>
            </a:ext>
          </a:extLst>
        </p:cNvPr>
        <p:cNvGrpSpPr/>
        <p:nvPr/>
      </p:nvGrpSpPr>
      <p:grpSpPr>
        <a:xfrm>
          <a:off x="0" y="0"/>
          <a:ext cx="0" cy="0"/>
          <a:chOff x="0" y="0"/>
          <a:chExt cx="0" cy="0"/>
        </a:xfrm>
      </p:grpSpPr>
      <p:sp>
        <p:nvSpPr>
          <p:cNvPr id="43" name="矩形 42">
            <a:extLst>
              <a:ext uri="{FF2B5EF4-FFF2-40B4-BE49-F238E27FC236}">
                <a16:creationId xmlns:a16="http://schemas.microsoft.com/office/drawing/2014/main" id="{8F92EAE4-4CE5-2A73-1EF8-200F8FE77E31}"/>
              </a:ext>
            </a:extLst>
          </p:cNvPr>
          <p:cNvSpPr/>
          <p:nvPr/>
        </p:nvSpPr>
        <p:spPr>
          <a:xfrm>
            <a:off x="2424627" y="4104969"/>
            <a:ext cx="9287984" cy="2361729"/>
          </a:xfrm>
          <a:prstGeom prst="rect">
            <a:avLst/>
          </a:prstGeom>
          <a:solidFill>
            <a:schemeClr val="bg1"/>
          </a:solidFill>
          <a:ln w="95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40" name="矩形 39">
            <a:extLst>
              <a:ext uri="{FF2B5EF4-FFF2-40B4-BE49-F238E27FC236}">
                <a16:creationId xmlns:a16="http://schemas.microsoft.com/office/drawing/2014/main" id="{FBC8574E-0892-4E73-0CCA-881C05A61EE3}"/>
              </a:ext>
            </a:extLst>
          </p:cNvPr>
          <p:cNvSpPr/>
          <p:nvPr/>
        </p:nvSpPr>
        <p:spPr>
          <a:xfrm>
            <a:off x="2229493" y="1620505"/>
            <a:ext cx="9575514" cy="2443217"/>
          </a:xfrm>
          <a:prstGeom prst="rect">
            <a:avLst/>
          </a:prstGeom>
          <a:solidFill>
            <a:schemeClr val="accent3">
              <a:lumMod val="20000"/>
              <a:lumOff val="80000"/>
              <a:alpha val="2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1" name="箭头: 五边形 10">
            <a:extLst>
              <a:ext uri="{FF2B5EF4-FFF2-40B4-BE49-F238E27FC236}">
                <a16:creationId xmlns:a16="http://schemas.microsoft.com/office/drawing/2014/main" id="{DADBA6A3-F4EA-4850-CF39-280554785F5A}"/>
              </a:ext>
            </a:extLst>
          </p:cNvPr>
          <p:cNvSpPr/>
          <p:nvPr/>
        </p:nvSpPr>
        <p:spPr>
          <a:xfrm>
            <a:off x="-1" y="1717200"/>
            <a:ext cx="1584001"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航线规划</a:t>
            </a:r>
          </a:p>
        </p:txBody>
      </p:sp>
      <p:sp>
        <p:nvSpPr>
          <p:cNvPr id="12" name="箭头: 五边形 11">
            <a:extLst>
              <a:ext uri="{FF2B5EF4-FFF2-40B4-BE49-F238E27FC236}">
                <a16:creationId xmlns:a16="http://schemas.microsoft.com/office/drawing/2014/main" id="{3B203B19-5561-5230-82DA-802F84F9FC58}"/>
              </a:ext>
            </a:extLst>
          </p:cNvPr>
          <p:cNvSpPr/>
          <p:nvPr/>
        </p:nvSpPr>
        <p:spPr>
          <a:xfrm>
            <a:off x="0" y="31266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重量</a:t>
            </a:r>
            <a:r>
              <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剖面</a:t>
            </a:r>
            <a:endPar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联合设计</a:t>
            </a:r>
          </a:p>
        </p:txBody>
      </p:sp>
      <p:sp>
        <p:nvSpPr>
          <p:cNvPr id="13" name="箭头: 五边形 12">
            <a:extLst>
              <a:ext uri="{FF2B5EF4-FFF2-40B4-BE49-F238E27FC236}">
                <a16:creationId xmlns:a16="http://schemas.microsoft.com/office/drawing/2014/main" id="{EB688064-06CD-D7B7-9B87-808991175693}"/>
              </a:ext>
            </a:extLst>
          </p:cNvPr>
          <p:cNvSpPr/>
          <p:nvPr/>
        </p:nvSpPr>
        <p:spPr>
          <a:xfrm>
            <a:off x="0" y="4536000"/>
            <a:ext cx="2375940" cy="1260000"/>
          </a:xfrm>
          <a:prstGeom prst="homePlate">
            <a:avLst>
              <a:gd name="adj" fmla="val 3037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气动优化</a:t>
            </a:r>
          </a:p>
        </p:txBody>
      </p:sp>
      <p:grpSp>
        <p:nvGrpSpPr>
          <p:cNvPr id="6" name="组合 5">
            <a:extLst>
              <a:ext uri="{FF2B5EF4-FFF2-40B4-BE49-F238E27FC236}">
                <a16:creationId xmlns:a16="http://schemas.microsoft.com/office/drawing/2014/main" id="{E83CEDF4-0858-EA86-38D5-84B2E95382B4}"/>
              </a:ext>
            </a:extLst>
          </p:cNvPr>
          <p:cNvGrpSpPr>
            <a:grpSpLocks noChangeAspect="1"/>
          </p:cNvGrpSpPr>
          <p:nvPr/>
        </p:nvGrpSpPr>
        <p:grpSpPr>
          <a:xfrm>
            <a:off x="7277803" y="1830213"/>
            <a:ext cx="4320000" cy="1769714"/>
            <a:chOff x="129698" y="1238601"/>
            <a:chExt cx="7787332" cy="3190126"/>
          </a:xfrm>
        </p:grpSpPr>
        <p:pic>
          <p:nvPicPr>
            <p:cNvPr id="8" name="图片 7">
              <a:extLst>
                <a:ext uri="{FF2B5EF4-FFF2-40B4-BE49-F238E27FC236}">
                  <a16:creationId xmlns:a16="http://schemas.microsoft.com/office/drawing/2014/main" id="{D5039169-75B0-3738-B041-C54CB345117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29698" y="1238601"/>
              <a:ext cx="3211633" cy="3190126"/>
            </a:xfrm>
            <a:prstGeom prst="rect">
              <a:avLst/>
            </a:prstGeom>
          </p:spPr>
        </p:pic>
        <p:sp>
          <p:nvSpPr>
            <p:cNvPr id="9" name="矩形 8">
              <a:extLst>
                <a:ext uri="{FF2B5EF4-FFF2-40B4-BE49-F238E27FC236}">
                  <a16:creationId xmlns:a16="http://schemas.microsoft.com/office/drawing/2014/main" id="{D5B10D54-D3C8-7E9B-B274-7DCF937D8FCB}"/>
                </a:ext>
              </a:extLst>
            </p:cNvPr>
            <p:cNvSpPr/>
            <p:nvPr/>
          </p:nvSpPr>
          <p:spPr>
            <a:xfrm>
              <a:off x="1530104" y="2609634"/>
              <a:ext cx="565078" cy="421241"/>
            </a:xfrm>
            <a:prstGeom prst="rect">
              <a:avLst/>
            </a:prstGeom>
            <a:no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cxnSp>
          <p:nvCxnSpPr>
            <p:cNvPr id="10" name="直接连接符 9">
              <a:extLst>
                <a:ext uri="{FF2B5EF4-FFF2-40B4-BE49-F238E27FC236}">
                  <a16:creationId xmlns:a16="http://schemas.microsoft.com/office/drawing/2014/main" id="{177691ED-AE6A-5EC6-53A3-0433B29ABD0B}"/>
                </a:ext>
              </a:extLst>
            </p:cNvPr>
            <p:cNvCxnSpPr/>
            <p:nvPr/>
          </p:nvCxnSpPr>
          <p:spPr>
            <a:xfrm flipV="1">
              <a:off x="2109185" y="1836504"/>
              <a:ext cx="1300336" cy="75258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1CEC03B-FF70-47A8-4EA3-8AEAA78FD0EB}"/>
                </a:ext>
              </a:extLst>
            </p:cNvPr>
            <p:cNvCxnSpPr>
              <a:cxnSpLocks/>
            </p:cNvCxnSpPr>
            <p:nvPr/>
          </p:nvCxnSpPr>
          <p:spPr>
            <a:xfrm>
              <a:off x="2068089" y="3030875"/>
              <a:ext cx="1341432" cy="921995"/>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AC29A866-DE1C-3677-0E26-42498D76C473}"/>
                </a:ext>
              </a:extLst>
            </p:cNvPr>
            <p:cNvPicPr>
              <a:picLocks noChangeAspect="1"/>
            </p:cNvPicPr>
            <p:nvPr/>
          </p:nvPicPr>
          <p:blipFill>
            <a:blip r:embed="rId3"/>
            <a:stretch>
              <a:fillRect/>
            </a:stretch>
          </p:blipFill>
          <p:spPr>
            <a:xfrm>
              <a:off x="3409521" y="1836504"/>
              <a:ext cx="4507509" cy="2116366"/>
            </a:xfrm>
            <a:prstGeom prst="rect">
              <a:avLst/>
            </a:prstGeom>
          </p:spPr>
        </p:pic>
      </p:grpSp>
      <p:sp>
        <p:nvSpPr>
          <p:cNvPr id="16" name="文本框 15">
            <a:extLst>
              <a:ext uri="{FF2B5EF4-FFF2-40B4-BE49-F238E27FC236}">
                <a16:creationId xmlns:a16="http://schemas.microsoft.com/office/drawing/2014/main" id="{076E372B-EE61-608E-E2D0-C58F80B3FA31}"/>
              </a:ext>
            </a:extLst>
          </p:cNvPr>
          <p:cNvSpPr txBox="1"/>
          <p:nvPr/>
        </p:nvSpPr>
        <p:spPr>
          <a:xfrm>
            <a:off x="2794213" y="838431"/>
            <a:ext cx="7609230" cy="782074"/>
          </a:xfrm>
          <a:prstGeom prst="rect">
            <a:avLst/>
          </a:prstGeom>
          <a:noFill/>
        </p:spPr>
        <p:txBody>
          <a:bodyPr wrap="square" lIns="0" tIns="0" rIns="0" bIns="0" rtlCol="0">
            <a:spAutoFit/>
          </a:bodyPr>
          <a:lstStyle/>
          <a:p>
            <a:pPr algn="ctr">
              <a:lnSpc>
                <a:spcPct val="150000"/>
              </a:lnSpc>
            </a:pPr>
            <a:r>
              <a:rPr lang="zh-CN" altLang="en-US" dirty="0">
                <a:solidFill>
                  <a:srgbClr val="002060"/>
                </a:solidFill>
                <a:latin typeface="微软雅黑" panose="020B0503020204020204" pitchFamily="34" charset="-122"/>
                <a:ea typeface="微软雅黑" panose="020B0503020204020204" pitchFamily="34" charset="-122"/>
                <a:cs typeface="Arial" pitchFamily="34" charset="0"/>
              </a:rPr>
              <a:t>用于任务分析与气动优化的快速气动计算方法</a:t>
            </a:r>
            <a:endParaRPr lang="en-US" altLang="zh-CN" dirty="0">
              <a:solidFill>
                <a:srgbClr val="002060"/>
              </a:solidFill>
              <a:latin typeface="微软雅黑" panose="020B0503020204020204" pitchFamily="34" charset="-122"/>
              <a:ea typeface="微软雅黑" panose="020B0503020204020204" pitchFamily="34" charset="-122"/>
              <a:cs typeface="Arial" pitchFamily="34" charset="0"/>
            </a:endParaRPr>
          </a:p>
          <a:p>
            <a:pPr algn="ctr">
              <a:lnSpc>
                <a:spcPct val="150000"/>
              </a:lnSpc>
            </a:pP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SU2</a:t>
            </a:r>
            <a:r>
              <a:rPr lang="zh-CN" altLang="en-US" dirty="0">
                <a:solidFill>
                  <a:srgbClr val="002060"/>
                </a:solidFill>
                <a:latin typeface="微软雅黑" panose="020B0503020204020204" pitchFamily="34" charset="-122"/>
                <a:ea typeface="微软雅黑" panose="020B0503020204020204" pitchFamily="34" charset="-122"/>
                <a:cs typeface="Arial" pitchFamily="34" charset="0"/>
              </a:rPr>
              <a:t>求解欧拉方程计算无粘阻力</a:t>
            </a: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+Schlichting</a:t>
            </a:r>
            <a:r>
              <a:rPr lang="zh-CN" altLang="en-US" dirty="0">
                <a:solidFill>
                  <a:srgbClr val="002060"/>
                </a:solidFill>
                <a:latin typeface="微软雅黑" panose="020B0503020204020204" pitchFamily="34" charset="-122"/>
                <a:ea typeface="微软雅黑" panose="020B0503020204020204" pitchFamily="34" charset="-122"/>
                <a:cs typeface="Arial" pitchFamily="34" charset="0"/>
              </a:rPr>
              <a:t>可压缩粘性阻力公式修正</a:t>
            </a:r>
          </a:p>
        </p:txBody>
      </p:sp>
      <p:sp>
        <p:nvSpPr>
          <p:cNvPr id="17" name="标题 1">
            <a:extLst>
              <a:ext uri="{FF2B5EF4-FFF2-40B4-BE49-F238E27FC236}">
                <a16:creationId xmlns:a16="http://schemas.microsoft.com/office/drawing/2014/main" id="{877F1C34-94BA-F250-DAF1-6B837F413700}"/>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二、总体设计方法框架</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介绍</a:t>
            </a:r>
            <a:endPar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8" name="文本框 17">
            <a:extLst>
              <a:ext uri="{FF2B5EF4-FFF2-40B4-BE49-F238E27FC236}">
                <a16:creationId xmlns:a16="http://schemas.microsoft.com/office/drawing/2014/main" id="{23EB580C-C37B-D146-FA7F-B50029336976}"/>
              </a:ext>
            </a:extLst>
          </p:cNvPr>
          <p:cNvSpPr txBox="1"/>
          <p:nvPr/>
        </p:nvSpPr>
        <p:spPr>
          <a:xfrm>
            <a:off x="203377" y="847051"/>
            <a:ext cx="2026116" cy="400110"/>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气动优化模块</a:t>
            </a:r>
          </a:p>
        </p:txBody>
      </p:sp>
      <p:grpSp>
        <p:nvGrpSpPr>
          <p:cNvPr id="31" name="组合 30">
            <a:extLst>
              <a:ext uri="{FF2B5EF4-FFF2-40B4-BE49-F238E27FC236}">
                <a16:creationId xmlns:a16="http://schemas.microsoft.com/office/drawing/2014/main" id="{A0EC8AAF-CE69-F364-2DCF-CC71B9781FCF}"/>
              </a:ext>
            </a:extLst>
          </p:cNvPr>
          <p:cNvGrpSpPr>
            <a:grpSpLocks noChangeAspect="1"/>
          </p:cNvGrpSpPr>
          <p:nvPr/>
        </p:nvGrpSpPr>
        <p:grpSpPr>
          <a:xfrm>
            <a:off x="2364506" y="1830213"/>
            <a:ext cx="4320000" cy="1755110"/>
            <a:chOff x="129697" y="2430401"/>
            <a:chExt cx="7852127" cy="3190126"/>
          </a:xfrm>
        </p:grpSpPr>
        <p:pic>
          <p:nvPicPr>
            <p:cNvPr id="26" name="图片 25">
              <a:extLst>
                <a:ext uri="{FF2B5EF4-FFF2-40B4-BE49-F238E27FC236}">
                  <a16:creationId xmlns:a16="http://schemas.microsoft.com/office/drawing/2014/main" id="{E54CA07F-C34D-329A-2025-3782FEB7F6A7}"/>
                </a:ext>
              </a:extLst>
            </p:cNvPr>
            <p:cNvPicPr>
              <a:picLocks noChangeAspect="1"/>
            </p:cNvPicPr>
            <p:nvPr/>
          </p:nvPicPr>
          <p:blipFill>
            <a:blip r:embed="rId2"/>
            <a:stretch>
              <a:fillRect/>
            </a:stretch>
          </p:blipFill>
          <p:spPr>
            <a:xfrm>
              <a:off x="129697" y="2430401"/>
              <a:ext cx="3211633" cy="3190126"/>
            </a:xfrm>
            <a:prstGeom prst="rect">
              <a:avLst/>
            </a:prstGeom>
          </p:spPr>
        </p:pic>
        <p:pic>
          <p:nvPicPr>
            <p:cNvPr id="27" name="图片 26">
              <a:extLst>
                <a:ext uri="{FF2B5EF4-FFF2-40B4-BE49-F238E27FC236}">
                  <a16:creationId xmlns:a16="http://schemas.microsoft.com/office/drawing/2014/main" id="{833CB67C-2CAD-D763-856D-06E91FD42977}"/>
                </a:ext>
              </a:extLst>
            </p:cNvPr>
            <p:cNvPicPr>
              <a:picLocks noChangeAspect="1"/>
            </p:cNvPicPr>
            <p:nvPr/>
          </p:nvPicPr>
          <p:blipFill>
            <a:blip r:embed="rId4"/>
            <a:stretch>
              <a:fillRect/>
            </a:stretch>
          </p:blipFill>
          <p:spPr>
            <a:xfrm>
              <a:off x="3409520" y="3028304"/>
              <a:ext cx="4572304" cy="2207474"/>
            </a:xfrm>
            <a:prstGeom prst="rect">
              <a:avLst/>
            </a:prstGeom>
          </p:spPr>
        </p:pic>
        <p:sp>
          <p:nvSpPr>
            <p:cNvPr id="28" name="矩形 27">
              <a:extLst>
                <a:ext uri="{FF2B5EF4-FFF2-40B4-BE49-F238E27FC236}">
                  <a16:creationId xmlns:a16="http://schemas.microsoft.com/office/drawing/2014/main" id="{661F3B81-430B-E084-415A-F71F16FC2520}"/>
                </a:ext>
              </a:extLst>
            </p:cNvPr>
            <p:cNvSpPr/>
            <p:nvPr/>
          </p:nvSpPr>
          <p:spPr>
            <a:xfrm>
              <a:off x="1530103" y="3801434"/>
              <a:ext cx="565078" cy="421241"/>
            </a:xfrm>
            <a:prstGeom prst="rect">
              <a:avLst/>
            </a:prstGeom>
            <a:no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cxnSp>
          <p:nvCxnSpPr>
            <p:cNvPr id="29" name="直接连接符 28">
              <a:extLst>
                <a:ext uri="{FF2B5EF4-FFF2-40B4-BE49-F238E27FC236}">
                  <a16:creationId xmlns:a16="http://schemas.microsoft.com/office/drawing/2014/main" id="{4B1A1734-6AC4-2E03-97DE-5B6D86A003FF}"/>
                </a:ext>
              </a:extLst>
            </p:cNvPr>
            <p:cNvCxnSpPr/>
            <p:nvPr/>
          </p:nvCxnSpPr>
          <p:spPr>
            <a:xfrm flipV="1">
              <a:off x="2109184" y="3028304"/>
              <a:ext cx="1300336" cy="75258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FD291C42-0737-65E0-EAB2-790778E4C12C}"/>
                </a:ext>
              </a:extLst>
            </p:cNvPr>
            <p:cNvCxnSpPr>
              <a:cxnSpLocks/>
            </p:cNvCxnSpPr>
            <p:nvPr/>
          </p:nvCxnSpPr>
          <p:spPr>
            <a:xfrm>
              <a:off x="2068088" y="4222675"/>
              <a:ext cx="1341432" cy="1013103"/>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32" name="文本框 31">
            <a:extLst>
              <a:ext uri="{FF2B5EF4-FFF2-40B4-BE49-F238E27FC236}">
                <a16:creationId xmlns:a16="http://schemas.microsoft.com/office/drawing/2014/main" id="{2291ED06-9FD9-1A71-ED5D-9E9D6C7228BB}"/>
              </a:ext>
            </a:extLst>
          </p:cNvPr>
          <p:cNvSpPr txBox="1"/>
          <p:nvPr/>
        </p:nvSpPr>
        <p:spPr>
          <a:xfrm>
            <a:off x="2229493" y="3612526"/>
            <a:ext cx="4561725" cy="492443"/>
          </a:xfrm>
          <a:prstGeom prst="rect">
            <a:avLst/>
          </a:prstGeom>
          <a:noFill/>
        </p:spPr>
        <p:txBody>
          <a:bodyPr wrap="square" lIns="0" tIns="0" rIns="0" bIns="0" rtlCol="0">
            <a:spAutoFit/>
          </a:bodyPr>
          <a:lstStyle/>
          <a:p>
            <a:pPr algn="ct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高可信度参考网格（半球远场</a:t>
            </a:r>
            <a:r>
              <a:rPr lang="en-US" altLang="zh-CN" sz="1600"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边界层加密）</a:t>
            </a:r>
            <a:endParaRPr lang="en-US" altLang="zh-CN" sz="1600"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用于校验结果</a:t>
            </a:r>
            <a:endParaRPr lang="en-US" altLang="zh-CN" sz="16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33" name="文本框 32">
            <a:extLst>
              <a:ext uri="{FF2B5EF4-FFF2-40B4-BE49-F238E27FC236}">
                <a16:creationId xmlns:a16="http://schemas.microsoft.com/office/drawing/2014/main" id="{C9A663CD-553F-5B09-B4BB-94B25CBE6387}"/>
              </a:ext>
            </a:extLst>
          </p:cNvPr>
          <p:cNvSpPr txBox="1"/>
          <p:nvPr/>
        </p:nvSpPr>
        <p:spPr>
          <a:xfrm>
            <a:off x="8464337" y="3644269"/>
            <a:ext cx="1946933" cy="246221"/>
          </a:xfrm>
          <a:prstGeom prst="rect">
            <a:avLst/>
          </a:prstGeom>
          <a:noFill/>
        </p:spPr>
        <p:txBody>
          <a:bodyPr wrap="square" lIns="0" tIns="0" rIns="0" bIns="0" rtlCol="0">
            <a:spAutoFit/>
          </a:bodyPr>
          <a:lstStyle>
            <a:defPPr>
              <a:defRPr lang="de-DE"/>
            </a:defPPr>
            <a:lvl1pPr algn="ctr">
              <a:defRPr sz="1600">
                <a:solidFill>
                  <a:srgbClr val="002060"/>
                </a:solidFill>
                <a:latin typeface="微软雅黑" panose="020B0503020204020204" pitchFamily="34" charset="-122"/>
                <a:ea typeface="微软雅黑" panose="020B0503020204020204" pitchFamily="34" charset="-122"/>
                <a:cs typeface="Arial" pitchFamily="34" charset="0"/>
              </a:defRPr>
            </a:lvl1pPr>
          </a:lstStyle>
          <a:p>
            <a:r>
              <a:rPr lang="zh-CN" altLang="en-US" dirty="0"/>
              <a:t>稀疏欧拉网格</a:t>
            </a:r>
          </a:p>
        </p:txBody>
      </p:sp>
      <p:pic>
        <p:nvPicPr>
          <p:cNvPr id="34" name="图片 33">
            <a:extLst>
              <a:ext uri="{FF2B5EF4-FFF2-40B4-BE49-F238E27FC236}">
                <a16:creationId xmlns:a16="http://schemas.microsoft.com/office/drawing/2014/main" id="{9FBAB14E-3327-893C-9A0D-0BC2145428BB}"/>
              </a:ext>
            </a:extLst>
          </p:cNvPr>
          <p:cNvPicPr>
            <a:picLocks noChangeAspect="1"/>
          </p:cNvPicPr>
          <p:nvPr/>
        </p:nvPicPr>
        <p:blipFill>
          <a:blip r:embed="rId5"/>
          <a:stretch>
            <a:fillRect/>
          </a:stretch>
        </p:blipFill>
        <p:spPr>
          <a:xfrm>
            <a:off x="2605432" y="4195437"/>
            <a:ext cx="2880000" cy="1214867"/>
          </a:xfrm>
          <a:prstGeom prst="rect">
            <a:avLst/>
          </a:prstGeom>
        </p:spPr>
      </p:pic>
      <p:pic>
        <p:nvPicPr>
          <p:cNvPr id="35" name="图片 34">
            <a:extLst>
              <a:ext uri="{FF2B5EF4-FFF2-40B4-BE49-F238E27FC236}">
                <a16:creationId xmlns:a16="http://schemas.microsoft.com/office/drawing/2014/main" id="{FD986384-81EB-6581-BCDD-F2F2257152CA}"/>
              </a:ext>
            </a:extLst>
          </p:cNvPr>
          <p:cNvPicPr>
            <a:picLocks noChangeAspect="1"/>
          </p:cNvPicPr>
          <p:nvPr/>
        </p:nvPicPr>
        <p:blipFill>
          <a:blip r:embed="rId6"/>
          <a:stretch>
            <a:fillRect/>
          </a:stretch>
        </p:blipFill>
        <p:spPr>
          <a:xfrm>
            <a:off x="5661617" y="4210669"/>
            <a:ext cx="2880000" cy="1184403"/>
          </a:xfrm>
          <a:prstGeom prst="rect">
            <a:avLst/>
          </a:prstGeom>
        </p:spPr>
      </p:pic>
      <p:pic>
        <p:nvPicPr>
          <p:cNvPr id="36" name="图片 35">
            <a:extLst>
              <a:ext uri="{FF2B5EF4-FFF2-40B4-BE49-F238E27FC236}">
                <a16:creationId xmlns:a16="http://schemas.microsoft.com/office/drawing/2014/main" id="{34A1114D-CB7C-E90E-7EAF-D59DFEAAFBC5}"/>
              </a:ext>
            </a:extLst>
          </p:cNvPr>
          <p:cNvPicPr>
            <a:picLocks noChangeAspect="1"/>
          </p:cNvPicPr>
          <p:nvPr/>
        </p:nvPicPr>
        <p:blipFill>
          <a:blip r:embed="rId7"/>
          <a:stretch>
            <a:fillRect/>
          </a:stretch>
        </p:blipFill>
        <p:spPr>
          <a:xfrm>
            <a:off x="8717803" y="4243895"/>
            <a:ext cx="2880000" cy="1117950"/>
          </a:xfrm>
          <a:prstGeom prst="rect">
            <a:avLst/>
          </a:prstGeom>
        </p:spPr>
      </p:pic>
      <p:sp>
        <p:nvSpPr>
          <p:cNvPr id="37" name="文本框 36">
            <a:extLst>
              <a:ext uri="{FF2B5EF4-FFF2-40B4-BE49-F238E27FC236}">
                <a16:creationId xmlns:a16="http://schemas.microsoft.com/office/drawing/2014/main" id="{64984C43-1A20-32B6-BD95-0F6F97353B25}"/>
              </a:ext>
            </a:extLst>
          </p:cNvPr>
          <p:cNvSpPr txBox="1"/>
          <p:nvPr/>
        </p:nvSpPr>
        <p:spPr>
          <a:xfrm>
            <a:off x="2965331" y="5414552"/>
            <a:ext cx="2332234" cy="646331"/>
          </a:xfrm>
          <a:prstGeom prst="rect">
            <a:avLst/>
          </a:prstGeom>
          <a:noFill/>
        </p:spPr>
        <p:txBody>
          <a:bodyPr wrap="square" lIns="0" tIns="0" rIns="0" bIns="0" rtlCol="0">
            <a:spAutoFit/>
          </a:bodyPr>
          <a:lstStyle/>
          <a:p>
            <a:pPr algn="ctr"/>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网格间距：</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0.2m</a:t>
            </a:r>
          </a:p>
          <a:p>
            <a:pPr algn="ctr"/>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体网格：</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102w</a:t>
            </a:r>
          </a:p>
          <a:p>
            <a:pPr algn="ctr"/>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单点求解时间：</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12.8min</a:t>
            </a:r>
            <a:endPar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38" name="文本框 37">
            <a:extLst>
              <a:ext uri="{FF2B5EF4-FFF2-40B4-BE49-F238E27FC236}">
                <a16:creationId xmlns:a16="http://schemas.microsoft.com/office/drawing/2014/main" id="{2B9BA80E-ACD4-6C0A-978E-5190A04581C1}"/>
              </a:ext>
            </a:extLst>
          </p:cNvPr>
          <p:cNvSpPr txBox="1"/>
          <p:nvPr/>
        </p:nvSpPr>
        <p:spPr>
          <a:xfrm>
            <a:off x="6026136" y="5414551"/>
            <a:ext cx="2332234" cy="646331"/>
          </a:xfrm>
          <a:prstGeom prst="rect">
            <a:avLst/>
          </a:prstGeom>
          <a:noFill/>
        </p:spPr>
        <p:txBody>
          <a:bodyPr wrap="square" lIns="0" tIns="0" rIns="0" bIns="0" rtlCol="0">
            <a:spAutoFit/>
          </a:bodyPr>
          <a:lstStyle/>
          <a:p>
            <a:pPr algn="ctr"/>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网格间距：</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0.3m</a:t>
            </a:r>
          </a:p>
          <a:p>
            <a:pPr algn="ctr"/>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体网格：</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24w</a:t>
            </a:r>
          </a:p>
          <a:p>
            <a:pPr algn="ctr"/>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单点求解时间：</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4.36min</a:t>
            </a:r>
            <a:endPar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39" name="文本框 38">
            <a:extLst>
              <a:ext uri="{FF2B5EF4-FFF2-40B4-BE49-F238E27FC236}">
                <a16:creationId xmlns:a16="http://schemas.microsoft.com/office/drawing/2014/main" id="{0E1CEF7B-2A12-8D2D-F518-3CF1DB80E920}"/>
              </a:ext>
            </a:extLst>
          </p:cNvPr>
          <p:cNvSpPr txBox="1"/>
          <p:nvPr/>
        </p:nvSpPr>
        <p:spPr>
          <a:xfrm>
            <a:off x="9059447" y="5472834"/>
            <a:ext cx="2332234" cy="646331"/>
          </a:xfrm>
          <a:prstGeom prst="rect">
            <a:avLst/>
          </a:prstGeom>
          <a:noFill/>
        </p:spPr>
        <p:txBody>
          <a:bodyPr wrap="square" lIns="0" tIns="0" rIns="0" bIns="0" rtlCol="0">
            <a:spAutoFit/>
          </a:bodyPr>
          <a:lstStyle/>
          <a:p>
            <a:pPr algn="ctr"/>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网格间距：</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0.4m</a:t>
            </a:r>
          </a:p>
          <a:p>
            <a:pPr algn="ctr"/>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体网格：</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17w</a:t>
            </a:r>
          </a:p>
          <a:p>
            <a:pPr algn="ctr"/>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单点求解时间：</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 2.7min</a:t>
            </a:r>
            <a:endPar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42" name="文本框 41">
            <a:extLst>
              <a:ext uri="{FF2B5EF4-FFF2-40B4-BE49-F238E27FC236}">
                <a16:creationId xmlns:a16="http://schemas.microsoft.com/office/drawing/2014/main" id="{57A84C90-A933-50E7-1F33-9B18197C97FB}"/>
              </a:ext>
            </a:extLst>
          </p:cNvPr>
          <p:cNvSpPr txBox="1"/>
          <p:nvPr/>
        </p:nvSpPr>
        <p:spPr>
          <a:xfrm>
            <a:off x="4663030" y="6115379"/>
            <a:ext cx="5229546" cy="307777"/>
          </a:xfrm>
          <a:prstGeom prst="rect">
            <a:avLst/>
          </a:prstGeom>
          <a:noFill/>
        </p:spPr>
        <p:txBody>
          <a:bodyPr wrap="square" lIns="0" tIns="0" rIns="0" bIns="0" rtlCol="0">
            <a:spAutoFit/>
          </a:bodyPr>
          <a:lstStyle/>
          <a:p>
            <a:pPr algn="ctr"/>
            <a:r>
              <a:rPr lang="zh-CN" altLang="en-US" sz="2000" b="1" dirty="0">
                <a:solidFill>
                  <a:srgbClr val="002060"/>
                </a:solidFill>
                <a:latin typeface="微软雅黑" panose="020B0503020204020204" pitchFamily="34" charset="-122"/>
                <a:ea typeface="微软雅黑" panose="020B0503020204020204" pitchFamily="34" charset="-122"/>
                <a:cs typeface="Arial" pitchFamily="34" charset="0"/>
              </a:rPr>
              <a:t>不同表面网格间距对应的单次计算时间（单核）</a:t>
            </a:r>
            <a:endParaRPr lang="en-US" altLang="zh-CN" sz="20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290201496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BEF2-61DE-8FEF-6689-670419073D4D}"/>
            </a:ext>
          </a:extLst>
        </p:cNvPr>
        <p:cNvGrpSpPr/>
        <p:nvPr/>
      </p:nvGrpSpPr>
      <p:grpSpPr>
        <a:xfrm>
          <a:off x="0" y="0"/>
          <a:ext cx="0" cy="0"/>
          <a:chOff x="0" y="0"/>
          <a:chExt cx="0" cy="0"/>
        </a:xfrm>
      </p:grpSpPr>
      <p:sp>
        <p:nvSpPr>
          <p:cNvPr id="23" name="矩形: 圆角 22">
            <a:extLst>
              <a:ext uri="{FF2B5EF4-FFF2-40B4-BE49-F238E27FC236}">
                <a16:creationId xmlns:a16="http://schemas.microsoft.com/office/drawing/2014/main" id="{B19F1D8D-EE81-5778-4834-4303618625F7}"/>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defRPr/>
            </a:pP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表面网格间距</a:t>
            </a:r>
            <a:r>
              <a:rPr lang="en-US" altLang="zh-CN"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0.3</a:t>
            </a: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可以平衡气动优化精度与优化效率</a:t>
            </a:r>
          </a:p>
        </p:txBody>
      </p:sp>
      <p:sp>
        <p:nvSpPr>
          <p:cNvPr id="11" name="箭头: 五边形 10">
            <a:extLst>
              <a:ext uri="{FF2B5EF4-FFF2-40B4-BE49-F238E27FC236}">
                <a16:creationId xmlns:a16="http://schemas.microsoft.com/office/drawing/2014/main" id="{F30E7585-37C4-A187-1583-D6F54C512D5E}"/>
              </a:ext>
            </a:extLst>
          </p:cNvPr>
          <p:cNvSpPr/>
          <p:nvPr/>
        </p:nvSpPr>
        <p:spPr>
          <a:xfrm>
            <a:off x="-1" y="1717200"/>
            <a:ext cx="1584001"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航线规划</a:t>
            </a:r>
          </a:p>
        </p:txBody>
      </p:sp>
      <p:sp>
        <p:nvSpPr>
          <p:cNvPr id="12" name="箭头: 五边形 11">
            <a:extLst>
              <a:ext uri="{FF2B5EF4-FFF2-40B4-BE49-F238E27FC236}">
                <a16:creationId xmlns:a16="http://schemas.microsoft.com/office/drawing/2014/main" id="{1A885CDD-4A8C-2B43-BC3B-AF3950C3D414}"/>
              </a:ext>
            </a:extLst>
          </p:cNvPr>
          <p:cNvSpPr/>
          <p:nvPr/>
        </p:nvSpPr>
        <p:spPr>
          <a:xfrm>
            <a:off x="0" y="3126600"/>
            <a:ext cx="1584000" cy="1260000"/>
          </a:xfrm>
          <a:prstGeom prst="homePlate">
            <a:avLst>
              <a:gd name="adj" fmla="val 30370"/>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重量</a:t>
            </a:r>
            <a:r>
              <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剖面</a:t>
            </a:r>
            <a:endParaRPr lang="en-US" altLang="zh-CN" sz="21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联合设计</a:t>
            </a:r>
          </a:p>
        </p:txBody>
      </p:sp>
      <p:sp>
        <p:nvSpPr>
          <p:cNvPr id="13" name="箭头: 五边形 12">
            <a:extLst>
              <a:ext uri="{FF2B5EF4-FFF2-40B4-BE49-F238E27FC236}">
                <a16:creationId xmlns:a16="http://schemas.microsoft.com/office/drawing/2014/main" id="{1942A2A5-5039-41E4-ADA3-96C19A33708E}"/>
              </a:ext>
            </a:extLst>
          </p:cNvPr>
          <p:cNvSpPr/>
          <p:nvPr/>
        </p:nvSpPr>
        <p:spPr>
          <a:xfrm>
            <a:off x="0" y="4536000"/>
            <a:ext cx="2375940" cy="1260000"/>
          </a:xfrm>
          <a:prstGeom prst="homePlate">
            <a:avLst>
              <a:gd name="adj" fmla="val 3037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2100" b="1" dirty="0">
                <a:solidFill>
                  <a:srgbClr val="002060"/>
                </a:solidFill>
                <a:latin typeface="微软雅黑" panose="020B0503020204020204" pitchFamily="34" charset="-122"/>
                <a:ea typeface="微软雅黑" panose="020B0503020204020204" pitchFamily="34" charset="-122"/>
                <a:cs typeface="Arial" pitchFamily="34" charset="0"/>
              </a:rPr>
              <a:t>气动优化</a:t>
            </a:r>
          </a:p>
        </p:txBody>
      </p:sp>
      <p:sp>
        <p:nvSpPr>
          <p:cNvPr id="17" name="标题 1">
            <a:extLst>
              <a:ext uri="{FF2B5EF4-FFF2-40B4-BE49-F238E27FC236}">
                <a16:creationId xmlns:a16="http://schemas.microsoft.com/office/drawing/2014/main" id="{AD681446-1A47-AB5C-A4F8-8230C2F9B599}"/>
              </a:ext>
            </a:extLst>
          </p:cNvPr>
          <p:cNvSpPr txBox="1">
            <a:spLocks/>
          </p:cNvSpPr>
          <p:nvPr/>
        </p:nvSpPr>
        <p:spPr>
          <a:xfrm>
            <a:off x="211886" y="64170"/>
            <a:ext cx="5698026"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二、总体设计方法框架</a:t>
            </a: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介绍</a:t>
            </a:r>
            <a:endPar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8" name="文本框 17">
            <a:extLst>
              <a:ext uri="{FF2B5EF4-FFF2-40B4-BE49-F238E27FC236}">
                <a16:creationId xmlns:a16="http://schemas.microsoft.com/office/drawing/2014/main" id="{1CB90887-3744-05A8-C1CF-0716947F8623}"/>
              </a:ext>
            </a:extLst>
          </p:cNvPr>
          <p:cNvSpPr txBox="1"/>
          <p:nvPr/>
        </p:nvSpPr>
        <p:spPr>
          <a:xfrm>
            <a:off x="203377" y="847051"/>
            <a:ext cx="2026116" cy="400110"/>
          </a:xfrm>
          <a:prstGeom prst="rect">
            <a:avLst/>
          </a:prstGeom>
          <a:noFill/>
        </p:spPr>
        <p:txBody>
          <a:bodyPr wrap="square">
            <a:spAutoFit/>
          </a:bodyPr>
          <a:lstStyle/>
          <a:p>
            <a:pPr marL="285750" indent="-285750" algn="just">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气动优化模块</a:t>
            </a:r>
          </a:p>
        </p:txBody>
      </p:sp>
      <p:pic>
        <p:nvPicPr>
          <p:cNvPr id="2" name="图片 1">
            <a:extLst>
              <a:ext uri="{FF2B5EF4-FFF2-40B4-BE49-F238E27FC236}">
                <a16:creationId xmlns:a16="http://schemas.microsoft.com/office/drawing/2014/main" id="{64AE57F9-24FC-A602-91E9-780F24A2D2F4}"/>
              </a:ext>
            </a:extLst>
          </p:cNvPr>
          <p:cNvPicPr>
            <a:picLocks noChangeAspect="1"/>
          </p:cNvPicPr>
          <p:nvPr/>
        </p:nvPicPr>
        <p:blipFill>
          <a:blip r:embed="rId2"/>
          <a:stretch>
            <a:fillRect/>
          </a:stretch>
        </p:blipFill>
        <p:spPr>
          <a:xfrm>
            <a:off x="2583519" y="1695021"/>
            <a:ext cx="3960000" cy="2362499"/>
          </a:xfrm>
          <a:prstGeom prst="rect">
            <a:avLst/>
          </a:prstGeom>
        </p:spPr>
      </p:pic>
      <p:sp>
        <p:nvSpPr>
          <p:cNvPr id="3" name="文本框 2">
            <a:extLst>
              <a:ext uri="{FF2B5EF4-FFF2-40B4-BE49-F238E27FC236}">
                <a16:creationId xmlns:a16="http://schemas.microsoft.com/office/drawing/2014/main" id="{BB80D5D5-5B77-8D57-575D-5EFB5F5A0016}"/>
              </a:ext>
            </a:extLst>
          </p:cNvPr>
          <p:cNvSpPr txBox="1"/>
          <p:nvPr/>
        </p:nvSpPr>
        <p:spPr>
          <a:xfrm>
            <a:off x="4058999" y="3381096"/>
            <a:ext cx="1336965"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升力系数对比</a:t>
            </a:r>
          </a:p>
        </p:txBody>
      </p:sp>
      <p:pic>
        <p:nvPicPr>
          <p:cNvPr id="4" name="图片 3">
            <a:extLst>
              <a:ext uri="{FF2B5EF4-FFF2-40B4-BE49-F238E27FC236}">
                <a16:creationId xmlns:a16="http://schemas.microsoft.com/office/drawing/2014/main" id="{E190286B-E24A-062A-F6A4-36BA90BB0909}"/>
              </a:ext>
            </a:extLst>
          </p:cNvPr>
          <p:cNvPicPr>
            <a:picLocks noChangeAspect="1"/>
          </p:cNvPicPr>
          <p:nvPr/>
        </p:nvPicPr>
        <p:blipFill>
          <a:blip r:embed="rId3"/>
          <a:stretch>
            <a:fillRect/>
          </a:stretch>
        </p:blipFill>
        <p:spPr>
          <a:xfrm>
            <a:off x="7402526" y="1036241"/>
            <a:ext cx="3960000" cy="2344855"/>
          </a:xfrm>
          <a:prstGeom prst="rect">
            <a:avLst/>
          </a:prstGeom>
        </p:spPr>
      </p:pic>
      <p:sp>
        <p:nvSpPr>
          <p:cNvPr id="7" name="文本框 6">
            <a:extLst>
              <a:ext uri="{FF2B5EF4-FFF2-40B4-BE49-F238E27FC236}">
                <a16:creationId xmlns:a16="http://schemas.microsoft.com/office/drawing/2014/main" id="{442354CB-CCB5-0630-3AD6-CE4234430722}"/>
              </a:ext>
            </a:extLst>
          </p:cNvPr>
          <p:cNvSpPr txBox="1"/>
          <p:nvPr/>
        </p:nvSpPr>
        <p:spPr>
          <a:xfrm>
            <a:off x="9130285" y="2630049"/>
            <a:ext cx="1777117"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无粘阻力系数对比</a:t>
            </a:r>
          </a:p>
        </p:txBody>
      </p:sp>
      <p:pic>
        <p:nvPicPr>
          <p:cNvPr id="19" name="图片 18">
            <a:extLst>
              <a:ext uri="{FF2B5EF4-FFF2-40B4-BE49-F238E27FC236}">
                <a16:creationId xmlns:a16="http://schemas.microsoft.com/office/drawing/2014/main" id="{B66DAA9E-2AF9-C31F-E5FF-0D17A0ED998E}"/>
              </a:ext>
            </a:extLst>
          </p:cNvPr>
          <p:cNvPicPr>
            <a:picLocks noChangeAspect="1"/>
          </p:cNvPicPr>
          <p:nvPr/>
        </p:nvPicPr>
        <p:blipFill>
          <a:blip r:embed="rId4"/>
          <a:stretch>
            <a:fillRect/>
          </a:stretch>
        </p:blipFill>
        <p:spPr>
          <a:xfrm>
            <a:off x="2481943" y="4208351"/>
            <a:ext cx="4061576" cy="1546837"/>
          </a:xfrm>
          <a:prstGeom prst="rect">
            <a:avLst/>
          </a:prstGeom>
        </p:spPr>
      </p:pic>
      <p:sp>
        <p:nvSpPr>
          <p:cNvPr id="20" name="文本框 19">
            <a:extLst>
              <a:ext uri="{FF2B5EF4-FFF2-40B4-BE49-F238E27FC236}">
                <a16:creationId xmlns:a16="http://schemas.microsoft.com/office/drawing/2014/main" id="{4A30A0E4-3330-269B-D0B5-B7C2EF421E81}"/>
              </a:ext>
            </a:extLst>
          </p:cNvPr>
          <p:cNvSpPr txBox="1"/>
          <p:nvPr/>
        </p:nvSpPr>
        <p:spPr>
          <a:xfrm>
            <a:off x="3905185" y="5070450"/>
            <a:ext cx="1644591"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粘性阻力系数对比</a:t>
            </a:r>
          </a:p>
        </p:txBody>
      </p:sp>
      <p:pic>
        <p:nvPicPr>
          <p:cNvPr id="21" name="图片 20">
            <a:extLst>
              <a:ext uri="{FF2B5EF4-FFF2-40B4-BE49-F238E27FC236}">
                <a16:creationId xmlns:a16="http://schemas.microsoft.com/office/drawing/2014/main" id="{B08F1C4F-CC39-67E9-7A56-BEEA6D2294C5}"/>
              </a:ext>
            </a:extLst>
          </p:cNvPr>
          <p:cNvPicPr>
            <a:picLocks noChangeAspect="1"/>
          </p:cNvPicPr>
          <p:nvPr/>
        </p:nvPicPr>
        <p:blipFill>
          <a:blip r:embed="rId5"/>
          <a:stretch>
            <a:fillRect/>
          </a:stretch>
        </p:blipFill>
        <p:spPr>
          <a:xfrm>
            <a:off x="7441462" y="3391691"/>
            <a:ext cx="3960000" cy="2366947"/>
          </a:xfrm>
          <a:prstGeom prst="rect">
            <a:avLst/>
          </a:prstGeom>
        </p:spPr>
      </p:pic>
      <p:sp>
        <p:nvSpPr>
          <p:cNvPr id="22" name="文本框 21">
            <a:extLst>
              <a:ext uri="{FF2B5EF4-FFF2-40B4-BE49-F238E27FC236}">
                <a16:creationId xmlns:a16="http://schemas.microsoft.com/office/drawing/2014/main" id="{094C4119-0F6C-F633-6161-E08660095CD6}"/>
              </a:ext>
            </a:extLst>
          </p:cNvPr>
          <p:cNvSpPr txBox="1"/>
          <p:nvPr/>
        </p:nvSpPr>
        <p:spPr>
          <a:xfrm>
            <a:off x="8395936" y="5121916"/>
            <a:ext cx="1777117"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升阻比对比</a:t>
            </a:r>
          </a:p>
        </p:txBody>
      </p:sp>
      <p:sp>
        <p:nvSpPr>
          <p:cNvPr id="24" name="文本框 23">
            <a:extLst>
              <a:ext uri="{FF2B5EF4-FFF2-40B4-BE49-F238E27FC236}">
                <a16:creationId xmlns:a16="http://schemas.microsoft.com/office/drawing/2014/main" id="{D792EE33-90DE-E78C-7B06-37AB2F0365C6}"/>
              </a:ext>
            </a:extLst>
          </p:cNvPr>
          <p:cNvSpPr txBox="1"/>
          <p:nvPr/>
        </p:nvSpPr>
        <p:spPr>
          <a:xfrm>
            <a:off x="9303898" y="1294771"/>
            <a:ext cx="869155" cy="161583"/>
          </a:xfrm>
          <a:prstGeom prst="rect">
            <a:avLst/>
          </a:prstGeom>
          <a:solidFill>
            <a:schemeClr val="bg1"/>
          </a:solidFill>
        </p:spPr>
        <p:txBody>
          <a:bodyPr wrap="square" lIns="0" tIns="0" rIns="0" bIns="0" rtlCol="0">
            <a:spAutoFit/>
          </a:bodyPr>
          <a:lstStyle/>
          <a:p>
            <a:pPr algn="ctr"/>
            <a:r>
              <a:rPr lang="en-US" altLang="zh-CN" sz="1050" b="1" dirty="0" err="1">
                <a:latin typeface="微软雅黑" panose="020B0503020204020204" pitchFamily="34" charset="-122"/>
                <a:ea typeface="微软雅黑" panose="020B0503020204020204" pitchFamily="34" charset="-122"/>
                <a:cs typeface="Arial" pitchFamily="34" charset="0"/>
              </a:rPr>
              <a:t>Hige_fidelity</a:t>
            </a:r>
            <a:endParaRPr lang="zh-CN" altLang="en-US" sz="1050" b="1" dirty="0">
              <a:latin typeface="微软雅黑" panose="020B0503020204020204" pitchFamily="34" charset="-122"/>
              <a:ea typeface="微软雅黑" panose="020B0503020204020204" pitchFamily="34" charset="-122"/>
              <a:cs typeface="Arial" pitchFamily="34" charset="0"/>
            </a:endParaRPr>
          </a:p>
        </p:txBody>
      </p:sp>
      <p:sp>
        <p:nvSpPr>
          <p:cNvPr id="25" name="文本框 24">
            <a:extLst>
              <a:ext uri="{FF2B5EF4-FFF2-40B4-BE49-F238E27FC236}">
                <a16:creationId xmlns:a16="http://schemas.microsoft.com/office/drawing/2014/main" id="{193DFEED-8ECB-546B-327C-4176126AC6A3}"/>
              </a:ext>
            </a:extLst>
          </p:cNvPr>
          <p:cNvSpPr txBox="1"/>
          <p:nvPr/>
        </p:nvSpPr>
        <p:spPr>
          <a:xfrm>
            <a:off x="4188472" y="1938166"/>
            <a:ext cx="863588" cy="161583"/>
          </a:xfrm>
          <a:prstGeom prst="rect">
            <a:avLst/>
          </a:prstGeom>
          <a:solidFill>
            <a:schemeClr val="bg1"/>
          </a:solidFill>
        </p:spPr>
        <p:txBody>
          <a:bodyPr wrap="square" lIns="0" tIns="0" rIns="0" bIns="0" rtlCol="0">
            <a:spAutoFit/>
          </a:bodyPr>
          <a:lstStyle/>
          <a:p>
            <a:pPr algn="ctr"/>
            <a:r>
              <a:rPr lang="en-US" altLang="zh-CN" sz="1050" b="1" dirty="0" err="1">
                <a:latin typeface="微软雅黑" panose="020B0503020204020204" pitchFamily="34" charset="-122"/>
                <a:ea typeface="微软雅黑" panose="020B0503020204020204" pitchFamily="34" charset="-122"/>
                <a:cs typeface="Arial" pitchFamily="34" charset="0"/>
              </a:rPr>
              <a:t>Hige_fidelity</a:t>
            </a:r>
            <a:endParaRPr lang="zh-CN" altLang="en-US" sz="1050" b="1" dirty="0">
              <a:latin typeface="微软雅黑" panose="020B0503020204020204" pitchFamily="34" charset="-122"/>
              <a:ea typeface="微软雅黑" panose="020B0503020204020204" pitchFamily="34" charset="-122"/>
              <a:cs typeface="Arial" pitchFamily="34" charset="0"/>
            </a:endParaRPr>
          </a:p>
        </p:txBody>
      </p:sp>
      <p:sp>
        <p:nvSpPr>
          <p:cNvPr id="41" name="文本框 40">
            <a:extLst>
              <a:ext uri="{FF2B5EF4-FFF2-40B4-BE49-F238E27FC236}">
                <a16:creationId xmlns:a16="http://schemas.microsoft.com/office/drawing/2014/main" id="{16BEF02E-BE1A-AF30-27C2-282C3E42C7AF}"/>
              </a:ext>
            </a:extLst>
          </p:cNvPr>
          <p:cNvSpPr txBox="1"/>
          <p:nvPr/>
        </p:nvSpPr>
        <p:spPr>
          <a:xfrm>
            <a:off x="2583519" y="899566"/>
            <a:ext cx="4464981" cy="695190"/>
          </a:xfrm>
          <a:prstGeom prst="rect">
            <a:avLst/>
          </a:prstGeom>
          <a:noFill/>
        </p:spPr>
        <p:txBody>
          <a:bodyPr wrap="square" lIns="0" tIns="0" rIns="0" bIns="0" rtlCol="0">
            <a:spAutoFit/>
          </a:bodyPr>
          <a:lstStyle/>
          <a:p>
            <a:pPr algn="ctr">
              <a:lnSpc>
                <a:spcPct val="150000"/>
              </a:lnSpc>
            </a:pP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用于任务分析与气动优化的快速计算方法</a:t>
            </a:r>
            <a:endParaRPr lang="en-US" altLang="zh-CN" sz="1600" dirty="0">
              <a:solidFill>
                <a:srgbClr val="002060"/>
              </a:solidFill>
              <a:latin typeface="微软雅黑" panose="020B0503020204020204" pitchFamily="34" charset="-122"/>
              <a:ea typeface="微软雅黑" panose="020B0503020204020204" pitchFamily="34" charset="-122"/>
              <a:cs typeface="Arial" pitchFamily="34" charset="0"/>
            </a:endParaRPr>
          </a:p>
          <a:p>
            <a:pPr algn="ctr">
              <a:lnSpc>
                <a:spcPct val="150000"/>
              </a:lnSpc>
            </a:pPr>
            <a:r>
              <a:rPr lang="en-US" altLang="zh-CN" sz="1600" dirty="0">
                <a:solidFill>
                  <a:srgbClr val="002060"/>
                </a:solidFill>
                <a:latin typeface="微软雅黑" panose="020B0503020204020204" pitchFamily="34" charset="-122"/>
                <a:ea typeface="微软雅黑" panose="020B0503020204020204" pitchFamily="34" charset="-122"/>
                <a:cs typeface="Arial" pitchFamily="34" charset="0"/>
              </a:rPr>
              <a:t>SU2</a:t>
            </a: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欧拉方程</a:t>
            </a:r>
            <a:r>
              <a:rPr lang="en-US" altLang="zh-CN" sz="1600" dirty="0">
                <a:solidFill>
                  <a:srgbClr val="002060"/>
                </a:solidFill>
                <a:latin typeface="微软雅黑" panose="020B0503020204020204" pitchFamily="34" charset="-122"/>
                <a:ea typeface="微软雅黑" panose="020B0503020204020204" pitchFamily="34" charset="-122"/>
                <a:cs typeface="Arial" pitchFamily="34" charset="0"/>
              </a:rPr>
              <a:t>+Schlichting</a:t>
            </a: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可压缩粘性阻力公式</a:t>
            </a:r>
          </a:p>
        </p:txBody>
      </p:sp>
    </p:spTree>
    <p:extLst>
      <p:ext uri="{BB962C8B-B14F-4D97-AF65-F5344CB8AC3E}">
        <p14:creationId xmlns:p14="http://schemas.microsoft.com/office/powerpoint/2010/main" val="340369451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378FB-93C4-3F5C-488F-3DAAEB9A4CB1}"/>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F863F7A-1506-4E5D-E53C-0564C430B05D}"/>
              </a:ext>
            </a:extLst>
          </p:cNvPr>
          <p:cNvSpPr txBox="1"/>
          <p:nvPr/>
        </p:nvSpPr>
        <p:spPr>
          <a:xfrm>
            <a:off x="3909856" y="989343"/>
            <a:ext cx="5924808"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研究背景与意义</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4" name="文本框 3">
            <a:extLst>
              <a:ext uri="{FF2B5EF4-FFF2-40B4-BE49-F238E27FC236}">
                <a16:creationId xmlns:a16="http://schemas.microsoft.com/office/drawing/2014/main" id="{4E7BE1F2-6452-BB35-19DE-6813EA9CF9EA}"/>
              </a:ext>
            </a:extLst>
          </p:cNvPr>
          <p:cNvSpPr txBox="1"/>
          <p:nvPr/>
        </p:nvSpPr>
        <p:spPr>
          <a:xfrm>
            <a:off x="873493" y="2624787"/>
            <a:ext cx="861774" cy="1608426"/>
          </a:xfrm>
          <a:prstGeom prst="rect">
            <a:avLst/>
          </a:prstGeom>
          <a:noFill/>
        </p:spPr>
        <p:txBody>
          <a:bodyPr vert="eaVert" wrap="square" rtlCol="0">
            <a:spAutoFit/>
          </a:bodyPr>
          <a:lstStyle/>
          <a:p>
            <a:pPr algn="dist"/>
            <a:r>
              <a:rPr lang="zh-CN" altLang="en-US" sz="4400" b="1" dirty="0">
                <a:solidFill>
                  <a:srgbClr val="002060"/>
                </a:solidFill>
                <a:latin typeface="微软雅黑" panose="020B0503020204020204" pitchFamily="34" charset="-122"/>
                <a:ea typeface="微软雅黑" panose="020B0503020204020204" pitchFamily="34" charset="-122"/>
              </a:rPr>
              <a:t>目</a:t>
            </a:r>
            <a:r>
              <a:rPr lang="en-US" altLang="zh-CN" sz="4400" b="1" dirty="0">
                <a:solidFill>
                  <a:srgbClr val="002060"/>
                </a:solidFill>
                <a:latin typeface="微软雅黑" panose="020B0503020204020204" pitchFamily="34" charset="-122"/>
                <a:ea typeface="微软雅黑" panose="020B0503020204020204" pitchFamily="34" charset="-122"/>
              </a:rPr>
              <a:t>	</a:t>
            </a:r>
            <a:r>
              <a:rPr lang="zh-CN" altLang="en-US" sz="4400" b="1" dirty="0">
                <a:solidFill>
                  <a:srgbClr val="002060"/>
                </a:solidFill>
                <a:latin typeface="微软雅黑" panose="020B0503020204020204" pitchFamily="34" charset="-122"/>
                <a:ea typeface="微软雅黑" panose="020B0503020204020204" pitchFamily="34" charset="-122"/>
              </a:rPr>
              <a:t>录</a:t>
            </a:r>
          </a:p>
        </p:txBody>
      </p:sp>
      <p:sp>
        <p:nvSpPr>
          <p:cNvPr id="6" name="文本框 5">
            <a:extLst>
              <a:ext uri="{FF2B5EF4-FFF2-40B4-BE49-F238E27FC236}">
                <a16:creationId xmlns:a16="http://schemas.microsoft.com/office/drawing/2014/main" id="{5FA7AA7C-C2BB-C919-D2E3-A8354EEB2892}"/>
              </a:ext>
            </a:extLst>
          </p:cNvPr>
          <p:cNvSpPr txBox="1"/>
          <p:nvPr/>
        </p:nvSpPr>
        <p:spPr>
          <a:xfrm>
            <a:off x="3909856" y="2397248"/>
            <a:ext cx="5924811"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总体设计框架介绍</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1" name="文本框 10">
            <a:extLst>
              <a:ext uri="{FF2B5EF4-FFF2-40B4-BE49-F238E27FC236}">
                <a16:creationId xmlns:a16="http://schemas.microsoft.com/office/drawing/2014/main" id="{5AD051DE-0C52-CC6B-BE81-91D97E39F904}"/>
              </a:ext>
            </a:extLst>
          </p:cNvPr>
          <p:cNvSpPr txBox="1"/>
          <p:nvPr/>
        </p:nvSpPr>
        <p:spPr>
          <a:xfrm>
            <a:off x="3909858" y="5213059"/>
            <a:ext cx="5924806"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研究总结与展望</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2" name="椭圆 11">
            <a:extLst>
              <a:ext uri="{FF2B5EF4-FFF2-40B4-BE49-F238E27FC236}">
                <a16:creationId xmlns:a16="http://schemas.microsoft.com/office/drawing/2014/main" id="{00848445-C193-476E-D25C-3088BA2C311C}"/>
              </a:ext>
            </a:extLst>
          </p:cNvPr>
          <p:cNvSpPr/>
          <p:nvPr/>
        </p:nvSpPr>
        <p:spPr>
          <a:xfrm>
            <a:off x="2979398" y="942342"/>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一</a:t>
            </a:r>
          </a:p>
        </p:txBody>
      </p:sp>
      <p:sp>
        <p:nvSpPr>
          <p:cNvPr id="13" name="椭圆 12">
            <a:extLst>
              <a:ext uri="{FF2B5EF4-FFF2-40B4-BE49-F238E27FC236}">
                <a16:creationId xmlns:a16="http://schemas.microsoft.com/office/drawing/2014/main" id="{ADBDA7A8-CC51-07E5-C5F6-D9B2701E3DEF}"/>
              </a:ext>
            </a:extLst>
          </p:cNvPr>
          <p:cNvSpPr/>
          <p:nvPr/>
        </p:nvSpPr>
        <p:spPr>
          <a:xfrm>
            <a:off x="2979398" y="2350247"/>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二</a:t>
            </a:r>
          </a:p>
        </p:txBody>
      </p:sp>
      <p:sp>
        <p:nvSpPr>
          <p:cNvPr id="16" name="椭圆 15">
            <a:extLst>
              <a:ext uri="{FF2B5EF4-FFF2-40B4-BE49-F238E27FC236}">
                <a16:creationId xmlns:a16="http://schemas.microsoft.com/office/drawing/2014/main" id="{025FBCF0-BA86-3087-1276-2B915ABD81EC}"/>
              </a:ext>
            </a:extLst>
          </p:cNvPr>
          <p:cNvSpPr/>
          <p:nvPr/>
        </p:nvSpPr>
        <p:spPr>
          <a:xfrm>
            <a:off x="2979398" y="5166058"/>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四</a:t>
            </a:r>
          </a:p>
        </p:txBody>
      </p:sp>
      <p:cxnSp>
        <p:nvCxnSpPr>
          <p:cNvPr id="2" name="直接连接符 1">
            <a:extLst>
              <a:ext uri="{FF2B5EF4-FFF2-40B4-BE49-F238E27FC236}">
                <a16:creationId xmlns:a16="http://schemas.microsoft.com/office/drawing/2014/main" id="{C65F6F2F-058A-5B92-0A62-CB7E37A525B7}"/>
              </a:ext>
            </a:extLst>
          </p:cNvPr>
          <p:cNvCxnSpPr>
            <a:cxnSpLocks/>
          </p:cNvCxnSpPr>
          <p:nvPr/>
        </p:nvCxnSpPr>
        <p:spPr>
          <a:xfrm>
            <a:off x="2357332" y="1308100"/>
            <a:ext cx="0" cy="419100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58BDF77B-A055-4E92-1292-68EF11A685A4}"/>
              </a:ext>
            </a:extLst>
          </p:cNvPr>
          <p:cNvSpPr txBox="1"/>
          <p:nvPr/>
        </p:nvSpPr>
        <p:spPr>
          <a:xfrm>
            <a:off x="3909858" y="3805153"/>
            <a:ext cx="5924808" cy="553998"/>
          </a:xfrm>
          <a:prstGeom prst="rect">
            <a:avLst/>
          </a:prstGeom>
          <a:noFill/>
        </p:spPr>
        <p:txBody>
          <a:bodyPr wrap="square" lIns="0" tIns="0" rIns="0" bIns="0" rtlCol="0">
            <a:spAutoFit/>
          </a:bodyPr>
          <a:lstStyle>
            <a:defPPr>
              <a:defRPr lang="de-DE"/>
            </a:defPPr>
            <a:lvl1pPr algn="dist">
              <a:defRPr sz="3600" b="1">
                <a:solidFill>
                  <a:srgbClr val="C00000"/>
                </a:solidFill>
                <a:latin typeface="微软雅黑" panose="020B0503020204020204" pitchFamily="34" charset="-122"/>
                <a:ea typeface="微软雅黑" panose="020B0503020204020204" pitchFamily="34" charset="-122"/>
                <a:cs typeface="Arial" pitchFamily="34" charset="0"/>
              </a:defRPr>
            </a:lvl1pPr>
          </a:lstStyle>
          <a:p>
            <a:r>
              <a:rPr lang="zh-CN" altLang="en-US" dirty="0"/>
              <a:t>超声速民机总体设计案例</a:t>
            </a:r>
            <a:endParaRPr lang="en-US" altLang="zh-CN" dirty="0"/>
          </a:p>
        </p:txBody>
      </p:sp>
      <p:sp>
        <p:nvSpPr>
          <p:cNvPr id="8" name="椭圆 7">
            <a:extLst>
              <a:ext uri="{FF2B5EF4-FFF2-40B4-BE49-F238E27FC236}">
                <a16:creationId xmlns:a16="http://schemas.microsoft.com/office/drawing/2014/main" id="{1788C3D1-7B19-0C77-05B4-EA52AF1DB56A}"/>
              </a:ext>
            </a:extLst>
          </p:cNvPr>
          <p:cNvSpPr/>
          <p:nvPr/>
        </p:nvSpPr>
        <p:spPr>
          <a:xfrm>
            <a:off x="2979398" y="3758152"/>
            <a:ext cx="720000" cy="648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三</a:t>
            </a:r>
          </a:p>
        </p:txBody>
      </p:sp>
    </p:spTree>
    <p:extLst>
      <p:ext uri="{BB962C8B-B14F-4D97-AF65-F5344CB8AC3E}">
        <p14:creationId xmlns:p14="http://schemas.microsoft.com/office/powerpoint/2010/main" val="2246036081"/>
      </p:ext>
    </p:extLst>
  </p:cSld>
  <p:clrMapOvr>
    <a:masterClrMapping/>
  </p:clrMapOvr>
  <mc:AlternateContent xmlns:mc="http://schemas.openxmlformats.org/markup-compatibility/2006" xmlns:p14="http://schemas.microsoft.com/office/powerpoint/2010/main">
    <mc:Choice Requires="p14">
      <p:transition spd="slow" p14:dur="2000" advTm="2422"/>
    </mc:Choice>
    <mc:Fallback xmlns="">
      <p:transition spd="slow" advTm="242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a:extLst>
              <a:ext uri="{FF2B5EF4-FFF2-40B4-BE49-F238E27FC236}">
                <a16:creationId xmlns:a16="http://schemas.microsoft.com/office/drawing/2014/main" id="{13BAF77F-5E12-2828-8777-6EE23D89C0D4}"/>
              </a:ext>
            </a:extLst>
          </p:cNvPr>
          <p:cNvPicPr>
            <a:picLocks noChangeAspect="1"/>
          </p:cNvPicPr>
          <p:nvPr/>
        </p:nvPicPr>
        <p:blipFill>
          <a:blip r:embed="rId2"/>
          <a:stretch>
            <a:fillRect/>
          </a:stretch>
        </p:blipFill>
        <p:spPr>
          <a:xfrm>
            <a:off x="6836462" y="4286737"/>
            <a:ext cx="4741177" cy="1862246"/>
          </a:xfrm>
          <a:prstGeom prst="rect">
            <a:avLst/>
          </a:prstGeom>
        </p:spPr>
      </p:pic>
      <p:pic>
        <p:nvPicPr>
          <p:cNvPr id="24" name="图片 23">
            <a:extLst>
              <a:ext uri="{FF2B5EF4-FFF2-40B4-BE49-F238E27FC236}">
                <a16:creationId xmlns:a16="http://schemas.microsoft.com/office/drawing/2014/main" id="{21B3B047-A6DF-C66A-5E33-18E2D5850E9F}"/>
              </a:ext>
            </a:extLst>
          </p:cNvPr>
          <p:cNvPicPr>
            <a:picLocks noChangeAspect="1"/>
          </p:cNvPicPr>
          <p:nvPr/>
        </p:nvPicPr>
        <p:blipFill>
          <a:blip r:embed="rId3"/>
          <a:stretch>
            <a:fillRect/>
          </a:stretch>
        </p:blipFill>
        <p:spPr>
          <a:xfrm>
            <a:off x="336435" y="3368423"/>
            <a:ext cx="5884114" cy="2780560"/>
          </a:xfrm>
          <a:prstGeom prst="rect">
            <a:avLst/>
          </a:prstGeom>
        </p:spPr>
      </p:pic>
      <p:sp>
        <p:nvSpPr>
          <p:cNvPr id="2" name="标题 1">
            <a:extLst>
              <a:ext uri="{FF2B5EF4-FFF2-40B4-BE49-F238E27FC236}">
                <a16:creationId xmlns:a16="http://schemas.microsoft.com/office/drawing/2014/main" id="{2DBB70B2-6E7D-41BA-AB60-243A545A8C99}"/>
              </a:ext>
            </a:extLst>
          </p:cNvPr>
          <p:cNvSpPr txBox="1">
            <a:spLocks/>
          </p:cNvSpPr>
          <p:nvPr/>
        </p:nvSpPr>
        <p:spPr>
          <a:xfrm>
            <a:off x="211886" y="64170"/>
            <a:ext cx="5884114"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三</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、超声速民机总体设计案例</a:t>
            </a:r>
          </a:p>
        </p:txBody>
      </p:sp>
      <p:grpSp>
        <p:nvGrpSpPr>
          <p:cNvPr id="5" name="组合 4">
            <a:extLst>
              <a:ext uri="{FF2B5EF4-FFF2-40B4-BE49-F238E27FC236}">
                <a16:creationId xmlns:a16="http://schemas.microsoft.com/office/drawing/2014/main" id="{7F0AC19D-ED9F-9458-4322-F56A2025338E}"/>
              </a:ext>
            </a:extLst>
          </p:cNvPr>
          <p:cNvGrpSpPr>
            <a:grpSpLocks noChangeAspect="1"/>
          </p:cNvGrpSpPr>
          <p:nvPr/>
        </p:nvGrpSpPr>
        <p:grpSpPr>
          <a:xfrm>
            <a:off x="841129" y="1456668"/>
            <a:ext cx="4551664" cy="1766997"/>
            <a:chOff x="6397322" y="1696570"/>
            <a:chExt cx="5202202" cy="2019542"/>
          </a:xfrm>
        </p:grpSpPr>
        <p:pic>
          <p:nvPicPr>
            <p:cNvPr id="6" name="图片 5">
              <a:extLst>
                <a:ext uri="{FF2B5EF4-FFF2-40B4-BE49-F238E27FC236}">
                  <a16:creationId xmlns:a16="http://schemas.microsoft.com/office/drawing/2014/main" id="{C02211E5-0AED-1210-AEDA-450276E8102F}"/>
                </a:ext>
              </a:extLst>
            </p:cNvPr>
            <p:cNvPicPr>
              <a:picLocks noChangeAspect="1"/>
            </p:cNvPicPr>
            <p:nvPr/>
          </p:nvPicPr>
          <p:blipFill>
            <a:blip r:embed="rId4"/>
            <a:stretch>
              <a:fillRect/>
            </a:stretch>
          </p:blipFill>
          <p:spPr>
            <a:xfrm>
              <a:off x="6397322" y="1696570"/>
              <a:ext cx="5202202" cy="2019542"/>
            </a:xfrm>
            <a:prstGeom prst="rect">
              <a:avLst/>
            </a:prstGeom>
          </p:spPr>
        </p:pic>
        <p:sp>
          <p:nvSpPr>
            <p:cNvPr id="7" name="任意多边形: 形状 6">
              <a:extLst>
                <a:ext uri="{FF2B5EF4-FFF2-40B4-BE49-F238E27FC236}">
                  <a16:creationId xmlns:a16="http://schemas.microsoft.com/office/drawing/2014/main" id="{70D90C8D-0E00-6D8A-668E-5A719446B8CD}"/>
                </a:ext>
              </a:extLst>
            </p:cNvPr>
            <p:cNvSpPr/>
            <p:nvPr/>
          </p:nvSpPr>
          <p:spPr>
            <a:xfrm>
              <a:off x="6419850" y="1709738"/>
              <a:ext cx="4691063" cy="985837"/>
            </a:xfrm>
            <a:custGeom>
              <a:avLst/>
              <a:gdLst>
                <a:gd name="csX0" fmla="*/ 0 w 4691063"/>
                <a:gd name="csY0" fmla="*/ 985837 h 985837"/>
                <a:gd name="csX1" fmla="*/ 390525 w 4691063"/>
                <a:gd name="csY1" fmla="*/ 933450 h 985837"/>
                <a:gd name="csX2" fmla="*/ 1138238 w 4691063"/>
                <a:gd name="csY2" fmla="*/ 881062 h 985837"/>
                <a:gd name="csX3" fmla="*/ 1833563 w 4691063"/>
                <a:gd name="csY3" fmla="*/ 809625 h 985837"/>
                <a:gd name="csX4" fmla="*/ 2466975 w 4691063"/>
                <a:gd name="csY4" fmla="*/ 700087 h 985837"/>
                <a:gd name="csX5" fmla="*/ 3224213 w 4691063"/>
                <a:gd name="csY5" fmla="*/ 509587 h 985837"/>
                <a:gd name="csX6" fmla="*/ 3824288 w 4691063"/>
                <a:gd name="csY6" fmla="*/ 319087 h 985837"/>
                <a:gd name="csX7" fmla="*/ 4314825 w 4691063"/>
                <a:gd name="csY7" fmla="*/ 152400 h 985837"/>
                <a:gd name="csX8" fmla="*/ 4691063 w 4691063"/>
                <a:gd name="csY8" fmla="*/ 0 h 98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91063" h="985837">
                  <a:moveTo>
                    <a:pt x="0" y="985837"/>
                  </a:moveTo>
                  <a:cubicBezTo>
                    <a:pt x="100409" y="968374"/>
                    <a:pt x="200819" y="950912"/>
                    <a:pt x="390525" y="933450"/>
                  </a:cubicBezTo>
                  <a:cubicBezTo>
                    <a:pt x="580231" y="915987"/>
                    <a:pt x="897732" y="901699"/>
                    <a:pt x="1138238" y="881062"/>
                  </a:cubicBezTo>
                  <a:cubicBezTo>
                    <a:pt x="1378744" y="860425"/>
                    <a:pt x="1612107" y="839787"/>
                    <a:pt x="1833563" y="809625"/>
                  </a:cubicBezTo>
                  <a:cubicBezTo>
                    <a:pt x="2055019" y="779463"/>
                    <a:pt x="2235200" y="750093"/>
                    <a:pt x="2466975" y="700087"/>
                  </a:cubicBezTo>
                  <a:cubicBezTo>
                    <a:pt x="2698750" y="650081"/>
                    <a:pt x="2997994" y="573087"/>
                    <a:pt x="3224213" y="509587"/>
                  </a:cubicBezTo>
                  <a:cubicBezTo>
                    <a:pt x="3450432" y="446087"/>
                    <a:pt x="3642519" y="378618"/>
                    <a:pt x="3824288" y="319087"/>
                  </a:cubicBezTo>
                  <a:cubicBezTo>
                    <a:pt x="4006057" y="259556"/>
                    <a:pt x="4170363" y="205581"/>
                    <a:pt x="4314825" y="152400"/>
                  </a:cubicBezTo>
                  <a:cubicBezTo>
                    <a:pt x="4459288" y="99219"/>
                    <a:pt x="4575175" y="49609"/>
                    <a:pt x="4691063" y="0"/>
                  </a:cubicBezTo>
                </a:path>
              </a:pathLst>
            </a:custGeom>
            <a:noFill/>
            <a:ln w="15875">
              <a:solidFill>
                <a:srgbClr val="383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33C1B8A2-ADEE-5409-65FD-B6EA1BD30821}"/>
                </a:ext>
              </a:extLst>
            </p:cNvPr>
            <p:cNvSpPr/>
            <p:nvPr/>
          </p:nvSpPr>
          <p:spPr>
            <a:xfrm>
              <a:off x="8161961" y="2498581"/>
              <a:ext cx="72000" cy="72000"/>
            </a:xfrm>
            <a:prstGeom prst="ellipse">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9" name="椭圆 8">
              <a:extLst>
                <a:ext uri="{FF2B5EF4-FFF2-40B4-BE49-F238E27FC236}">
                  <a16:creationId xmlns:a16="http://schemas.microsoft.com/office/drawing/2014/main" id="{56D57630-9D9D-053B-42D9-928FFFE080DA}"/>
                </a:ext>
              </a:extLst>
            </p:cNvPr>
            <p:cNvSpPr/>
            <p:nvPr/>
          </p:nvSpPr>
          <p:spPr>
            <a:xfrm>
              <a:off x="9183041" y="2297134"/>
              <a:ext cx="72000" cy="72000"/>
            </a:xfrm>
            <a:prstGeom prst="ellipse">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0" name="椭圆 9">
              <a:extLst>
                <a:ext uri="{FF2B5EF4-FFF2-40B4-BE49-F238E27FC236}">
                  <a16:creationId xmlns:a16="http://schemas.microsoft.com/office/drawing/2014/main" id="{B13D68E4-D178-BA81-1C0E-FAE9717E044E}"/>
                </a:ext>
              </a:extLst>
            </p:cNvPr>
            <p:cNvSpPr/>
            <p:nvPr/>
          </p:nvSpPr>
          <p:spPr>
            <a:xfrm>
              <a:off x="10025930" y="2058820"/>
              <a:ext cx="72000" cy="72000"/>
            </a:xfrm>
            <a:prstGeom prst="ellipse">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1" name="椭圆 10">
              <a:extLst>
                <a:ext uri="{FF2B5EF4-FFF2-40B4-BE49-F238E27FC236}">
                  <a16:creationId xmlns:a16="http://schemas.microsoft.com/office/drawing/2014/main" id="{53D6F467-F269-411E-9E25-83A3C5710003}"/>
                </a:ext>
              </a:extLst>
            </p:cNvPr>
            <p:cNvSpPr/>
            <p:nvPr/>
          </p:nvSpPr>
          <p:spPr>
            <a:xfrm>
              <a:off x="10688870" y="1814980"/>
              <a:ext cx="72000" cy="72000"/>
            </a:xfrm>
            <a:prstGeom prst="ellipse">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grpSp>
      <p:sp>
        <p:nvSpPr>
          <p:cNvPr id="13" name="文本框 12">
            <a:extLst>
              <a:ext uri="{FF2B5EF4-FFF2-40B4-BE49-F238E27FC236}">
                <a16:creationId xmlns:a16="http://schemas.microsoft.com/office/drawing/2014/main" id="{EC533C4A-DEA3-D279-E986-88BFF0F938B4}"/>
              </a:ext>
            </a:extLst>
          </p:cNvPr>
          <p:cNvSpPr txBox="1"/>
          <p:nvPr/>
        </p:nvSpPr>
        <p:spPr>
          <a:xfrm>
            <a:off x="929100" y="1459274"/>
            <a:ext cx="2224843" cy="492443"/>
          </a:xfrm>
          <a:prstGeom prst="rect">
            <a:avLst/>
          </a:prstGeom>
          <a:noFill/>
        </p:spPr>
        <p:txBody>
          <a:bodyPr wrap="square" lIns="0" tIns="0" rIns="0" bIns="0" rtlCol="0">
            <a:spAutoFit/>
          </a:bodyPr>
          <a:lstStyle/>
          <a:p>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设计变量：</a:t>
            </a:r>
            <a:endPar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endParaRPr>
          </a:p>
          <a:p>
            <a:r>
              <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rPr>
              <a:t>前缘曲线</a:t>
            </a:r>
            <a:r>
              <a:rPr lang="en-US" altLang="zh-CN" sz="1600" b="1" dirty="0">
                <a:solidFill>
                  <a:srgbClr val="C00000"/>
                </a:solidFill>
                <a:latin typeface="微软雅黑" panose="020B0503020204020204" pitchFamily="34" charset="-122"/>
                <a:ea typeface="微软雅黑" panose="020B0503020204020204" pitchFamily="34" charset="-122"/>
                <a:cs typeface="Arial" pitchFamily="34" charset="0"/>
              </a:rPr>
              <a:t>4</a:t>
            </a:r>
            <a:r>
              <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rPr>
              <a:t>个控制点坐标</a:t>
            </a:r>
          </a:p>
        </p:txBody>
      </p:sp>
      <p:pic>
        <p:nvPicPr>
          <p:cNvPr id="14" name="图片 13">
            <a:extLst>
              <a:ext uri="{FF2B5EF4-FFF2-40B4-BE49-F238E27FC236}">
                <a16:creationId xmlns:a16="http://schemas.microsoft.com/office/drawing/2014/main" id="{7DFA424A-9111-6CB4-1EE2-1AEE411AAEA1}"/>
              </a:ext>
            </a:extLst>
          </p:cNvPr>
          <p:cNvPicPr>
            <a:picLocks noChangeAspect="1"/>
          </p:cNvPicPr>
          <p:nvPr/>
        </p:nvPicPr>
        <p:blipFill>
          <a:blip r:embed="rId5"/>
          <a:stretch>
            <a:fillRect/>
          </a:stretch>
        </p:blipFill>
        <p:spPr>
          <a:xfrm>
            <a:off x="7030957" y="1245972"/>
            <a:ext cx="4352189" cy="2592477"/>
          </a:xfrm>
          <a:prstGeom prst="rect">
            <a:avLst/>
          </a:prstGeom>
        </p:spPr>
      </p:pic>
      <p:sp>
        <p:nvSpPr>
          <p:cNvPr id="15" name="文本框 14">
            <a:extLst>
              <a:ext uri="{FF2B5EF4-FFF2-40B4-BE49-F238E27FC236}">
                <a16:creationId xmlns:a16="http://schemas.microsoft.com/office/drawing/2014/main" id="{9A9A977E-6DB5-9A77-7262-BF70DAD53585}"/>
              </a:ext>
            </a:extLst>
          </p:cNvPr>
          <p:cNvSpPr txBox="1"/>
          <p:nvPr/>
        </p:nvSpPr>
        <p:spPr>
          <a:xfrm>
            <a:off x="6917052" y="3850238"/>
            <a:ext cx="4869480"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优化前后升阻比曲线</a:t>
            </a:r>
          </a:p>
        </p:txBody>
      </p:sp>
      <p:sp>
        <p:nvSpPr>
          <p:cNvPr id="16" name="文本框 15">
            <a:extLst>
              <a:ext uri="{FF2B5EF4-FFF2-40B4-BE49-F238E27FC236}">
                <a16:creationId xmlns:a16="http://schemas.microsoft.com/office/drawing/2014/main" id="{478C2687-C42C-9656-EBB6-1B87D3DD7E78}"/>
              </a:ext>
            </a:extLst>
          </p:cNvPr>
          <p:cNvSpPr txBox="1"/>
          <p:nvPr/>
        </p:nvSpPr>
        <p:spPr>
          <a:xfrm>
            <a:off x="211886" y="895629"/>
            <a:ext cx="3294989" cy="307777"/>
          </a:xfrm>
          <a:prstGeom prst="rect">
            <a:avLst/>
          </a:prstGeom>
          <a:noFill/>
        </p:spPr>
        <p:txBody>
          <a:bodyPr wrap="square" lIns="0" tIns="0" rIns="0" bIns="0" rtlCol="0">
            <a:spAutoFit/>
          </a:bodyPr>
          <a:lstStyle/>
          <a:p>
            <a:pPr marL="342900" indent="-342900">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大型超声速民机优化算例</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5" name="文本框 24">
            <a:extLst>
              <a:ext uri="{FF2B5EF4-FFF2-40B4-BE49-F238E27FC236}">
                <a16:creationId xmlns:a16="http://schemas.microsoft.com/office/drawing/2014/main" id="{E7E4C1BD-45B9-46D6-55CD-E713CB4B16B4}"/>
              </a:ext>
            </a:extLst>
          </p:cNvPr>
          <p:cNvSpPr txBox="1"/>
          <p:nvPr/>
        </p:nvSpPr>
        <p:spPr>
          <a:xfrm>
            <a:off x="336435" y="6293741"/>
            <a:ext cx="5884114" cy="307777"/>
          </a:xfrm>
          <a:prstGeom prst="rect">
            <a:avLst/>
          </a:prstGeom>
          <a:noFill/>
        </p:spPr>
        <p:txBody>
          <a:bodyPr wrap="square" lIns="0" tIns="0" rIns="0" bIns="0" rtlCol="0">
            <a:spAutoFit/>
          </a:bodyPr>
          <a:lstStyle/>
          <a:p>
            <a:pPr algn="ct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目标飞行任务：优化后的北京</a:t>
            </a: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洛杉矶航线</a:t>
            </a:r>
          </a:p>
        </p:txBody>
      </p:sp>
      <p:sp>
        <p:nvSpPr>
          <p:cNvPr id="26" name="文本框 25">
            <a:extLst>
              <a:ext uri="{FF2B5EF4-FFF2-40B4-BE49-F238E27FC236}">
                <a16:creationId xmlns:a16="http://schemas.microsoft.com/office/drawing/2014/main" id="{58B28796-A4FD-649F-5673-EA5459FB5AF9}"/>
              </a:ext>
            </a:extLst>
          </p:cNvPr>
          <p:cNvSpPr txBox="1"/>
          <p:nvPr/>
        </p:nvSpPr>
        <p:spPr>
          <a:xfrm>
            <a:off x="7910754" y="6339261"/>
            <a:ext cx="2882076" cy="307777"/>
          </a:xfrm>
          <a:prstGeom prst="rect">
            <a:avLst/>
          </a:prstGeom>
          <a:noFill/>
        </p:spPr>
        <p:txBody>
          <a:bodyPr wrap="square" lIns="0" tIns="0" rIns="0" bIns="0" rtlCol="0">
            <a:spAutoFit/>
          </a:bodyPr>
          <a:lstStyle/>
          <a:p>
            <a:pPr algn="ct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优化前后压力分布对比</a:t>
            </a:r>
          </a:p>
        </p:txBody>
      </p:sp>
      <p:sp>
        <p:nvSpPr>
          <p:cNvPr id="4" name="文本框 3">
            <a:extLst>
              <a:ext uri="{FF2B5EF4-FFF2-40B4-BE49-F238E27FC236}">
                <a16:creationId xmlns:a16="http://schemas.microsoft.com/office/drawing/2014/main" id="{50F66175-B3F8-B9FA-4DC6-EF9893CCA249}"/>
              </a:ext>
            </a:extLst>
          </p:cNvPr>
          <p:cNvSpPr txBox="1"/>
          <p:nvPr/>
        </p:nvSpPr>
        <p:spPr>
          <a:xfrm>
            <a:off x="959176" y="2886336"/>
            <a:ext cx="2977838"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飞行条件：</a:t>
            </a:r>
            <a:r>
              <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rPr>
              <a:t>1.8</a:t>
            </a: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马赫，</a:t>
            </a:r>
            <a:r>
              <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rPr>
              <a:t>18000m</a:t>
            </a:r>
          </a:p>
        </p:txBody>
      </p:sp>
      <p:sp>
        <p:nvSpPr>
          <p:cNvPr id="28" name="文本框 27">
            <a:extLst>
              <a:ext uri="{FF2B5EF4-FFF2-40B4-BE49-F238E27FC236}">
                <a16:creationId xmlns:a16="http://schemas.microsoft.com/office/drawing/2014/main" id="{4C506B68-2EEC-143E-7841-288D0B3D83D5}"/>
              </a:ext>
            </a:extLst>
          </p:cNvPr>
          <p:cNvSpPr txBox="1"/>
          <p:nvPr/>
        </p:nvSpPr>
        <p:spPr>
          <a:xfrm>
            <a:off x="7175697" y="799696"/>
            <a:ext cx="4352189" cy="338554"/>
          </a:xfrm>
          <a:prstGeom prst="rect">
            <a:avLst/>
          </a:prstGeom>
          <a:noFill/>
        </p:spPr>
        <p:txBody>
          <a:bodyPr wrap="square">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目标函数为</a:t>
            </a:r>
            <a:r>
              <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rPr>
              <a:t>2-5</a:t>
            </a: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度区间最大升阻比</a:t>
            </a:r>
          </a:p>
        </p:txBody>
      </p:sp>
      <p:sp>
        <p:nvSpPr>
          <p:cNvPr id="30" name="文本框 29">
            <a:extLst>
              <a:ext uri="{FF2B5EF4-FFF2-40B4-BE49-F238E27FC236}">
                <a16:creationId xmlns:a16="http://schemas.microsoft.com/office/drawing/2014/main" id="{9054C7BA-3C31-F3A1-F4FB-506CDE44756E}"/>
              </a:ext>
            </a:extLst>
          </p:cNvPr>
          <p:cNvSpPr txBox="1"/>
          <p:nvPr/>
        </p:nvSpPr>
        <p:spPr>
          <a:xfrm>
            <a:off x="6836462" y="4450926"/>
            <a:ext cx="1178546" cy="276999"/>
          </a:xfrm>
          <a:prstGeom prst="rect">
            <a:avLst/>
          </a:prstGeom>
          <a:noFill/>
        </p:spPr>
        <p:txBody>
          <a:bodyPr wrap="square" lIns="0" tIns="0" rIns="0" bIns="0" rtlCol="0">
            <a:spAutoFit/>
          </a:bodyPr>
          <a:lstStyle/>
          <a:p>
            <a:pPr algn="ct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baseline</a:t>
            </a:r>
            <a:endParaRPr lang="zh-CN" altLang="en-US"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31" name="文本框 30">
            <a:extLst>
              <a:ext uri="{FF2B5EF4-FFF2-40B4-BE49-F238E27FC236}">
                <a16:creationId xmlns:a16="http://schemas.microsoft.com/office/drawing/2014/main" id="{593493E6-9E31-D277-C22F-AADFBB19EEA5}"/>
              </a:ext>
            </a:extLst>
          </p:cNvPr>
          <p:cNvSpPr txBox="1"/>
          <p:nvPr/>
        </p:nvSpPr>
        <p:spPr>
          <a:xfrm>
            <a:off x="6836461" y="5612028"/>
            <a:ext cx="1262509" cy="276999"/>
          </a:xfrm>
          <a:prstGeom prst="rect">
            <a:avLst/>
          </a:prstGeom>
          <a:noFill/>
        </p:spPr>
        <p:txBody>
          <a:bodyPr wrap="square" lIns="0" tIns="0" rIns="0" bIns="0" rtlCol="0">
            <a:spAutoFit/>
          </a:bodyPr>
          <a:lstStyle/>
          <a:p>
            <a:pPr algn="ct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Optimized</a:t>
            </a:r>
            <a:endParaRPr lang="zh-CN" altLang="en-US"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32" name="文本框 31">
            <a:extLst>
              <a:ext uri="{FF2B5EF4-FFF2-40B4-BE49-F238E27FC236}">
                <a16:creationId xmlns:a16="http://schemas.microsoft.com/office/drawing/2014/main" id="{9DEE8E4E-E35A-0B76-CB3A-8972CA916CB5}"/>
              </a:ext>
            </a:extLst>
          </p:cNvPr>
          <p:cNvSpPr txBox="1"/>
          <p:nvPr/>
        </p:nvSpPr>
        <p:spPr>
          <a:xfrm>
            <a:off x="8420517" y="1753998"/>
            <a:ext cx="698563" cy="246221"/>
          </a:xfrm>
          <a:prstGeom prst="rect">
            <a:avLst/>
          </a:prstGeom>
          <a:noFill/>
        </p:spPr>
        <p:txBody>
          <a:bodyPr wrap="square" lIns="0" tIns="0" rIns="0" bIns="0" rtlCol="0">
            <a:spAutoFit/>
          </a:bodyPr>
          <a:lstStyle/>
          <a:p>
            <a:pPr algn="ctr"/>
            <a:r>
              <a:rPr lang="en-US" altLang="zh-CN" sz="1600" b="1" dirty="0">
                <a:solidFill>
                  <a:srgbClr val="C00000"/>
                </a:solidFill>
                <a:latin typeface="微软雅黑" panose="020B0503020204020204" pitchFamily="34" charset="-122"/>
                <a:ea typeface="微软雅黑" panose="020B0503020204020204" pitchFamily="34" charset="-122"/>
                <a:cs typeface="Arial" pitchFamily="34" charset="0"/>
              </a:rPr>
              <a:t>10.01</a:t>
            </a:r>
            <a:endPar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cxnSp>
        <p:nvCxnSpPr>
          <p:cNvPr id="34" name="直接连接符 33">
            <a:extLst>
              <a:ext uri="{FF2B5EF4-FFF2-40B4-BE49-F238E27FC236}">
                <a16:creationId xmlns:a16="http://schemas.microsoft.com/office/drawing/2014/main" id="{FDEF4EBE-ED34-0702-543B-321D8EBE60C4}"/>
              </a:ext>
            </a:extLst>
          </p:cNvPr>
          <p:cNvCxnSpPr/>
          <p:nvPr/>
        </p:nvCxnSpPr>
        <p:spPr>
          <a:xfrm>
            <a:off x="8356435" y="1580367"/>
            <a:ext cx="826725" cy="0"/>
          </a:xfrm>
          <a:prstGeom prst="line">
            <a:avLst/>
          </a:prstGeom>
          <a:ln w="15875">
            <a:solidFill>
              <a:srgbClr val="C00000"/>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E4E930B0-B2B8-96EE-8E96-948EBB31B600}"/>
              </a:ext>
            </a:extLst>
          </p:cNvPr>
          <p:cNvSpPr txBox="1"/>
          <p:nvPr/>
        </p:nvSpPr>
        <p:spPr>
          <a:xfrm>
            <a:off x="8356435" y="2667721"/>
            <a:ext cx="698563" cy="246221"/>
          </a:xfrm>
          <a:prstGeom prst="rect">
            <a:avLst/>
          </a:prstGeom>
          <a:noFill/>
        </p:spPr>
        <p:txBody>
          <a:bodyPr wrap="square" lIns="0" tIns="0" rIns="0" bIns="0" rtlCol="0">
            <a:spAutoFit/>
          </a:bodyPr>
          <a:lstStyle/>
          <a:p>
            <a:pPr algn="ctr"/>
            <a:r>
              <a:rPr lang="en-US" altLang="zh-CN" sz="1600" b="1" dirty="0">
                <a:solidFill>
                  <a:srgbClr val="3838FF"/>
                </a:solidFill>
                <a:latin typeface="微软雅黑" panose="020B0503020204020204" pitchFamily="34" charset="-122"/>
                <a:ea typeface="微软雅黑" panose="020B0503020204020204" pitchFamily="34" charset="-122"/>
                <a:cs typeface="Arial" pitchFamily="34" charset="0"/>
              </a:rPr>
              <a:t>9.1</a:t>
            </a:r>
            <a:endParaRPr lang="zh-CN" altLang="en-US" sz="1600" b="1" dirty="0">
              <a:solidFill>
                <a:srgbClr val="3838FF"/>
              </a:solidFill>
              <a:latin typeface="微软雅黑" panose="020B0503020204020204" pitchFamily="34" charset="-122"/>
              <a:ea typeface="微软雅黑" panose="020B0503020204020204" pitchFamily="34" charset="-122"/>
              <a:cs typeface="Arial" pitchFamily="34" charset="0"/>
            </a:endParaRPr>
          </a:p>
        </p:txBody>
      </p:sp>
      <p:cxnSp>
        <p:nvCxnSpPr>
          <p:cNvPr id="36" name="直接连接符 35">
            <a:extLst>
              <a:ext uri="{FF2B5EF4-FFF2-40B4-BE49-F238E27FC236}">
                <a16:creationId xmlns:a16="http://schemas.microsoft.com/office/drawing/2014/main" id="{52439F50-954F-B339-D3F6-70B46D6F1A0B}"/>
              </a:ext>
            </a:extLst>
          </p:cNvPr>
          <p:cNvCxnSpPr>
            <a:cxnSpLocks/>
          </p:cNvCxnSpPr>
          <p:nvPr/>
        </p:nvCxnSpPr>
        <p:spPr>
          <a:xfrm>
            <a:off x="7895892" y="2579546"/>
            <a:ext cx="1368694" cy="0"/>
          </a:xfrm>
          <a:prstGeom prst="line">
            <a:avLst/>
          </a:prstGeom>
          <a:ln w="15875">
            <a:solidFill>
              <a:srgbClr val="3838FF"/>
            </a:solidFill>
            <a:prstDash val="dash"/>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663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464E-DF7D-D411-FD6F-1441CD9A93E4}"/>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2F748AD2-A252-573F-2950-29552BDB4369}"/>
              </a:ext>
            </a:extLst>
          </p:cNvPr>
          <p:cNvPicPr>
            <a:picLocks noChangeAspect="1"/>
          </p:cNvPicPr>
          <p:nvPr/>
        </p:nvPicPr>
        <p:blipFill>
          <a:blip r:embed="rId2"/>
          <a:stretch>
            <a:fillRect/>
          </a:stretch>
        </p:blipFill>
        <p:spPr>
          <a:xfrm>
            <a:off x="360847" y="2812264"/>
            <a:ext cx="5027489" cy="3600000"/>
          </a:xfrm>
          <a:prstGeom prst="rect">
            <a:avLst/>
          </a:prstGeom>
        </p:spPr>
      </p:pic>
      <p:pic>
        <p:nvPicPr>
          <p:cNvPr id="27" name="图片 26">
            <a:extLst>
              <a:ext uri="{FF2B5EF4-FFF2-40B4-BE49-F238E27FC236}">
                <a16:creationId xmlns:a16="http://schemas.microsoft.com/office/drawing/2014/main" id="{E9737227-2FC8-B43D-79EE-B7CC34DEB77C}"/>
              </a:ext>
            </a:extLst>
          </p:cNvPr>
          <p:cNvPicPr>
            <a:picLocks noChangeAspect="1"/>
          </p:cNvPicPr>
          <p:nvPr/>
        </p:nvPicPr>
        <p:blipFill>
          <a:blip r:embed="rId3"/>
          <a:stretch>
            <a:fillRect/>
          </a:stretch>
        </p:blipFill>
        <p:spPr>
          <a:xfrm>
            <a:off x="6218479" y="2883910"/>
            <a:ext cx="5040000" cy="3459147"/>
          </a:xfrm>
          <a:prstGeom prst="rect">
            <a:avLst/>
          </a:prstGeom>
        </p:spPr>
      </p:pic>
      <p:sp>
        <p:nvSpPr>
          <p:cNvPr id="28" name="文本框 27">
            <a:extLst>
              <a:ext uri="{FF2B5EF4-FFF2-40B4-BE49-F238E27FC236}">
                <a16:creationId xmlns:a16="http://schemas.microsoft.com/office/drawing/2014/main" id="{7169C934-6800-DFCC-E230-4DB8927D0B96}"/>
              </a:ext>
            </a:extLst>
          </p:cNvPr>
          <p:cNvSpPr txBox="1"/>
          <p:nvPr/>
        </p:nvSpPr>
        <p:spPr>
          <a:xfrm>
            <a:off x="648761" y="1576062"/>
            <a:ext cx="10894478" cy="868956"/>
          </a:xfrm>
          <a:prstGeom prst="rect">
            <a:avLst/>
          </a:prstGeom>
          <a:noFill/>
        </p:spPr>
        <p:txBody>
          <a:bodyPr wrap="square" lIns="0" tIns="0" rIns="0" bIns="0" rtlCol="0">
            <a:spAutoFit/>
          </a:bodyPr>
          <a:lstStyle/>
          <a:p>
            <a:pPr>
              <a:lnSpc>
                <a:spcPct val="150000"/>
              </a:lnSpc>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优化后</a:t>
            </a:r>
            <a:r>
              <a:rPr lang="zh-CN" altLang="en-US" sz="2000" dirty="0">
                <a:solidFill>
                  <a:srgbClr val="C00000"/>
                </a:solidFill>
                <a:latin typeface="微软雅黑" panose="020B0503020204020204" pitchFamily="34" charset="-122"/>
                <a:ea typeface="微软雅黑" panose="020B0503020204020204" pitchFamily="34" charset="-122"/>
                <a:cs typeface="Arial" pitchFamily="34" charset="0"/>
              </a:rPr>
              <a:t>最大升阻比从</a:t>
            </a:r>
            <a:r>
              <a:rPr lang="en-US" altLang="zh-CN" sz="2000" dirty="0">
                <a:solidFill>
                  <a:srgbClr val="C00000"/>
                </a:solidFill>
                <a:latin typeface="微软雅黑" panose="020B0503020204020204" pitchFamily="34" charset="-122"/>
                <a:ea typeface="微软雅黑" panose="020B0503020204020204" pitchFamily="34" charset="-122"/>
                <a:cs typeface="Arial" pitchFamily="34" charset="0"/>
              </a:rPr>
              <a:t>9.1</a:t>
            </a:r>
            <a:r>
              <a:rPr lang="zh-CN" altLang="en-US" sz="2000" dirty="0">
                <a:solidFill>
                  <a:srgbClr val="C00000"/>
                </a:solidFill>
                <a:latin typeface="微软雅黑" panose="020B0503020204020204" pitchFamily="34" charset="-122"/>
                <a:ea typeface="微软雅黑" panose="020B0503020204020204" pitchFamily="34" charset="-122"/>
                <a:cs typeface="Arial" pitchFamily="34" charset="0"/>
              </a:rPr>
              <a:t>提升到</a:t>
            </a:r>
            <a:r>
              <a:rPr lang="en-US" altLang="zh-CN" sz="2000" dirty="0">
                <a:solidFill>
                  <a:srgbClr val="C00000"/>
                </a:solidFill>
                <a:latin typeface="微软雅黑" panose="020B0503020204020204" pitchFamily="34" charset="-122"/>
                <a:ea typeface="微软雅黑" panose="020B0503020204020204" pitchFamily="34" charset="-122"/>
                <a:cs typeface="Arial" pitchFamily="34" charset="0"/>
              </a:rPr>
              <a:t>10.01</a:t>
            </a:r>
            <a:r>
              <a:rPr lang="zh-CN" altLang="en-US" sz="2000" dirty="0">
                <a:solidFill>
                  <a:srgbClr val="C00000"/>
                </a:solidFill>
                <a:latin typeface="微软雅黑" panose="020B0503020204020204" pitchFamily="34" charset="-122"/>
                <a:ea typeface="微软雅黑" panose="020B0503020204020204" pitchFamily="34" charset="-122"/>
                <a:cs typeface="Arial" pitchFamily="34" charset="0"/>
              </a:rPr>
              <a:t>，对应攻角从</a:t>
            </a:r>
            <a:r>
              <a:rPr lang="en-US" altLang="zh-CN" sz="2000" dirty="0">
                <a:solidFill>
                  <a:srgbClr val="C00000"/>
                </a:solidFill>
                <a:latin typeface="微软雅黑" panose="020B0503020204020204" pitchFamily="34" charset="-122"/>
                <a:ea typeface="微软雅黑" panose="020B0503020204020204" pitchFamily="34" charset="-122"/>
                <a:cs typeface="Arial" pitchFamily="34" charset="0"/>
              </a:rPr>
              <a:t>3.2°</a:t>
            </a:r>
            <a:r>
              <a:rPr lang="zh-CN" altLang="en-US" sz="2000" dirty="0">
                <a:solidFill>
                  <a:srgbClr val="C00000"/>
                </a:solidFill>
                <a:latin typeface="微软雅黑" panose="020B0503020204020204" pitchFamily="34" charset="-122"/>
                <a:ea typeface="微软雅黑" panose="020B0503020204020204" pitchFamily="34" charset="-122"/>
                <a:cs typeface="Arial" pitchFamily="34" charset="0"/>
              </a:rPr>
              <a:t>变为</a:t>
            </a:r>
            <a:r>
              <a:rPr lang="en-US" altLang="zh-CN" sz="2000" dirty="0">
                <a:solidFill>
                  <a:srgbClr val="C00000"/>
                </a:solidFill>
                <a:latin typeface="微软雅黑" panose="020B0503020204020204" pitchFamily="34" charset="-122"/>
                <a:ea typeface="微软雅黑" panose="020B0503020204020204" pitchFamily="34" charset="-122"/>
                <a:cs typeface="Arial" pitchFamily="34" charset="0"/>
              </a:rPr>
              <a:t>2.9°</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，最佳飞行剖面也相应改变</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a:p>
            <a:pPr>
              <a:lnSpc>
                <a:spcPct val="150000"/>
              </a:lnSpc>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全航程燃油消耗从</a:t>
            </a:r>
            <a:r>
              <a:rPr lang="en-US" altLang="zh-CN" sz="2000" dirty="0">
                <a:solidFill>
                  <a:srgbClr val="C00000"/>
                </a:solidFill>
                <a:latin typeface="微软雅黑" panose="020B0503020204020204" pitchFamily="34" charset="-122"/>
                <a:ea typeface="微软雅黑" panose="020B0503020204020204" pitchFamily="34" charset="-122"/>
                <a:cs typeface="Arial" pitchFamily="34" charset="0"/>
              </a:rPr>
              <a:t>80t</a:t>
            </a:r>
            <a:r>
              <a:rPr lang="zh-CN" altLang="en-US" sz="2000" dirty="0">
                <a:solidFill>
                  <a:srgbClr val="C00000"/>
                </a:solidFill>
                <a:latin typeface="微软雅黑" panose="020B0503020204020204" pitchFamily="34" charset="-122"/>
                <a:ea typeface="微软雅黑" panose="020B0503020204020204" pitchFamily="34" charset="-122"/>
                <a:cs typeface="Arial" pitchFamily="34" charset="0"/>
              </a:rPr>
              <a:t>降低为</a:t>
            </a:r>
            <a:r>
              <a:rPr lang="en-US" altLang="zh-CN" sz="2000" dirty="0">
                <a:solidFill>
                  <a:srgbClr val="C00000"/>
                </a:solidFill>
                <a:latin typeface="微软雅黑" panose="020B0503020204020204" pitchFamily="34" charset="-122"/>
                <a:ea typeface="微软雅黑" panose="020B0503020204020204" pitchFamily="34" charset="-122"/>
                <a:cs typeface="Arial" pitchFamily="34" charset="0"/>
              </a:rPr>
              <a:t>68.9t</a:t>
            </a:r>
            <a:r>
              <a:rPr lang="zh-CN" altLang="en-US" sz="2000" dirty="0">
                <a:solidFill>
                  <a:srgbClr val="C00000"/>
                </a:solidFill>
                <a:latin typeface="微软雅黑" panose="020B0503020204020204" pitchFamily="34" charset="-122"/>
                <a:ea typeface="微软雅黑" panose="020B0503020204020204" pitchFamily="34" charset="-122"/>
                <a:cs typeface="Arial" pitchFamily="34" charset="0"/>
              </a:rPr>
              <a:t>，起飞总重从</a:t>
            </a:r>
            <a:r>
              <a:rPr lang="en-US" altLang="zh-CN" sz="2000" dirty="0">
                <a:solidFill>
                  <a:srgbClr val="C00000"/>
                </a:solidFill>
                <a:latin typeface="微软雅黑" panose="020B0503020204020204" pitchFamily="34" charset="-122"/>
                <a:ea typeface="微软雅黑" panose="020B0503020204020204" pitchFamily="34" charset="-122"/>
                <a:cs typeface="Arial" pitchFamily="34" charset="0"/>
              </a:rPr>
              <a:t>173t</a:t>
            </a:r>
            <a:r>
              <a:rPr lang="zh-CN" altLang="en-US" sz="2000" dirty="0">
                <a:solidFill>
                  <a:srgbClr val="C00000"/>
                </a:solidFill>
                <a:latin typeface="微软雅黑" panose="020B0503020204020204" pitchFamily="34" charset="-122"/>
                <a:ea typeface="微软雅黑" panose="020B0503020204020204" pitchFamily="34" charset="-122"/>
                <a:cs typeface="Arial" pitchFamily="34" charset="0"/>
              </a:rPr>
              <a:t>降低为</a:t>
            </a:r>
            <a:r>
              <a:rPr lang="en-US" altLang="zh-CN" sz="2000" dirty="0">
                <a:solidFill>
                  <a:srgbClr val="C00000"/>
                </a:solidFill>
                <a:latin typeface="微软雅黑" panose="020B0503020204020204" pitchFamily="34" charset="-122"/>
                <a:ea typeface="微软雅黑" panose="020B0503020204020204" pitchFamily="34" charset="-122"/>
                <a:cs typeface="Arial" pitchFamily="34" charset="0"/>
              </a:rPr>
              <a:t>145t</a:t>
            </a:r>
            <a:r>
              <a:rPr lang="zh-CN" altLang="en-US" sz="2000" dirty="0">
                <a:solidFill>
                  <a:srgbClr val="C00000"/>
                </a:solidFill>
                <a:latin typeface="微软雅黑" panose="020B0503020204020204" pitchFamily="34" charset="-122"/>
                <a:ea typeface="微软雅黑" panose="020B0503020204020204" pitchFamily="34" charset="-122"/>
                <a:cs typeface="Arial" pitchFamily="34" charset="0"/>
              </a:rPr>
              <a:t>。</a:t>
            </a:r>
          </a:p>
        </p:txBody>
      </p:sp>
      <p:sp>
        <p:nvSpPr>
          <p:cNvPr id="29" name="文本框 28">
            <a:extLst>
              <a:ext uri="{FF2B5EF4-FFF2-40B4-BE49-F238E27FC236}">
                <a16:creationId xmlns:a16="http://schemas.microsoft.com/office/drawing/2014/main" id="{177C1A14-E977-35C8-F405-FD44E11C7346}"/>
              </a:ext>
            </a:extLst>
          </p:cNvPr>
          <p:cNvSpPr txBox="1"/>
          <p:nvPr/>
        </p:nvSpPr>
        <p:spPr>
          <a:xfrm>
            <a:off x="933521" y="3014199"/>
            <a:ext cx="2804845" cy="246221"/>
          </a:xfrm>
          <a:prstGeom prst="rect">
            <a:avLst/>
          </a:prstGeom>
          <a:noFill/>
        </p:spPr>
        <p:txBody>
          <a:bodyPr wrap="square" lIns="0" tIns="0" rIns="0" bIns="0" rtlCol="0">
            <a:spAutoFit/>
          </a:bodyPr>
          <a:lstStyle/>
          <a:p>
            <a:pPr algn="ctr"/>
            <a:r>
              <a:rPr lang="en-US" altLang="zh-CN" sz="1600" b="1" dirty="0">
                <a:solidFill>
                  <a:srgbClr val="3838FF"/>
                </a:solidFill>
                <a:latin typeface="微软雅黑" panose="020B0503020204020204" pitchFamily="34" charset="-122"/>
                <a:ea typeface="微软雅黑" panose="020B0503020204020204" pitchFamily="34" charset="-122"/>
                <a:cs typeface="Arial" pitchFamily="34" charset="0"/>
              </a:rPr>
              <a:t>Baseline:17km-&gt;18.6km</a:t>
            </a:r>
            <a:endParaRPr lang="zh-CN" altLang="en-US" sz="1600" b="1" dirty="0">
              <a:solidFill>
                <a:srgbClr val="3838FF"/>
              </a:solidFill>
              <a:latin typeface="微软雅黑" panose="020B0503020204020204" pitchFamily="34" charset="-122"/>
              <a:ea typeface="微软雅黑" panose="020B0503020204020204" pitchFamily="34" charset="-122"/>
              <a:cs typeface="Arial" pitchFamily="34" charset="0"/>
            </a:endParaRPr>
          </a:p>
        </p:txBody>
      </p:sp>
      <p:sp>
        <p:nvSpPr>
          <p:cNvPr id="30" name="文本框 29">
            <a:extLst>
              <a:ext uri="{FF2B5EF4-FFF2-40B4-BE49-F238E27FC236}">
                <a16:creationId xmlns:a16="http://schemas.microsoft.com/office/drawing/2014/main" id="{D5D8880D-33A1-4DE8-3F41-08D07216C5F2}"/>
              </a:ext>
            </a:extLst>
          </p:cNvPr>
          <p:cNvSpPr txBox="1"/>
          <p:nvPr/>
        </p:nvSpPr>
        <p:spPr>
          <a:xfrm>
            <a:off x="1849349" y="3690048"/>
            <a:ext cx="2935269" cy="246221"/>
          </a:xfrm>
          <a:prstGeom prst="rect">
            <a:avLst/>
          </a:prstGeom>
          <a:noFill/>
        </p:spPr>
        <p:txBody>
          <a:bodyPr wrap="square" lIns="0" tIns="0" rIns="0" bIns="0" rtlCol="0">
            <a:spAutoFit/>
          </a:bodyPr>
          <a:lstStyle/>
          <a:p>
            <a:pPr algn="ctr"/>
            <a:r>
              <a:rPr lang="en-US" altLang="zh-CN" sz="1600" b="1" dirty="0">
                <a:solidFill>
                  <a:srgbClr val="C00000"/>
                </a:solidFill>
                <a:latin typeface="微软雅黑" panose="020B0503020204020204" pitchFamily="34" charset="-122"/>
                <a:ea typeface="微软雅黑" panose="020B0503020204020204" pitchFamily="34" charset="-122"/>
                <a:cs typeface="Arial" pitchFamily="34" charset="0"/>
              </a:rPr>
              <a:t>Optimized:15km-&gt;17.8km</a:t>
            </a:r>
            <a:endPar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31" name="文本框 30">
            <a:extLst>
              <a:ext uri="{FF2B5EF4-FFF2-40B4-BE49-F238E27FC236}">
                <a16:creationId xmlns:a16="http://schemas.microsoft.com/office/drawing/2014/main" id="{10EDB9A9-AE72-7FAA-369F-A75D0D6A408F}"/>
              </a:ext>
            </a:extLst>
          </p:cNvPr>
          <p:cNvSpPr txBox="1"/>
          <p:nvPr/>
        </p:nvSpPr>
        <p:spPr>
          <a:xfrm>
            <a:off x="8738479" y="4915223"/>
            <a:ext cx="933597" cy="246221"/>
          </a:xfrm>
          <a:prstGeom prst="rect">
            <a:avLst/>
          </a:prstGeom>
          <a:noFill/>
        </p:spPr>
        <p:txBody>
          <a:bodyPr wrap="square" lIns="0" tIns="0" rIns="0" bIns="0" rtlCol="0">
            <a:spAutoFit/>
          </a:bodyPr>
          <a:lstStyle/>
          <a:p>
            <a:pPr algn="ctr"/>
            <a:r>
              <a:rPr lang="en-US" altLang="zh-CN" sz="1600" b="1" dirty="0">
                <a:solidFill>
                  <a:srgbClr val="3838FF"/>
                </a:solidFill>
                <a:latin typeface="微软雅黑" panose="020B0503020204020204" pitchFamily="34" charset="-122"/>
                <a:ea typeface="微软雅黑" panose="020B0503020204020204" pitchFamily="34" charset="-122"/>
                <a:cs typeface="Arial" pitchFamily="34" charset="0"/>
              </a:rPr>
              <a:t>LD=9.1</a:t>
            </a:r>
            <a:endParaRPr lang="zh-CN" altLang="en-US" sz="1600" b="1" dirty="0">
              <a:solidFill>
                <a:srgbClr val="3838FF"/>
              </a:solidFill>
              <a:latin typeface="微软雅黑" panose="020B0503020204020204" pitchFamily="34" charset="-122"/>
              <a:ea typeface="微软雅黑" panose="020B0503020204020204" pitchFamily="34" charset="-122"/>
              <a:cs typeface="Arial" pitchFamily="34" charset="0"/>
            </a:endParaRPr>
          </a:p>
        </p:txBody>
      </p:sp>
      <p:cxnSp>
        <p:nvCxnSpPr>
          <p:cNvPr id="32" name="直接箭头连接符 31">
            <a:extLst>
              <a:ext uri="{FF2B5EF4-FFF2-40B4-BE49-F238E27FC236}">
                <a16:creationId xmlns:a16="http://schemas.microsoft.com/office/drawing/2014/main" id="{E6595E50-24B6-9F97-28B3-46EE91D57E37}"/>
              </a:ext>
            </a:extLst>
          </p:cNvPr>
          <p:cNvCxnSpPr/>
          <p:nvPr/>
        </p:nvCxnSpPr>
        <p:spPr>
          <a:xfrm flipH="1" flipV="1">
            <a:off x="8738479" y="4612264"/>
            <a:ext cx="374699" cy="267961"/>
          </a:xfrm>
          <a:prstGeom prst="straightConnector1">
            <a:avLst/>
          </a:prstGeom>
          <a:ln w="15875">
            <a:solidFill>
              <a:srgbClr val="3838FF"/>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D104F628-4414-EC1A-5F3A-57573E466EC1}"/>
              </a:ext>
            </a:extLst>
          </p:cNvPr>
          <p:cNvSpPr txBox="1"/>
          <p:nvPr/>
        </p:nvSpPr>
        <p:spPr>
          <a:xfrm>
            <a:off x="9486780" y="4036569"/>
            <a:ext cx="1064780" cy="246221"/>
          </a:xfrm>
          <a:prstGeom prst="rect">
            <a:avLst/>
          </a:prstGeom>
          <a:noFill/>
        </p:spPr>
        <p:txBody>
          <a:bodyPr wrap="square" lIns="0" tIns="0" rIns="0" bIns="0" rtlCol="0">
            <a:spAutoFit/>
          </a:bodyPr>
          <a:lstStyle/>
          <a:p>
            <a:pPr algn="ctr"/>
            <a:r>
              <a:rPr lang="en-US" altLang="zh-CN" sz="1600" b="1" dirty="0">
                <a:solidFill>
                  <a:srgbClr val="C00000"/>
                </a:solidFill>
                <a:latin typeface="微软雅黑" panose="020B0503020204020204" pitchFamily="34" charset="-122"/>
                <a:ea typeface="微软雅黑" panose="020B0503020204020204" pitchFamily="34" charset="-122"/>
                <a:cs typeface="Arial" pitchFamily="34" charset="0"/>
              </a:rPr>
              <a:t>LD=10.01</a:t>
            </a:r>
            <a:endPar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endParaRPr>
          </a:p>
        </p:txBody>
      </p:sp>
      <p:cxnSp>
        <p:nvCxnSpPr>
          <p:cNvPr id="34" name="直接箭头连接符 33">
            <a:extLst>
              <a:ext uri="{FF2B5EF4-FFF2-40B4-BE49-F238E27FC236}">
                <a16:creationId xmlns:a16="http://schemas.microsoft.com/office/drawing/2014/main" id="{F8235EF5-05D1-AE5F-6B2C-C07CDFAE28C2}"/>
              </a:ext>
            </a:extLst>
          </p:cNvPr>
          <p:cNvCxnSpPr>
            <a:cxnSpLocks/>
          </p:cNvCxnSpPr>
          <p:nvPr/>
        </p:nvCxnSpPr>
        <p:spPr>
          <a:xfrm flipH="1">
            <a:off x="9486780" y="4282790"/>
            <a:ext cx="263395" cy="114549"/>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7" name="标题 1">
            <a:extLst>
              <a:ext uri="{FF2B5EF4-FFF2-40B4-BE49-F238E27FC236}">
                <a16:creationId xmlns:a16="http://schemas.microsoft.com/office/drawing/2014/main" id="{F2CF11EA-545C-B05C-4BD2-26F701BBCAF9}"/>
              </a:ext>
            </a:extLst>
          </p:cNvPr>
          <p:cNvSpPr txBox="1">
            <a:spLocks/>
          </p:cNvSpPr>
          <p:nvPr/>
        </p:nvSpPr>
        <p:spPr>
          <a:xfrm>
            <a:off x="211886" y="64170"/>
            <a:ext cx="5884114"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三</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、超声速民机总体设计案例</a:t>
            </a:r>
          </a:p>
        </p:txBody>
      </p:sp>
      <p:sp>
        <p:nvSpPr>
          <p:cNvPr id="38" name="文本框 37">
            <a:extLst>
              <a:ext uri="{FF2B5EF4-FFF2-40B4-BE49-F238E27FC236}">
                <a16:creationId xmlns:a16="http://schemas.microsoft.com/office/drawing/2014/main" id="{882D1692-8A04-0480-6375-D4E8D4C58E27}"/>
              </a:ext>
            </a:extLst>
          </p:cNvPr>
          <p:cNvSpPr txBox="1"/>
          <p:nvPr/>
        </p:nvSpPr>
        <p:spPr>
          <a:xfrm>
            <a:off x="211886" y="895629"/>
            <a:ext cx="3294989" cy="307777"/>
          </a:xfrm>
          <a:prstGeom prst="rect">
            <a:avLst/>
          </a:prstGeom>
          <a:noFill/>
        </p:spPr>
        <p:txBody>
          <a:bodyPr wrap="square" lIns="0" tIns="0" rIns="0" bIns="0" rtlCol="0">
            <a:spAutoFit/>
          </a:bodyPr>
          <a:lstStyle/>
          <a:p>
            <a:pPr marL="342900" indent="-342900">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大型超声速民机优化算例</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3542147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B7EB3-46F1-1F0D-AAE3-ECE3837BCD9D}"/>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482ABFB8-623A-01D1-41B5-E6541D1E7BF2}"/>
              </a:ext>
            </a:extLst>
          </p:cNvPr>
          <p:cNvPicPr>
            <a:picLocks noChangeAspect="1"/>
          </p:cNvPicPr>
          <p:nvPr/>
        </p:nvPicPr>
        <p:blipFill>
          <a:blip r:embed="rId2"/>
          <a:srcRect l="5132" r="17500"/>
          <a:stretch>
            <a:fillRect/>
          </a:stretch>
        </p:blipFill>
        <p:spPr>
          <a:xfrm>
            <a:off x="211885" y="1426412"/>
            <a:ext cx="6000793" cy="3878088"/>
          </a:xfrm>
          <a:prstGeom prst="rect">
            <a:avLst/>
          </a:prstGeom>
        </p:spPr>
      </p:pic>
      <p:sp>
        <p:nvSpPr>
          <p:cNvPr id="13" name="文本框 12">
            <a:extLst>
              <a:ext uri="{FF2B5EF4-FFF2-40B4-BE49-F238E27FC236}">
                <a16:creationId xmlns:a16="http://schemas.microsoft.com/office/drawing/2014/main" id="{9644E244-F264-B2D8-C218-E287656CCC8F}"/>
              </a:ext>
            </a:extLst>
          </p:cNvPr>
          <p:cNvSpPr txBox="1"/>
          <p:nvPr/>
        </p:nvSpPr>
        <p:spPr>
          <a:xfrm>
            <a:off x="1317897" y="5367605"/>
            <a:ext cx="3788769" cy="276999"/>
          </a:xfrm>
          <a:prstGeom prst="rect">
            <a:avLst/>
          </a:prstGeom>
          <a:noFill/>
        </p:spPr>
        <p:txBody>
          <a:bodyPr wrap="square" lIns="0" tIns="0" rIns="0" bIns="0" rtlCol="0">
            <a:spAutoFit/>
          </a:bodyPr>
          <a:lstStyle/>
          <a:p>
            <a:pPr algn="ct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完全声爆约束的短途国内航线</a:t>
            </a:r>
          </a:p>
        </p:txBody>
      </p:sp>
      <p:sp>
        <p:nvSpPr>
          <p:cNvPr id="3" name="文本框 2">
            <a:extLst>
              <a:ext uri="{FF2B5EF4-FFF2-40B4-BE49-F238E27FC236}">
                <a16:creationId xmlns:a16="http://schemas.microsoft.com/office/drawing/2014/main" id="{EA43030D-536B-0695-5391-CE83AEA2674C}"/>
              </a:ext>
            </a:extLst>
          </p:cNvPr>
          <p:cNvSpPr txBox="1"/>
          <p:nvPr/>
        </p:nvSpPr>
        <p:spPr>
          <a:xfrm>
            <a:off x="211886" y="895629"/>
            <a:ext cx="3294989" cy="307777"/>
          </a:xfrm>
          <a:prstGeom prst="rect">
            <a:avLst/>
          </a:prstGeom>
          <a:noFill/>
        </p:spPr>
        <p:txBody>
          <a:bodyPr wrap="square" lIns="0" tIns="0" rIns="0" bIns="0" rtlCol="0">
            <a:spAutoFit/>
          </a:bodyPr>
          <a:lstStyle/>
          <a:p>
            <a:pPr marL="342900" indent="-342900">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小型低声爆布局应用算例</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pic>
        <p:nvPicPr>
          <p:cNvPr id="5" name="图片 4">
            <a:extLst>
              <a:ext uri="{FF2B5EF4-FFF2-40B4-BE49-F238E27FC236}">
                <a16:creationId xmlns:a16="http://schemas.microsoft.com/office/drawing/2014/main" id="{1FAA11C2-E4D7-0921-C929-6D82A9291F5D}"/>
              </a:ext>
            </a:extLst>
          </p:cNvPr>
          <p:cNvPicPr>
            <a:picLocks noChangeAspect="1"/>
          </p:cNvPicPr>
          <p:nvPr/>
        </p:nvPicPr>
        <p:blipFill>
          <a:blip r:embed="rId3"/>
          <a:stretch>
            <a:fillRect/>
          </a:stretch>
        </p:blipFill>
        <p:spPr>
          <a:xfrm>
            <a:off x="6296456" y="2856600"/>
            <a:ext cx="5657634" cy="1418716"/>
          </a:xfrm>
          <a:prstGeom prst="rect">
            <a:avLst/>
          </a:prstGeom>
        </p:spPr>
      </p:pic>
      <p:pic>
        <p:nvPicPr>
          <p:cNvPr id="6" name="图片 5">
            <a:extLst>
              <a:ext uri="{FF2B5EF4-FFF2-40B4-BE49-F238E27FC236}">
                <a16:creationId xmlns:a16="http://schemas.microsoft.com/office/drawing/2014/main" id="{D03392EA-60A3-02CB-8724-BAEBA3119583}"/>
              </a:ext>
            </a:extLst>
          </p:cNvPr>
          <p:cNvPicPr>
            <a:picLocks noChangeAspect="1"/>
          </p:cNvPicPr>
          <p:nvPr/>
        </p:nvPicPr>
        <p:blipFill>
          <a:blip r:embed="rId4"/>
          <a:stretch>
            <a:fillRect/>
          </a:stretch>
        </p:blipFill>
        <p:spPr>
          <a:xfrm>
            <a:off x="6475309" y="1227299"/>
            <a:ext cx="5478781" cy="1418716"/>
          </a:xfrm>
          <a:prstGeom prst="rect">
            <a:avLst/>
          </a:prstGeom>
        </p:spPr>
      </p:pic>
      <p:sp>
        <p:nvSpPr>
          <p:cNvPr id="7" name="文本框 6">
            <a:extLst>
              <a:ext uri="{FF2B5EF4-FFF2-40B4-BE49-F238E27FC236}">
                <a16:creationId xmlns:a16="http://schemas.microsoft.com/office/drawing/2014/main" id="{1809D06A-0A23-88D8-3FE3-23C50FAC833A}"/>
              </a:ext>
            </a:extLst>
          </p:cNvPr>
          <p:cNvSpPr txBox="1"/>
          <p:nvPr/>
        </p:nvSpPr>
        <p:spPr>
          <a:xfrm>
            <a:off x="4227455" y="4748382"/>
            <a:ext cx="606175"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广州</a:t>
            </a:r>
          </a:p>
        </p:txBody>
      </p:sp>
      <p:sp>
        <p:nvSpPr>
          <p:cNvPr id="8" name="文本框 7">
            <a:extLst>
              <a:ext uri="{FF2B5EF4-FFF2-40B4-BE49-F238E27FC236}">
                <a16:creationId xmlns:a16="http://schemas.microsoft.com/office/drawing/2014/main" id="{9A884DE8-3A9C-274C-0BE4-4FEE901E1DA7}"/>
              </a:ext>
            </a:extLst>
          </p:cNvPr>
          <p:cNvSpPr txBox="1"/>
          <p:nvPr/>
        </p:nvSpPr>
        <p:spPr>
          <a:xfrm>
            <a:off x="750013" y="2258906"/>
            <a:ext cx="975042" cy="246221"/>
          </a:xfrm>
          <a:prstGeom prst="rect">
            <a:avLst/>
          </a:prstGeom>
          <a:noFill/>
        </p:spPr>
        <p:txBody>
          <a:bodyPr wrap="square" lIns="0" tIns="0" rIns="0" bIns="0" rtlCol="0">
            <a:spAutoFit/>
          </a:bodyPr>
          <a:lstStyle/>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乌鲁木齐</a:t>
            </a:r>
          </a:p>
        </p:txBody>
      </p:sp>
      <p:sp>
        <p:nvSpPr>
          <p:cNvPr id="9" name="文本框 8">
            <a:extLst>
              <a:ext uri="{FF2B5EF4-FFF2-40B4-BE49-F238E27FC236}">
                <a16:creationId xmlns:a16="http://schemas.microsoft.com/office/drawing/2014/main" id="{3846C112-E591-A105-B08B-A6D1CAED72F4}"/>
              </a:ext>
            </a:extLst>
          </p:cNvPr>
          <p:cNvSpPr txBox="1"/>
          <p:nvPr/>
        </p:nvSpPr>
        <p:spPr>
          <a:xfrm>
            <a:off x="515747" y="3394778"/>
            <a:ext cx="2011832" cy="307777"/>
          </a:xfrm>
          <a:prstGeom prst="rect">
            <a:avLst/>
          </a:prstGeom>
          <a:solidFill>
            <a:schemeClr val="bg1">
              <a:alpha val="70000"/>
            </a:schemeClr>
          </a:solidFill>
        </p:spPr>
        <p:txBody>
          <a:bodyPr wrap="square">
            <a:spAutoFit/>
          </a:bodyPr>
          <a:lstStyle/>
          <a:p>
            <a:pPr algn="ctr"/>
            <a:r>
              <a:rPr lang="zh-CN" altLang="en-US" sz="14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民航航线：约</a:t>
            </a:r>
            <a:r>
              <a:rPr lang="en-US" altLang="zh-CN" sz="1400" b="1" dirty="0">
                <a:solidFill>
                  <a:schemeClr val="accent2">
                    <a:lumMod val="75000"/>
                  </a:schemeClr>
                </a:solidFill>
                <a:latin typeface="微软雅黑" panose="020B0503020204020204" pitchFamily="34" charset="-122"/>
                <a:ea typeface="微软雅黑" panose="020B0503020204020204" pitchFamily="34" charset="-122"/>
                <a:cs typeface="Arial" pitchFamily="34" charset="0"/>
              </a:rPr>
              <a:t>5000km</a:t>
            </a:r>
          </a:p>
        </p:txBody>
      </p:sp>
      <p:sp>
        <p:nvSpPr>
          <p:cNvPr id="10" name="文本框 9">
            <a:extLst>
              <a:ext uri="{FF2B5EF4-FFF2-40B4-BE49-F238E27FC236}">
                <a16:creationId xmlns:a16="http://schemas.microsoft.com/office/drawing/2014/main" id="{128A7825-A5EF-B8B2-9C30-A416090A44CD}"/>
              </a:ext>
            </a:extLst>
          </p:cNvPr>
          <p:cNvSpPr txBox="1"/>
          <p:nvPr/>
        </p:nvSpPr>
        <p:spPr>
          <a:xfrm>
            <a:off x="8153968" y="1720530"/>
            <a:ext cx="2137025" cy="276999"/>
          </a:xfrm>
          <a:prstGeom prst="rect">
            <a:avLst/>
          </a:prstGeom>
          <a:noFill/>
        </p:spPr>
        <p:txBody>
          <a:bodyPr wrap="square" lIns="0" tIns="0" rIns="0" bIns="0" rtlCol="0">
            <a:spAutoFit/>
          </a:bodyPr>
          <a:lstStyle/>
          <a:p>
            <a:pPr algn="ct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16km</a:t>
            </a: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定高巡航</a:t>
            </a:r>
          </a:p>
        </p:txBody>
      </p:sp>
      <p:sp>
        <p:nvSpPr>
          <p:cNvPr id="11" name="文本框 10">
            <a:extLst>
              <a:ext uri="{FF2B5EF4-FFF2-40B4-BE49-F238E27FC236}">
                <a16:creationId xmlns:a16="http://schemas.microsoft.com/office/drawing/2014/main" id="{0C11C3FC-88DC-5F24-8BB4-37F3BCCDD11C}"/>
              </a:ext>
            </a:extLst>
          </p:cNvPr>
          <p:cNvSpPr txBox="1"/>
          <p:nvPr/>
        </p:nvSpPr>
        <p:spPr>
          <a:xfrm>
            <a:off x="9125273" y="3106095"/>
            <a:ext cx="2137025" cy="276999"/>
          </a:xfrm>
          <a:prstGeom prst="rect">
            <a:avLst/>
          </a:prstGeom>
          <a:noFill/>
        </p:spPr>
        <p:txBody>
          <a:bodyPr wrap="square" lIns="0" tIns="0" rIns="0" bIns="0" rtlCol="0">
            <a:spAutoFit/>
          </a:bodyPr>
          <a:lstStyle/>
          <a:p>
            <a:pPr algn="ctr"/>
            <a:r>
              <a:rPr lang="zh-CN" altLang="en-US" b="1" dirty="0">
                <a:solidFill>
                  <a:srgbClr val="002060"/>
                </a:solidFill>
                <a:latin typeface="微软雅黑" panose="020B0503020204020204" pitchFamily="34" charset="-122"/>
                <a:ea typeface="微软雅黑" panose="020B0503020204020204" pitchFamily="34" charset="-122"/>
                <a:cs typeface="Arial" pitchFamily="34" charset="0"/>
              </a:rPr>
              <a:t>燃油消耗</a:t>
            </a: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9.8t</a:t>
            </a:r>
            <a:endParaRPr lang="zh-CN" altLang="en-US" b="1" dirty="0">
              <a:solidFill>
                <a:srgbClr val="002060"/>
              </a:solidFill>
              <a:latin typeface="微软雅黑" panose="020B0503020204020204" pitchFamily="34" charset="-122"/>
              <a:ea typeface="微软雅黑" panose="020B0503020204020204" pitchFamily="34" charset="-122"/>
              <a:cs typeface="Arial" pitchFamily="34" charset="0"/>
            </a:endParaRPr>
          </a:p>
        </p:txBody>
      </p:sp>
      <p:pic>
        <p:nvPicPr>
          <p:cNvPr id="12" name="图片 11">
            <a:extLst>
              <a:ext uri="{FF2B5EF4-FFF2-40B4-BE49-F238E27FC236}">
                <a16:creationId xmlns:a16="http://schemas.microsoft.com/office/drawing/2014/main" id="{138D251A-79A1-C81B-7BF2-6435F5984660}"/>
              </a:ext>
            </a:extLst>
          </p:cNvPr>
          <p:cNvPicPr>
            <a:picLocks noChangeAspect="1"/>
          </p:cNvPicPr>
          <p:nvPr/>
        </p:nvPicPr>
        <p:blipFill>
          <a:blip r:embed="rId5"/>
          <a:stretch>
            <a:fillRect/>
          </a:stretch>
        </p:blipFill>
        <p:spPr>
          <a:xfrm>
            <a:off x="3092472" y="1470821"/>
            <a:ext cx="3081773" cy="1729156"/>
          </a:xfrm>
          <a:prstGeom prst="rect">
            <a:avLst/>
          </a:prstGeom>
        </p:spPr>
      </p:pic>
      <p:sp>
        <p:nvSpPr>
          <p:cNvPr id="14" name="文本框 13">
            <a:extLst>
              <a:ext uri="{FF2B5EF4-FFF2-40B4-BE49-F238E27FC236}">
                <a16:creationId xmlns:a16="http://schemas.microsoft.com/office/drawing/2014/main" id="{CAB6B395-B1F3-D403-85B7-635637779A4D}"/>
              </a:ext>
            </a:extLst>
          </p:cNvPr>
          <p:cNvSpPr txBox="1"/>
          <p:nvPr/>
        </p:nvSpPr>
        <p:spPr>
          <a:xfrm>
            <a:off x="4227455" y="2707534"/>
            <a:ext cx="1868545" cy="492443"/>
          </a:xfrm>
          <a:prstGeom prst="rect">
            <a:avLst/>
          </a:prstGeom>
          <a:noFill/>
        </p:spPr>
        <p:txBody>
          <a:bodyPr wrap="square" lIns="0" tIns="0" rIns="0" bIns="0" rtlCol="0">
            <a:spAutoFit/>
          </a:bodyPr>
          <a:lstStyle/>
          <a:p>
            <a:pPr algn="ctr"/>
            <a:r>
              <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rPr>
              <a:t>30t</a:t>
            </a: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低声爆布局</a:t>
            </a:r>
            <a:endPar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endParaRPr>
          </a:p>
          <a:p>
            <a:pPr algn="ctr"/>
            <a:r>
              <a:rPr lang="zh-CN" altLang="en-US" sz="1600" b="1" dirty="0">
                <a:solidFill>
                  <a:srgbClr val="002060"/>
                </a:solidFill>
                <a:latin typeface="微软雅黑" panose="020B0503020204020204" pitchFamily="34" charset="-122"/>
                <a:ea typeface="微软雅黑" panose="020B0503020204020204" pitchFamily="34" charset="-122"/>
                <a:cs typeface="Arial" pitchFamily="34" charset="0"/>
              </a:rPr>
              <a:t>声爆强度＜</a:t>
            </a:r>
            <a:r>
              <a:rPr lang="en-US" altLang="zh-CN" sz="1600" b="1" dirty="0">
                <a:solidFill>
                  <a:srgbClr val="002060"/>
                </a:solidFill>
                <a:latin typeface="微软雅黑" panose="020B0503020204020204" pitchFamily="34" charset="-122"/>
                <a:ea typeface="微软雅黑" panose="020B0503020204020204" pitchFamily="34" charset="-122"/>
                <a:cs typeface="Arial" pitchFamily="34" charset="0"/>
              </a:rPr>
              <a:t>80PLdB</a:t>
            </a:r>
          </a:p>
        </p:txBody>
      </p:sp>
      <p:sp>
        <p:nvSpPr>
          <p:cNvPr id="15" name="标题 1">
            <a:extLst>
              <a:ext uri="{FF2B5EF4-FFF2-40B4-BE49-F238E27FC236}">
                <a16:creationId xmlns:a16="http://schemas.microsoft.com/office/drawing/2014/main" id="{78E3AD21-ED1D-73C8-A957-F80939479A4B}"/>
              </a:ext>
            </a:extLst>
          </p:cNvPr>
          <p:cNvSpPr txBox="1">
            <a:spLocks/>
          </p:cNvSpPr>
          <p:nvPr/>
        </p:nvSpPr>
        <p:spPr>
          <a:xfrm>
            <a:off x="211886" y="64170"/>
            <a:ext cx="5884114"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三</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、超声速民机总体设计案例</a:t>
            </a:r>
          </a:p>
        </p:txBody>
      </p:sp>
      <p:sp>
        <p:nvSpPr>
          <p:cNvPr id="16" name="箭头: 下 15">
            <a:extLst>
              <a:ext uri="{FF2B5EF4-FFF2-40B4-BE49-F238E27FC236}">
                <a16:creationId xmlns:a16="http://schemas.microsoft.com/office/drawing/2014/main" id="{A0BB54D6-27BC-5FCF-84C9-5D98158AE710}"/>
              </a:ext>
            </a:extLst>
          </p:cNvPr>
          <p:cNvSpPr/>
          <p:nvPr/>
        </p:nvSpPr>
        <p:spPr>
          <a:xfrm>
            <a:off x="8991520" y="4401177"/>
            <a:ext cx="713433" cy="570557"/>
          </a:xfrm>
          <a:prstGeom prst="downArrow">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7" name="文本框 16">
            <a:extLst>
              <a:ext uri="{FF2B5EF4-FFF2-40B4-BE49-F238E27FC236}">
                <a16:creationId xmlns:a16="http://schemas.microsoft.com/office/drawing/2014/main" id="{37B27E38-48E7-1DF9-625B-947F23D0A401}"/>
              </a:ext>
            </a:extLst>
          </p:cNvPr>
          <p:cNvSpPr txBox="1"/>
          <p:nvPr/>
        </p:nvSpPr>
        <p:spPr>
          <a:xfrm>
            <a:off x="7294517" y="4485901"/>
            <a:ext cx="1678659" cy="360000"/>
          </a:xfrm>
          <a:prstGeom prst="rect">
            <a:avLst/>
          </a:prstGeom>
          <a:noFill/>
        </p:spPr>
        <p:txBody>
          <a:bodyPr wrap="square" lIns="0" tIns="0" rIns="0" bIns="0" rtlCol="0">
            <a:spAutoFit/>
          </a:bodyPr>
          <a:lstStyle/>
          <a:p>
            <a:pPr algn="ctr"/>
            <a:r>
              <a:rPr lang="zh-CN" altLang="en-US" dirty="0">
                <a:solidFill>
                  <a:srgbClr val="002060"/>
                </a:solidFill>
                <a:latin typeface="微软雅黑" panose="020B0503020204020204" pitchFamily="34" charset="-122"/>
                <a:ea typeface="微软雅黑" panose="020B0503020204020204" pitchFamily="34" charset="-122"/>
                <a:cs typeface="Arial" pitchFamily="34" charset="0"/>
              </a:rPr>
              <a:t>载客量</a:t>
            </a: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12</a:t>
            </a:r>
            <a:r>
              <a:rPr lang="zh-CN" altLang="en-US" dirty="0">
                <a:solidFill>
                  <a:srgbClr val="002060"/>
                </a:solidFill>
                <a:latin typeface="微软雅黑" panose="020B0503020204020204" pitchFamily="34" charset="-122"/>
                <a:ea typeface="微软雅黑" panose="020B0503020204020204" pitchFamily="34" charset="-122"/>
                <a:cs typeface="Arial" pitchFamily="34" charset="0"/>
              </a:rPr>
              <a:t>人</a:t>
            </a:r>
            <a:endParaRPr lang="en-US" altLang="zh-CN"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1" name="文本框 20">
            <a:extLst>
              <a:ext uri="{FF2B5EF4-FFF2-40B4-BE49-F238E27FC236}">
                <a16:creationId xmlns:a16="http://schemas.microsoft.com/office/drawing/2014/main" id="{FBA42157-C846-9483-EEB5-BE7179A6ACCE}"/>
              </a:ext>
            </a:extLst>
          </p:cNvPr>
          <p:cNvSpPr txBox="1"/>
          <p:nvPr/>
        </p:nvSpPr>
        <p:spPr>
          <a:xfrm>
            <a:off x="9877529" y="4485901"/>
            <a:ext cx="1868545" cy="360000"/>
          </a:xfrm>
          <a:prstGeom prst="rect">
            <a:avLst/>
          </a:prstGeom>
          <a:noFill/>
        </p:spPr>
        <p:txBody>
          <a:bodyPr wrap="square">
            <a:spAutoFit/>
          </a:bodyPr>
          <a:lstStyle/>
          <a:p>
            <a:r>
              <a:rPr lang="zh-CN" altLang="en-US" dirty="0">
                <a:solidFill>
                  <a:srgbClr val="002060"/>
                </a:solidFill>
                <a:latin typeface="微软雅黑" panose="020B0503020204020204" pitchFamily="34" charset="-122"/>
                <a:ea typeface="微软雅黑" panose="020B0503020204020204" pitchFamily="34" charset="-122"/>
                <a:cs typeface="Arial" pitchFamily="34" charset="0"/>
              </a:rPr>
              <a:t>空重系数</a:t>
            </a:r>
            <a:r>
              <a:rPr lang="en-US" altLang="zh-CN" dirty="0">
                <a:solidFill>
                  <a:srgbClr val="002060"/>
                </a:solidFill>
                <a:latin typeface="微软雅黑" panose="020B0503020204020204" pitchFamily="34" charset="-122"/>
                <a:ea typeface="微软雅黑" panose="020B0503020204020204" pitchFamily="34" charset="-122"/>
                <a:cs typeface="Arial" pitchFamily="34" charset="0"/>
              </a:rPr>
              <a:t>0.45</a:t>
            </a:r>
            <a:endParaRPr lang="zh-CN" altLang="en-US" sz="1600" dirty="0"/>
          </a:p>
        </p:txBody>
      </p:sp>
      <p:sp>
        <p:nvSpPr>
          <p:cNvPr id="22" name="文本框 21">
            <a:extLst>
              <a:ext uri="{FF2B5EF4-FFF2-40B4-BE49-F238E27FC236}">
                <a16:creationId xmlns:a16="http://schemas.microsoft.com/office/drawing/2014/main" id="{A70D8D8B-8BA3-5ADF-A33A-95A3EAB9FB17}"/>
              </a:ext>
            </a:extLst>
          </p:cNvPr>
          <p:cNvSpPr txBox="1"/>
          <p:nvPr/>
        </p:nvSpPr>
        <p:spPr>
          <a:xfrm>
            <a:off x="6742382" y="5068470"/>
            <a:ext cx="5211708" cy="615553"/>
          </a:xfrm>
          <a:prstGeom prst="rect">
            <a:avLst/>
          </a:prstGeom>
          <a:noFill/>
        </p:spPr>
        <p:txBody>
          <a:bodyPr wrap="square" lIns="0" tIns="0" rIns="0" bIns="0" rtlCol="0">
            <a:spAutoFit/>
          </a:bodyPr>
          <a:lstStyle/>
          <a:p>
            <a:pPr algn="ct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起飞重量</a:t>
            </a: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20t</a:t>
            </a:r>
          </a:p>
          <a:p>
            <a:pPr algn="ct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巡航起始点重量</a:t>
            </a:r>
            <a:r>
              <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rPr>
              <a:t>&lt;20t</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，声爆强度可进一步降低</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4" name="矩形: 圆角 23">
            <a:extLst>
              <a:ext uri="{FF2B5EF4-FFF2-40B4-BE49-F238E27FC236}">
                <a16:creationId xmlns:a16="http://schemas.microsoft.com/office/drawing/2014/main" id="{745E3AA3-8C9D-2C01-63CB-8558518B72CA}"/>
              </a:ext>
            </a:extLst>
          </p:cNvPr>
          <p:cNvSpPr/>
          <p:nvPr/>
        </p:nvSpPr>
        <p:spPr>
          <a:xfrm>
            <a:off x="298175" y="5946832"/>
            <a:ext cx="11598964" cy="4616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defRPr/>
            </a:pPr>
            <a:r>
              <a:rPr lang="zh-CN" altLang="en-US" sz="2400" b="1" spc="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小型低声爆方案若执飞短途航线</a:t>
            </a:r>
            <a:r>
              <a:rPr lang="zh-CN" altLang="en-US" sz="2400" b="1" spc="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有望实现</a:t>
            </a:r>
            <a:r>
              <a:rPr lang="en-US" altLang="zh-CN" sz="2400" b="1" spc="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70PLdB</a:t>
            </a:r>
            <a:r>
              <a:rPr lang="zh-CN" altLang="en-US" sz="2400" b="1" spc="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低声爆限制</a:t>
            </a:r>
          </a:p>
        </p:txBody>
      </p:sp>
      <p:sp>
        <p:nvSpPr>
          <p:cNvPr id="25" name="文本框 24">
            <a:extLst>
              <a:ext uri="{FF2B5EF4-FFF2-40B4-BE49-F238E27FC236}">
                <a16:creationId xmlns:a16="http://schemas.microsoft.com/office/drawing/2014/main" id="{7D08085F-616D-EB57-848D-D934ACAFC6E8}"/>
              </a:ext>
            </a:extLst>
          </p:cNvPr>
          <p:cNvSpPr txBox="1"/>
          <p:nvPr/>
        </p:nvSpPr>
        <p:spPr>
          <a:xfrm>
            <a:off x="3160667" y="1573879"/>
            <a:ext cx="1220104" cy="430887"/>
          </a:xfrm>
          <a:prstGeom prst="rect">
            <a:avLst/>
          </a:prstGeom>
          <a:noFill/>
        </p:spPr>
        <p:txBody>
          <a:bodyPr wrap="square" lIns="0" tIns="0" rIns="0" bIns="0" rtlCol="0">
            <a:spAutoFit/>
          </a:bodyPr>
          <a:lstStyle/>
          <a:p>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载客量</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12</a:t>
            </a:r>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人</a:t>
            </a:r>
            <a:endPar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endParaRPr>
          </a:p>
          <a:p>
            <a:r>
              <a:rPr lang="zh-CN" altLang="en-US" sz="1400" dirty="0">
                <a:solidFill>
                  <a:srgbClr val="002060"/>
                </a:solidFill>
                <a:latin typeface="微软雅黑" panose="020B0503020204020204" pitchFamily="34" charset="-122"/>
                <a:ea typeface="微软雅黑" panose="020B0503020204020204" pitchFamily="34" charset="-122"/>
                <a:cs typeface="Arial" pitchFamily="34" charset="0"/>
              </a:rPr>
              <a:t>航程</a:t>
            </a:r>
            <a:r>
              <a:rPr lang="en-US" altLang="zh-CN" sz="1400" dirty="0">
                <a:solidFill>
                  <a:srgbClr val="002060"/>
                </a:solidFill>
                <a:latin typeface="微软雅黑" panose="020B0503020204020204" pitchFamily="34" charset="-122"/>
                <a:ea typeface="微软雅黑" panose="020B0503020204020204" pitchFamily="34" charset="-122"/>
                <a:cs typeface="Arial" pitchFamily="34" charset="0"/>
              </a:rPr>
              <a:t>8000km</a:t>
            </a:r>
          </a:p>
        </p:txBody>
      </p:sp>
    </p:spTree>
    <p:extLst>
      <p:ext uri="{BB962C8B-B14F-4D97-AF65-F5344CB8AC3E}">
        <p14:creationId xmlns:p14="http://schemas.microsoft.com/office/powerpoint/2010/main" val="983984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D1CC3-9990-11AD-F887-5A7A984DAF44}"/>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46795BE-CBE9-9D9A-CA78-7750A3814E4F}"/>
              </a:ext>
            </a:extLst>
          </p:cNvPr>
          <p:cNvSpPr txBox="1"/>
          <p:nvPr/>
        </p:nvSpPr>
        <p:spPr>
          <a:xfrm>
            <a:off x="3909856" y="989343"/>
            <a:ext cx="5924808"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研究背景与意义</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4" name="文本框 3">
            <a:extLst>
              <a:ext uri="{FF2B5EF4-FFF2-40B4-BE49-F238E27FC236}">
                <a16:creationId xmlns:a16="http://schemas.microsoft.com/office/drawing/2014/main" id="{410960F3-ADCB-1141-95E4-F3C9263A852A}"/>
              </a:ext>
            </a:extLst>
          </p:cNvPr>
          <p:cNvSpPr txBox="1"/>
          <p:nvPr/>
        </p:nvSpPr>
        <p:spPr>
          <a:xfrm>
            <a:off x="873493" y="2624787"/>
            <a:ext cx="861774" cy="1608426"/>
          </a:xfrm>
          <a:prstGeom prst="rect">
            <a:avLst/>
          </a:prstGeom>
          <a:noFill/>
        </p:spPr>
        <p:txBody>
          <a:bodyPr vert="eaVert" wrap="square" rtlCol="0">
            <a:spAutoFit/>
          </a:bodyPr>
          <a:lstStyle/>
          <a:p>
            <a:pPr algn="dist"/>
            <a:r>
              <a:rPr lang="zh-CN" altLang="en-US" sz="4400" b="1" dirty="0">
                <a:solidFill>
                  <a:srgbClr val="002060"/>
                </a:solidFill>
                <a:latin typeface="微软雅黑" panose="020B0503020204020204" pitchFamily="34" charset="-122"/>
                <a:ea typeface="微软雅黑" panose="020B0503020204020204" pitchFamily="34" charset="-122"/>
              </a:rPr>
              <a:t>目</a:t>
            </a:r>
            <a:r>
              <a:rPr lang="en-US" altLang="zh-CN" sz="4400" b="1" dirty="0">
                <a:solidFill>
                  <a:srgbClr val="002060"/>
                </a:solidFill>
                <a:latin typeface="微软雅黑" panose="020B0503020204020204" pitchFamily="34" charset="-122"/>
                <a:ea typeface="微软雅黑" panose="020B0503020204020204" pitchFamily="34" charset="-122"/>
              </a:rPr>
              <a:t>	</a:t>
            </a:r>
            <a:r>
              <a:rPr lang="zh-CN" altLang="en-US" sz="4400" b="1" dirty="0">
                <a:solidFill>
                  <a:srgbClr val="002060"/>
                </a:solidFill>
                <a:latin typeface="微软雅黑" panose="020B0503020204020204" pitchFamily="34" charset="-122"/>
                <a:ea typeface="微软雅黑" panose="020B0503020204020204" pitchFamily="34" charset="-122"/>
              </a:rPr>
              <a:t>录</a:t>
            </a:r>
          </a:p>
        </p:txBody>
      </p:sp>
      <p:sp>
        <p:nvSpPr>
          <p:cNvPr id="6" name="文本框 5">
            <a:extLst>
              <a:ext uri="{FF2B5EF4-FFF2-40B4-BE49-F238E27FC236}">
                <a16:creationId xmlns:a16="http://schemas.microsoft.com/office/drawing/2014/main" id="{890DA633-2FCC-1E7E-E4C4-2B639FF65E4C}"/>
              </a:ext>
            </a:extLst>
          </p:cNvPr>
          <p:cNvSpPr txBox="1"/>
          <p:nvPr/>
        </p:nvSpPr>
        <p:spPr>
          <a:xfrm>
            <a:off x="3909856" y="2397248"/>
            <a:ext cx="5924811"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总体设计框架介绍</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1" name="文本框 10">
            <a:extLst>
              <a:ext uri="{FF2B5EF4-FFF2-40B4-BE49-F238E27FC236}">
                <a16:creationId xmlns:a16="http://schemas.microsoft.com/office/drawing/2014/main" id="{F0EE7E90-BF58-CB80-1A03-EE5C15468119}"/>
              </a:ext>
            </a:extLst>
          </p:cNvPr>
          <p:cNvSpPr txBox="1"/>
          <p:nvPr/>
        </p:nvSpPr>
        <p:spPr>
          <a:xfrm>
            <a:off x="3909858" y="5213059"/>
            <a:ext cx="5924806" cy="553998"/>
          </a:xfrm>
          <a:prstGeom prst="rect">
            <a:avLst/>
          </a:prstGeom>
          <a:noFill/>
        </p:spPr>
        <p:txBody>
          <a:bodyPr wrap="square" lIns="0" tIns="0" rIns="0" bIns="0" rtlCol="0">
            <a:spAutoFit/>
          </a:bodyPr>
          <a:lstStyle>
            <a:defPPr>
              <a:defRPr lang="de-DE"/>
            </a:defPPr>
            <a:lvl1pPr algn="dist">
              <a:defRPr sz="3600" b="1">
                <a:solidFill>
                  <a:srgbClr val="C00000"/>
                </a:solidFill>
                <a:latin typeface="微软雅黑" panose="020B0503020204020204" pitchFamily="34" charset="-122"/>
                <a:ea typeface="微软雅黑" panose="020B0503020204020204" pitchFamily="34" charset="-122"/>
                <a:cs typeface="Arial" pitchFamily="34" charset="0"/>
              </a:defRPr>
            </a:lvl1pPr>
          </a:lstStyle>
          <a:p>
            <a:r>
              <a:rPr lang="zh-CN" altLang="en-US" dirty="0"/>
              <a:t>研究总结与展望</a:t>
            </a:r>
            <a:endParaRPr lang="en-US" altLang="zh-CN" dirty="0"/>
          </a:p>
        </p:txBody>
      </p:sp>
      <p:sp>
        <p:nvSpPr>
          <p:cNvPr id="12" name="椭圆 11">
            <a:extLst>
              <a:ext uri="{FF2B5EF4-FFF2-40B4-BE49-F238E27FC236}">
                <a16:creationId xmlns:a16="http://schemas.microsoft.com/office/drawing/2014/main" id="{0D890B46-F879-86FF-A439-0FCB03357C07}"/>
              </a:ext>
            </a:extLst>
          </p:cNvPr>
          <p:cNvSpPr/>
          <p:nvPr/>
        </p:nvSpPr>
        <p:spPr>
          <a:xfrm>
            <a:off x="2979398" y="942342"/>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一</a:t>
            </a:r>
          </a:p>
        </p:txBody>
      </p:sp>
      <p:sp>
        <p:nvSpPr>
          <p:cNvPr id="13" name="椭圆 12">
            <a:extLst>
              <a:ext uri="{FF2B5EF4-FFF2-40B4-BE49-F238E27FC236}">
                <a16:creationId xmlns:a16="http://schemas.microsoft.com/office/drawing/2014/main" id="{7FCCD06F-5B9D-CF8E-CBD7-7932EFC56F54}"/>
              </a:ext>
            </a:extLst>
          </p:cNvPr>
          <p:cNvSpPr/>
          <p:nvPr/>
        </p:nvSpPr>
        <p:spPr>
          <a:xfrm>
            <a:off x="2979398" y="2350247"/>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二</a:t>
            </a:r>
          </a:p>
        </p:txBody>
      </p:sp>
      <p:sp>
        <p:nvSpPr>
          <p:cNvPr id="16" name="椭圆 15">
            <a:extLst>
              <a:ext uri="{FF2B5EF4-FFF2-40B4-BE49-F238E27FC236}">
                <a16:creationId xmlns:a16="http://schemas.microsoft.com/office/drawing/2014/main" id="{EEF6BE6B-4400-B2B1-7D28-0AD51D6D7556}"/>
              </a:ext>
            </a:extLst>
          </p:cNvPr>
          <p:cNvSpPr/>
          <p:nvPr/>
        </p:nvSpPr>
        <p:spPr>
          <a:xfrm>
            <a:off x="2979398" y="5166058"/>
            <a:ext cx="720000" cy="648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四</a:t>
            </a:r>
          </a:p>
        </p:txBody>
      </p:sp>
      <p:cxnSp>
        <p:nvCxnSpPr>
          <p:cNvPr id="2" name="直接连接符 1">
            <a:extLst>
              <a:ext uri="{FF2B5EF4-FFF2-40B4-BE49-F238E27FC236}">
                <a16:creationId xmlns:a16="http://schemas.microsoft.com/office/drawing/2014/main" id="{C3A65952-E16C-3564-C217-61988213E97F}"/>
              </a:ext>
            </a:extLst>
          </p:cNvPr>
          <p:cNvCxnSpPr>
            <a:cxnSpLocks/>
          </p:cNvCxnSpPr>
          <p:nvPr/>
        </p:nvCxnSpPr>
        <p:spPr>
          <a:xfrm>
            <a:off x="2357332" y="1308100"/>
            <a:ext cx="0" cy="419100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189B4F6B-E3FC-A71E-B4A2-82DA9E54AE1D}"/>
              </a:ext>
            </a:extLst>
          </p:cNvPr>
          <p:cNvSpPr txBox="1"/>
          <p:nvPr/>
        </p:nvSpPr>
        <p:spPr>
          <a:xfrm>
            <a:off x="3909858" y="3805153"/>
            <a:ext cx="5924808" cy="553998"/>
          </a:xfrm>
          <a:prstGeom prst="rect">
            <a:avLst/>
          </a:prstGeom>
          <a:noFill/>
        </p:spPr>
        <p:txBody>
          <a:bodyPr wrap="square" lIns="0" tIns="0" rIns="0" bIns="0" rtlCol="0">
            <a:spAutoFit/>
          </a:bodyPr>
          <a:lstStyle/>
          <a:p>
            <a:pPr algn="dist"/>
            <a:r>
              <a:rPr lang="zh-CN" altLang="en-US" sz="3600" b="1" dirty="0">
                <a:solidFill>
                  <a:srgbClr val="002060"/>
                </a:solidFill>
                <a:latin typeface="微软雅黑" panose="020B0503020204020204" pitchFamily="34" charset="-122"/>
                <a:ea typeface="微软雅黑" panose="020B0503020204020204" pitchFamily="34" charset="-122"/>
                <a:cs typeface="Arial" pitchFamily="34" charset="0"/>
              </a:rPr>
              <a:t>超声速民机总体设计案例</a:t>
            </a:r>
            <a:endParaRPr lang="en-US" altLang="zh-CN" sz="36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8" name="椭圆 7">
            <a:extLst>
              <a:ext uri="{FF2B5EF4-FFF2-40B4-BE49-F238E27FC236}">
                <a16:creationId xmlns:a16="http://schemas.microsoft.com/office/drawing/2014/main" id="{31E79D9A-7349-41A7-CE83-7998A4341BD7}"/>
              </a:ext>
            </a:extLst>
          </p:cNvPr>
          <p:cNvSpPr/>
          <p:nvPr/>
        </p:nvSpPr>
        <p:spPr>
          <a:xfrm>
            <a:off x="2979398" y="3758152"/>
            <a:ext cx="720000" cy="648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latin typeface="微软雅黑" panose="020B0503020204020204" pitchFamily="34" charset="-122"/>
                <a:ea typeface="微软雅黑" panose="020B0503020204020204" pitchFamily="34" charset="-122"/>
              </a:rPr>
              <a:t>三</a:t>
            </a:r>
          </a:p>
        </p:txBody>
      </p:sp>
    </p:spTree>
    <p:extLst>
      <p:ext uri="{BB962C8B-B14F-4D97-AF65-F5344CB8AC3E}">
        <p14:creationId xmlns:p14="http://schemas.microsoft.com/office/powerpoint/2010/main" val="2283657647"/>
      </p:ext>
    </p:extLst>
  </p:cSld>
  <p:clrMapOvr>
    <a:masterClrMapping/>
  </p:clrMapOvr>
  <mc:AlternateContent xmlns:mc="http://schemas.openxmlformats.org/markup-compatibility/2006" xmlns:p14="http://schemas.microsoft.com/office/powerpoint/2010/main">
    <mc:Choice Requires="p14">
      <p:transition spd="slow" p14:dur="2000" advTm="2422"/>
    </mc:Choice>
    <mc:Fallback xmlns="">
      <p:transition spd="slow" advTm="2422"/>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90484BBA-A4F7-12B7-71B9-8D4356F05A05}"/>
              </a:ext>
            </a:extLst>
          </p:cNvPr>
          <p:cNvSpPr/>
          <p:nvPr/>
        </p:nvSpPr>
        <p:spPr>
          <a:xfrm>
            <a:off x="351024" y="4142034"/>
            <a:ext cx="11516080" cy="2250831"/>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2" name="矩形 11">
            <a:extLst>
              <a:ext uri="{FF2B5EF4-FFF2-40B4-BE49-F238E27FC236}">
                <a16:creationId xmlns:a16="http://schemas.microsoft.com/office/drawing/2014/main" id="{A7A7B826-84B5-0851-EEBD-69989AD5D2BE}"/>
              </a:ext>
            </a:extLst>
          </p:cNvPr>
          <p:cNvSpPr/>
          <p:nvPr/>
        </p:nvSpPr>
        <p:spPr>
          <a:xfrm>
            <a:off x="351024" y="4142034"/>
            <a:ext cx="11516080" cy="453958"/>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3" name="文本框 12">
            <a:extLst>
              <a:ext uri="{FF2B5EF4-FFF2-40B4-BE49-F238E27FC236}">
                <a16:creationId xmlns:a16="http://schemas.microsoft.com/office/drawing/2014/main" id="{582DB6C1-1B06-BADA-45C1-F9B573A9E8AA}"/>
              </a:ext>
            </a:extLst>
          </p:cNvPr>
          <p:cNvSpPr txBox="1"/>
          <p:nvPr/>
        </p:nvSpPr>
        <p:spPr>
          <a:xfrm>
            <a:off x="5296264" y="4186468"/>
            <a:ext cx="1625600" cy="369332"/>
          </a:xfrm>
          <a:prstGeom prst="rect">
            <a:avLst/>
          </a:prstGeom>
          <a:noFill/>
        </p:spPr>
        <p:txBody>
          <a:bodyPr wrap="square" lIns="0" tIns="0" rIns="0" bIns="0"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cs typeface="Arial" pitchFamily="34" charset="0"/>
              </a:rPr>
              <a:t>研究展望</a:t>
            </a:r>
          </a:p>
        </p:txBody>
      </p:sp>
      <p:sp>
        <p:nvSpPr>
          <p:cNvPr id="9" name="矩形 8">
            <a:extLst>
              <a:ext uri="{FF2B5EF4-FFF2-40B4-BE49-F238E27FC236}">
                <a16:creationId xmlns:a16="http://schemas.microsoft.com/office/drawing/2014/main" id="{2AA696A0-4ACF-A30A-5856-5A8FB37C71D4}"/>
              </a:ext>
            </a:extLst>
          </p:cNvPr>
          <p:cNvSpPr/>
          <p:nvPr/>
        </p:nvSpPr>
        <p:spPr>
          <a:xfrm>
            <a:off x="351024" y="870857"/>
            <a:ext cx="11516080" cy="298771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10" name="矩形 9">
            <a:extLst>
              <a:ext uri="{FF2B5EF4-FFF2-40B4-BE49-F238E27FC236}">
                <a16:creationId xmlns:a16="http://schemas.microsoft.com/office/drawing/2014/main" id="{115FD8DF-F364-1547-5275-A221F576B36C}"/>
              </a:ext>
            </a:extLst>
          </p:cNvPr>
          <p:cNvSpPr/>
          <p:nvPr/>
        </p:nvSpPr>
        <p:spPr>
          <a:xfrm>
            <a:off x="351024" y="870857"/>
            <a:ext cx="11516080" cy="453958"/>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2" name="标题 1">
            <a:extLst>
              <a:ext uri="{FF2B5EF4-FFF2-40B4-BE49-F238E27FC236}">
                <a16:creationId xmlns:a16="http://schemas.microsoft.com/office/drawing/2014/main" id="{6C417076-E5FB-50D6-4362-E831316877B1}"/>
              </a:ext>
            </a:extLst>
          </p:cNvPr>
          <p:cNvSpPr txBox="1">
            <a:spLocks/>
          </p:cNvSpPr>
          <p:nvPr/>
        </p:nvSpPr>
        <p:spPr>
          <a:xfrm>
            <a:off x="211886" y="64170"/>
            <a:ext cx="5884114" cy="523220"/>
          </a:xfrm>
          <a:prstGeom prst="rect">
            <a:avLst/>
          </a:prstGeom>
        </p:spPr>
        <p:txBody>
          <a:bodyPr vert="horz" lIns="91440" tIns="45720" rIns="91440" bIns="0" rtlCol="0" anchor="ctr" anchorCtr="0">
            <a:noAutofit/>
          </a:bodyPr>
          <a:lstStyle>
            <a:lvl1pPr algn="l" defTabSz="914400" rtl="0" eaLnBrk="1" latinLnBrk="0" hangingPunct="1">
              <a:lnSpc>
                <a:spcPct val="90000"/>
              </a:lnSpc>
              <a:spcBef>
                <a:spcPct val="0"/>
              </a:spcBef>
              <a:buNone/>
              <a:defRPr lang="zh-CN" altLang="en-US" sz="2800" b="1" kern="1200" spc="100" baseline="0" dirty="0">
                <a:solidFill>
                  <a:schemeClr val="tx2">
                    <a:lumMod val="50000"/>
                  </a:schemeClr>
                </a:solidFill>
                <a:latin typeface="+mj-ea"/>
                <a:ea typeface="+mj-ea"/>
                <a:cs typeface="+mn-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dirty="0">
                <a:solidFill>
                  <a:srgbClr val="002060"/>
                </a:solidFill>
                <a:latin typeface="Arial" panose="020B0604020202020204" pitchFamily="34" charset="0"/>
                <a:ea typeface="微软雅黑" panose="020B0503020204020204" pitchFamily="34" charset="-122"/>
                <a:sym typeface="Arial" panose="020B0604020202020204" pitchFamily="34" charset="0"/>
              </a:rPr>
              <a:t>五</a:t>
            </a:r>
            <a:r>
              <a:rPr kumimoji="0" lang="zh-CN" altLang="en-US" b="1" i="0" u="none" strike="noStrike" kern="1200" cap="none" spc="10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、研究总结与展望</a:t>
            </a:r>
          </a:p>
        </p:txBody>
      </p:sp>
      <p:sp>
        <p:nvSpPr>
          <p:cNvPr id="4" name="文本框 3">
            <a:extLst>
              <a:ext uri="{FF2B5EF4-FFF2-40B4-BE49-F238E27FC236}">
                <a16:creationId xmlns:a16="http://schemas.microsoft.com/office/drawing/2014/main" id="{AA3872BF-294F-39FD-E6CF-6FE83B6A2D20}"/>
              </a:ext>
            </a:extLst>
          </p:cNvPr>
          <p:cNvSpPr txBox="1"/>
          <p:nvPr/>
        </p:nvSpPr>
        <p:spPr>
          <a:xfrm>
            <a:off x="471604" y="1375055"/>
            <a:ext cx="11248791" cy="2407839"/>
          </a:xfrm>
          <a:prstGeom prst="rect">
            <a:avLst/>
          </a:prstGeom>
          <a:noFill/>
        </p:spPr>
        <p:txBody>
          <a:bodyPr wrap="square" lIns="0" tIns="0" rIns="0" bIns="0" rtlCol="0">
            <a:spAutoFit/>
          </a:bodyPr>
          <a:lstStyle/>
          <a:p>
            <a:pPr marL="342900" indent="-342900" algn="just">
              <a:lnSpc>
                <a:spcPct val="150000"/>
              </a:lnSpc>
              <a:spcAft>
                <a:spcPts val="600"/>
              </a:spcAft>
              <a:buFont typeface="Wingdings" panose="05000000000000000000" pitchFamily="2" charset="2"/>
              <a:buChar char="p"/>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发展了</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考虑航迹规划的总体设计框架</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，能够在超声速民机的</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设计初期</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给出</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更合理的性能指标</a:t>
            </a:r>
            <a:r>
              <a:rPr lang="zh-CN" altLang="en-US" sz="2000" b="1" dirty="0">
                <a:solidFill>
                  <a:srgbClr val="002060"/>
                </a:solidFill>
                <a:latin typeface="微软雅黑" panose="020B0503020204020204" pitchFamily="34" charset="-122"/>
                <a:ea typeface="微软雅黑" panose="020B0503020204020204" pitchFamily="34" charset="-122"/>
                <a:cs typeface="Arial" pitchFamily="34" charset="0"/>
              </a:rPr>
              <a:t>。</a:t>
            </a:r>
            <a:endParaRPr lang="en-US" altLang="zh-CN" sz="2000" b="1" dirty="0">
              <a:solidFill>
                <a:srgbClr val="002060"/>
              </a:solidFill>
              <a:latin typeface="微软雅黑" panose="020B0503020204020204" pitchFamily="34" charset="-122"/>
              <a:ea typeface="微软雅黑" panose="020B0503020204020204" pitchFamily="34" charset="-122"/>
              <a:cs typeface="Arial" pitchFamily="34" charset="0"/>
            </a:endParaRPr>
          </a:p>
          <a:p>
            <a:pPr marL="342900" indent="-342900" algn="just">
              <a:lnSpc>
                <a:spcPct val="150000"/>
              </a:lnSpc>
              <a:spcAft>
                <a:spcPts val="600"/>
              </a:spcAft>
              <a:buFont typeface="Wingdings" panose="05000000000000000000" pitchFamily="2" charset="2"/>
              <a:buChar char="p"/>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采用加权多目标优化与计入声爆毯宽度的海陆标记方法对航线进行优化，能够</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平衡绕飞航程代价与海上超声速航程占比</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a:p>
            <a:pPr marL="342900" indent="-342900" algn="just">
              <a:lnSpc>
                <a:spcPct val="150000"/>
              </a:lnSpc>
              <a:spcAft>
                <a:spcPts val="600"/>
              </a:spcAft>
              <a:buFont typeface="Wingdings" panose="05000000000000000000" pitchFamily="2" charset="2"/>
              <a:buChar char="p"/>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在起飞总重设计中纳入任务剖面优化，能够给出更加合理的起飞总重与</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更利于开展低声爆设计的巡航起始点重量</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7" name="文本框 6">
            <a:extLst>
              <a:ext uri="{FF2B5EF4-FFF2-40B4-BE49-F238E27FC236}">
                <a16:creationId xmlns:a16="http://schemas.microsoft.com/office/drawing/2014/main" id="{BE3792EF-417E-D9F8-32F6-D2007C3F0F18}"/>
              </a:ext>
            </a:extLst>
          </p:cNvPr>
          <p:cNvSpPr txBox="1"/>
          <p:nvPr/>
        </p:nvSpPr>
        <p:spPr>
          <a:xfrm>
            <a:off x="471603" y="4640426"/>
            <a:ext cx="11248792" cy="1638397"/>
          </a:xfrm>
          <a:prstGeom prst="rect">
            <a:avLst/>
          </a:prstGeom>
          <a:noFill/>
        </p:spPr>
        <p:txBody>
          <a:bodyPr wrap="square" lIns="0" tIns="0" rIns="0" bIns="0" rtlCol="0">
            <a:spAutoFit/>
          </a:bodyPr>
          <a:lstStyle/>
          <a:p>
            <a:pPr marL="342900" indent="-342900" algn="just">
              <a:lnSpc>
                <a:spcPct val="150000"/>
              </a:lnSpc>
              <a:spcAft>
                <a:spcPts val="1200"/>
              </a:spcAft>
              <a:buFont typeface="Wingdings" panose="05000000000000000000" pitchFamily="2" charset="2"/>
              <a:buChar char="p"/>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航迹规划中未纳入</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机动飞行阶段的聚焦声爆</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判断，剖面未考虑复飞任务，有待进一步完善</a:t>
            </a:r>
            <a:r>
              <a:rPr lang="zh-CN" altLang="en-US" sz="2000" b="1" dirty="0">
                <a:solidFill>
                  <a:srgbClr val="002060"/>
                </a:solidFill>
                <a:latin typeface="微软雅黑" panose="020B0503020204020204" pitchFamily="34" charset="-122"/>
                <a:ea typeface="微软雅黑" panose="020B0503020204020204" pitchFamily="34" charset="-122"/>
                <a:cs typeface="Arial" pitchFamily="34" charset="0"/>
              </a:rPr>
              <a:t>。</a:t>
            </a:r>
            <a:endParaRPr lang="en-US" altLang="zh-CN" sz="2000" b="1" dirty="0">
              <a:solidFill>
                <a:srgbClr val="002060"/>
              </a:solidFill>
              <a:latin typeface="微软雅黑" panose="020B0503020204020204" pitchFamily="34" charset="-122"/>
              <a:ea typeface="微软雅黑" panose="020B0503020204020204" pitchFamily="34" charset="-122"/>
              <a:cs typeface="Arial" pitchFamily="34" charset="0"/>
            </a:endParaRPr>
          </a:p>
          <a:p>
            <a:pPr marL="342900" indent="-342900" algn="just">
              <a:lnSpc>
                <a:spcPct val="150000"/>
              </a:lnSpc>
              <a:spcAft>
                <a:spcPts val="1200"/>
              </a:spcAft>
              <a:buFont typeface="Wingdings" panose="05000000000000000000" pitchFamily="2" charset="2"/>
              <a:buChar char="p"/>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设计框架需要</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初始外形输入</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，未完成设计需求到初始外形的完整闭环。</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a:p>
            <a:pPr marL="342900" indent="-342900" algn="just">
              <a:lnSpc>
                <a:spcPct val="150000"/>
              </a:lnSpc>
              <a:spcAft>
                <a:spcPts val="1200"/>
              </a:spcAft>
              <a:buFont typeface="Wingdings" panose="05000000000000000000" pitchFamily="2" charset="2"/>
              <a:buChar char="p"/>
            </a:pP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多点气动优化仅将超声速巡航升阻比作为优化目标，未能考虑</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亚声速巡航以及高低速匹配问题</a:t>
            </a:r>
            <a:r>
              <a:rPr lang="zh-CN" altLang="en-US" sz="2000" dirty="0">
                <a:solidFill>
                  <a:srgbClr val="002060"/>
                </a:solidFill>
                <a:latin typeface="微软雅黑" panose="020B0503020204020204" pitchFamily="34" charset="-122"/>
                <a:ea typeface="微软雅黑" panose="020B0503020204020204" pitchFamily="34" charset="-122"/>
                <a:cs typeface="Arial" pitchFamily="34" charset="0"/>
              </a:rPr>
              <a:t>。</a:t>
            </a:r>
            <a:endParaRPr lang="en-US" altLang="zh-CN" sz="2000"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8" name="文本框 7">
            <a:extLst>
              <a:ext uri="{FF2B5EF4-FFF2-40B4-BE49-F238E27FC236}">
                <a16:creationId xmlns:a16="http://schemas.microsoft.com/office/drawing/2014/main" id="{5EC0CA1F-FB3E-0912-4035-9CA920377754}"/>
              </a:ext>
            </a:extLst>
          </p:cNvPr>
          <p:cNvSpPr txBox="1"/>
          <p:nvPr/>
        </p:nvSpPr>
        <p:spPr>
          <a:xfrm>
            <a:off x="5296264" y="915291"/>
            <a:ext cx="1625600" cy="369332"/>
          </a:xfrm>
          <a:prstGeom prst="rect">
            <a:avLst/>
          </a:prstGeom>
          <a:noFill/>
        </p:spPr>
        <p:txBody>
          <a:bodyPr wrap="square" lIns="0" tIns="0" rIns="0" bIns="0"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cs typeface="Arial" pitchFamily="34" charset="0"/>
              </a:rPr>
              <a:t>工作总结</a:t>
            </a:r>
          </a:p>
        </p:txBody>
      </p:sp>
    </p:spTree>
    <p:extLst>
      <p:ext uri="{BB962C8B-B14F-4D97-AF65-F5344CB8AC3E}">
        <p14:creationId xmlns:p14="http://schemas.microsoft.com/office/powerpoint/2010/main" val="962348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0FCCC-824C-66D2-4817-5763AFF48629}"/>
            </a:ext>
          </a:extLst>
        </p:cNvPr>
        <p:cNvGrpSpPr/>
        <p:nvPr/>
      </p:nvGrpSpPr>
      <p:grpSpPr>
        <a:xfrm>
          <a:off x="0" y="0"/>
          <a:ext cx="0" cy="0"/>
          <a:chOff x="0" y="0"/>
          <a:chExt cx="0" cy="0"/>
        </a:xfrm>
      </p:grpSpPr>
      <p:sp>
        <p:nvSpPr>
          <p:cNvPr id="12" name="标题 1">
            <a:extLst>
              <a:ext uri="{FF2B5EF4-FFF2-40B4-BE49-F238E27FC236}">
                <a16:creationId xmlns:a16="http://schemas.microsoft.com/office/drawing/2014/main" id="{38C0D59A-D3B2-3D84-1CAA-AB2D0AE27105}"/>
              </a:ext>
            </a:extLst>
          </p:cNvPr>
          <p:cNvSpPr txBox="1">
            <a:spLocks/>
          </p:cNvSpPr>
          <p:nvPr/>
        </p:nvSpPr>
        <p:spPr bwMode="auto">
          <a:xfrm>
            <a:off x="2100351" y="2817190"/>
            <a:ext cx="8424936" cy="1497085"/>
          </a:xfrm>
          <a:prstGeom prst="rect">
            <a:avLst/>
          </a:prstGeom>
          <a:noFill/>
          <a:ln>
            <a:miter lim="800000"/>
            <a:headEnd/>
            <a:tailEnd/>
          </a:ln>
          <a:effectLst/>
        </p:spPr>
        <p:txBody>
          <a:bodyPr/>
          <a:lstStyle>
            <a:defPPr>
              <a:defRPr lang="zh-CN"/>
            </a:defPPr>
            <a:lvl1pPr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4000" b="1" kern="1200">
                <a:solidFill>
                  <a:schemeClr val="tx1"/>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4000" b="1" kern="1200">
                <a:solidFill>
                  <a:schemeClr val="tx1"/>
                </a:solidFill>
                <a:latin typeface="Times New Roman" panose="02020603050405020304" pitchFamily="18" charset="0"/>
                <a:ea typeface="黑体" panose="02010609060101010101" pitchFamily="49" charset="-122"/>
                <a:cs typeface="+mn-cs"/>
              </a:defRPr>
            </a:lvl9pPr>
          </a:lstStyle>
          <a:p>
            <a:pPr algn="ctr" eaLnBrk="1" hangingPunct="1">
              <a:lnSpc>
                <a:spcPct val="120000"/>
              </a:lnSpc>
            </a:pPr>
            <a:r>
              <a:rPr lang="zh-CN" altLang="en-US" dirty="0">
                <a:solidFill>
                  <a:srgbClr val="002060"/>
                </a:solidFill>
                <a:latin typeface="微软雅黑" pitchFamily="34" charset="-122"/>
                <a:ea typeface="微软雅黑" pitchFamily="34" charset="-122"/>
              </a:rPr>
              <a:t>感谢各位老师！</a:t>
            </a:r>
            <a:endParaRPr lang="en-US" altLang="zh-CN" dirty="0">
              <a:solidFill>
                <a:srgbClr val="002060"/>
              </a:solidFill>
              <a:latin typeface="微软雅黑" pitchFamily="34" charset="-122"/>
              <a:ea typeface="微软雅黑" pitchFamily="34" charset="-122"/>
            </a:endParaRPr>
          </a:p>
          <a:p>
            <a:pPr algn="ctr" eaLnBrk="1" hangingPunct="1">
              <a:lnSpc>
                <a:spcPct val="120000"/>
              </a:lnSpc>
            </a:pPr>
            <a:r>
              <a:rPr lang="zh-CN" altLang="en-US" dirty="0">
                <a:solidFill>
                  <a:srgbClr val="002060"/>
                </a:solidFill>
                <a:latin typeface="微软雅黑" pitchFamily="34" charset="-122"/>
                <a:ea typeface="微软雅黑" pitchFamily="34" charset="-122"/>
              </a:rPr>
              <a:t>敬请批评指正！</a:t>
            </a:r>
            <a:endParaRPr lang="en-US" altLang="zh-CN" dirty="0">
              <a:solidFill>
                <a:srgbClr val="002060"/>
              </a:solidFill>
              <a:latin typeface="微软雅黑" pitchFamily="34" charset="-122"/>
              <a:ea typeface="微软雅黑" pitchFamily="34" charset="-122"/>
            </a:endParaRPr>
          </a:p>
        </p:txBody>
      </p:sp>
      <p:sp>
        <p:nvSpPr>
          <p:cNvPr id="5" name="文本框 4">
            <a:extLst>
              <a:ext uri="{FF2B5EF4-FFF2-40B4-BE49-F238E27FC236}">
                <a16:creationId xmlns:a16="http://schemas.microsoft.com/office/drawing/2014/main" id="{DBF687AB-28CF-9D79-A55C-D143DCB595E4}"/>
              </a:ext>
            </a:extLst>
          </p:cNvPr>
          <p:cNvSpPr txBox="1"/>
          <p:nvPr/>
        </p:nvSpPr>
        <p:spPr>
          <a:xfrm>
            <a:off x="2884376" y="2091071"/>
            <a:ext cx="6423251" cy="369332"/>
          </a:xfrm>
          <a:prstGeom prst="rect">
            <a:avLst/>
          </a:prstGeom>
          <a:noFill/>
          <a:effectLst/>
        </p:spPr>
        <p:txBody>
          <a:bodyPr wrap="square" lIns="0" tIns="0" rIns="0" bIns="0" rtlCol="0">
            <a:spAutoFit/>
          </a:bodyPr>
          <a:lstStyle/>
          <a:p>
            <a:pPr algn="ctr"/>
            <a:r>
              <a:rPr lang="zh-CN" altLang="en-US" sz="2400" dirty="0">
                <a:solidFill>
                  <a:srgbClr val="C00000"/>
                </a:solidFill>
                <a:latin typeface="华文行楷" panose="02010800040101010101" pitchFamily="2" charset="-122"/>
                <a:ea typeface="华文行楷" panose="02010800040101010101" pitchFamily="2" charset="-122"/>
                <a:cs typeface="Arial" pitchFamily="34" charset="0"/>
              </a:rPr>
              <a:t>第十四届全国流体力学学术会议</a:t>
            </a:r>
          </a:p>
        </p:txBody>
      </p:sp>
      <p:sp>
        <p:nvSpPr>
          <p:cNvPr id="6" name="矩形 5">
            <a:extLst>
              <a:ext uri="{FF2B5EF4-FFF2-40B4-BE49-F238E27FC236}">
                <a16:creationId xmlns:a16="http://schemas.microsoft.com/office/drawing/2014/main" id="{80A2EE34-6C29-0899-52BE-8FA60E927924}"/>
              </a:ext>
            </a:extLst>
          </p:cNvPr>
          <p:cNvSpPr>
            <a:spLocks noChangeArrowheads="1"/>
          </p:cNvSpPr>
          <p:nvPr/>
        </p:nvSpPr>
        <p:spPr bwMode="auto">
          <a:xfrm>
            <a:off x="3314990" y="4761661"/>
            <a:ext cx="5562020" cy="1369799"/>
          </a:xfrm>
          <a:prstGeom prst="rect">
            <a:avLst/>
          </a:prstGeom>
          <a:noFill/>
          <a:ln w="9525">
            <a:noFill/>
            <a:miter lim="800000"/>
            <a:headEnd/>
            <a:tailEnd/>
          </a:ln>
          <a:effectLst>
            <a:outerShdw blurRad="50800" dist="12700" dir="6900000" sx="83000" sy="83000" algn="tl" rotWithShape="0">
              <a:prstClr val="black">
                <a:alpha val="54000"/>
              </a:prstClr>
            </a:outerShdw>
          </a:effectLst>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lnSpc>
                <a:spcPct val="130000"/>
              </a:lnSpc>
            </a:pP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汇报人：林毅</a:t>
            </a:r>
            <a:endPar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a:p>
            <a:pPr algn="ctr" eaLnBrk="1" hangingPunct="1">
              <a:lnSpc>
                <a:spcPct val="130000"/>
              </a:lnSpc>
            </a:pP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汇报时间：</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2025</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年</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8</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月</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9</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日</a:t>
            </a:r>
            <a:endPar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a:p>
            <a:pPr algn="ctr" eaLnBrk="1" hangingPunct="1">
              <a:lnSpc>
                <a:spcPct val="130000"/>
              </a:lnSpc>
            </a:pP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Email</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linyi@mail.nwpu.edu.cn</a:t>
            </a:r>
            <a:r>
              <a:rPr lang="zh-CN" altLang="en-US"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 </a:t>
            </a:r>
            <a:endParaRPr lang="en-US" altLang="zh-CN" sz="22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7871424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0|5.3"/>
</p:tagLst>
</file>

<file path=ppt/tags/tag2.xml><?xml version="1.0" encoding="utf-8"?>
<p:tagLst xmlns:a="http://schemas.openxmlformats.org/drawingml/2006/main" xmlns:r="http://schemas.openxmlformats.org/officeDocument/2006/relationships" xmlns:p="http://schemas.openxmlformats.org/presentationml/2006/main">
  <p:tag name="TIMING" val="|10|5.3"/>
</p:tagLst>
</file>

<file path=ppt/tags/tag3.xml><?xml version="1.0" encoding="utf-8"?>
<p:tagLst xmlns:a="http://schemas.openxmlformats.org/drawingml/2006/main" xmlns:r="http://schemas.openxmlformats.org/officeDocument/2006/relationships" xmlns:p="http://schemas.openxmlformats.org/presentationml/2006/main">
  <p:tag name="TIMING" val="|10|5.3"/>
</p:tagLst>
</file>

<file path=ppt/tags/tag4.xml><?xml version="1.0" encoding="utf-8"?>
<p:tagLst xmlns:a="http://schemas.openxmlformats.org/drawingml/2006/main" xmlns:r="http://schemas.openxmlformats.org/officeDocument/2006/relationships" xmlns:p="http://schemas.openxmlformats.org/presentationml/2006/main">
  <p:tag name="TIMING" val="|10|5.3"/>
</p:tagLst>
</file>

<file path=ppt/tags/tag5.xml><?xml version="1.0" encoding="utf-8"?>
<p:tagLst xmlns:a="http://schemas.openxmlformats.org/drawingml/2006/main" xmlns:r="http://schemas.openxmlformats.org/officeDocument/2006/relationships" xmlns:p="http://schemas.openxmlformats.org/presentationml/2006/main">
  <p:tag name="TIMING" val="|10|5.3"/>
</p:tagLst>
</file>

<file path=ppt/tags/tag6.xml><?xml version="1.0" encoding="utf-8"?>
<p:tagLst xmlns:a="http://schemas.openxmlformats.org/drawingml/2006/main" xmlns:r="http://schemas.openxmlformats.org/officeDocument/2006/relationships" xmlns:p="http://schemas.openxmlformats.org/presentationml/2006/main">
  <p:tag name="TIMING" val="|10|5.3"/>
</p:tagLst>
</file>

<file path=ppt/tags/tag7.xml><?xml version="1.0" encoding="utf-8"?>
<p:tagLst xmlns:a="http://schemas.openxmlformats.org/drawingml/2006/main" xmlns:r="http://schemas.openxmlformats.org/officeDocument/2006/relationships" xmlns:p="http://schemas.openxmlformats.org/presentationml/2006/main">
  <p:tag name="TIMING" val="|10|5.3"/>
</p:tagLst>
</file>

<file path=ppt/tags/tag8.xml><?xml version="1.0" encoding="utf-8"?>
<p:tagLst xmlns:a="http://schemas.openxmlformats.org/drawingml/2006/main" xmlns:r="http://schemas.openxmlformats.org/officeDocument/2006/relationships" xmlns:p="http://schemas.openxmlformats.org/presentationml/2006/main">
  <p:tag name="TIMING" val="|10|5.3"/>
</p:tagLst>
</file>

<file path=ppt/tags/tag9.xml><?xml version="1.0" encoding="utf-8"?>
<p:tagLst xmlns:a="http://schemas.openxmlformats.org/drawingml/2006/main" xmlns:r="http://schemas.openxmlformats.org/officeDocument/2006/relationships" xmlns:p="http://schemas.openxmlformats.org/presentationml/2006/main">
  <p:tag name="TIMING" val="|10|5.3"/>
</p:tagLst>
</file>

<file path=ppt/theme/theme1.xml><?xml version="1.0" encoding="utf-8"?>
<a:theme xmlns:a="http://schemas.openxmlformats.org/drawingml/2006/main" name="DLR-Präsentation 4:3 Englisc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20000"/>
            <a:lumOff val="80000"/>
          </a:schemeClr>
        </a:solidFill>
        <a:ln w="9525">
          <a:noFill/>
        </a:ln>
      </a:spPr>
      <a:bodyPr rtlCol="0" anchor="ctr">
        <a:noAutofit/>
      </a:bodyPr>
      <a:lstStyle>
        <a:defPPr algn="ctr">
          <a:defRPr dirty="0">
            <a:solidFill>
              <a:schemeClr val="tx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ctr">
          <a:defRPr sz="2000" dirty="0">
            <a:solidFill>
              <a:srgbClr val="002060"/>
            </a:solidFill>
            <a:latin typeface="微软雅黑" panose="020B0503020204020204" pitchFamily="34" charset="-122"/>
            <a:ea typeface="微软雅黑" panose="020B0503020204020204" pitchFamily="34" charset="-122"/>
            <a:cs typeface="Arial" pitchFamily="34" charset="0"/>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ns:customPropertyEditors xmlns:tns="http://schemas.microsoft.com/office/2006/customDocumentInformationPanel">
  <tns:showOnOpen>false</tns:showOnOpen>
  <tns:defaultPropertyEditorNamespace>Standardeigenschaften</tns:defaultPropertyEditorNamespace>
</tns:customPropertyEditors>
</file>

<file path=customXml/itemProps1.xml><?xml version="1.0" encoding="utf-8"?>
<ds:datastoreItem xmlns:ds="http://schemas.openxmlformats.org/officeDocument/2006/customXml" ds:itemID="{84F15573-F1C9-4F86-B645-9414221BA1F2}">
  <ds:schemaRefs>
    <ds:schemaRef ds:uri="http://schemas.microsoft.com/office/2006/customDocumentInformationPanel"/>
  </ds:schemaRefs>
</ds:datastoreItem>
</file>

<file path=docProps/app.xml><?xml version="1.0" encoding="utf-8"?>
<Properties xmlns="http://schemas.openxmlformats.org/officeDocument/2006/extended-properties" xmlns:vt="http://schemas.openxmlformats.org/officeDocument/2006/docPropsVTypes">
  <Template/>
  <TotalTime>196877</TotalTime>
  <Words>3339</Words>
  <Application>Microsoft Office PowerPoint</Application>
  <PresentationFormat>宽屏</PresentationFormat>
  <Paragraphs>346</Paragraphs>
  <Slides>24</Slides>
  <Notes>16</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35" baseType="lpstr">
      <vt:lpstr>黑体</vt:lpstr>
      <vt:lpstr>华文行楷</vt:lpstr>
      <vt:lpstr>宋体</vt:lpstr>
      <vt:lpstr>微软雅黑</vt:lpstr>
      <vt:lpstr>Arial</vt:lpstr>
      <vt:lpstr>Calibri</vt:lpstr>
      <vt:lpstr>Cambria Math</vt:lpstr>
      <vt:lpstr>Times New Roman</vt:lpstr>
      <vt:lpstr>Wingdings</vt:lpstr>
      <vt:lpstr>DLR-Präsentation 4:3 Englisch</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MDAO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 4:3</dc:title>
  <dc:creator>Administrator</dc:creator>
  <cp:lastModifiedBy>AMDOA506</cp:lastModifiedBy>
  <cp:revision>6289</cp:revision>
  <cp:lastPrinted>2022-06-11T09:17:01Z</cp:lastPrinted>
  <dcterms:created xsi:type="dcterms:W3CDTF">2012-06-19T06:51:55Z</dcterms:created>
  <dcterms:modified xsi:type="dcterms:W3CDTF">2026-08-05T17:28:05Z</dcterms:modified>
</cp:coreProperties>
</file>